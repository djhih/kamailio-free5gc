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4"/>
    <p:sldId id="267" r:id="rId13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3" Type="http://schemas.openxmlformats.org/officeDocument/2006/relationships/slide" Target="slides/slide12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BD0E3A8E-6E61-4566-B625-F902498D549F}"/>
              </a:ext>
            </a:extLst>
          </p:cNvPr>
          <p:cNvSpPr/>
          <p:nvPr/>
        </p:nvSpPr>
        <p:spPr>
          <a:xfrm>
            <a:off x="7315200" y="0"/>
            <a:ext cx="4876800" cy="6858000"/>
          </a:xfrm>
          <a:prstGeom prst="rect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10A94E8-6CF8-4E96-A0F1-9864E054DB4F}"/>
              </a:ext>
            </a:extLst>
          </p:cNvPr>
          <p:cNvSpPr txBox="1"/>
          <p:nvPr/>
        </p:nvSpPr>
        <p:spPr>
          <a:xfrm>
            <a:off x="762000" y="1047750"/>
            <a:ext cx="5905500" cy="3429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>
                <a:solidFill>
                  <a:srgbClr val="C9D3E0"/>
                </a:solidFill>
              </a:rPr>
              <a:t>kamailio-free5gc · 2026-10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980090E-1B7C-4712-B0C8-EDB6685AF608}"/>
              </a:ext>
            </a:extLst>
          </p:cNvPr>
          <p:cNvSpPr txBox="1"/>
          <p:nvPr/>
        </p:nvSpPr>
        <p:spPr>
          <a:xfrm>
            <a:off x="762000" y="1905000"/>
            <a:ext cx="6286500" cy="1905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</a:rPr>
              <a:t>free5gc</a:t>
            </a:r>
          </a:p>
          <a:p>
            <a:pPr>
              <a:lnSpc>
                <a:spcPct val="105000"/>
              </a:lnSpc>
            </a:pPr>
            <a:r>
              <a:rPr sz="5400" b="1">
                <a:solidFill>
                  <a:srgbClr val="E8742A"/>
                </a:solidFill>
              </a:rPr>
              <a:t>× Kamailio 對接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342905F-F208-4070-9D24-D313FDE48BDC}"/>
              </a:ext>
            </a:extLst>
          </p:cNvPr>
          <p:cNvSpPr txBox="1"/>
          <p:nvPr/>
        </p:nvSpPr>
        <p:spPr>
          <a:xfrm>
            <a:off x="762000" y="4191000"/>
            <a:ext cx="6096000" cy="4191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2200">
                <a:solidFill>
                  <a:srgbClr val="FFFFFF"/>
                </a:solidFill>
              </a:rPr>
              <a:t>5GC 與 IMS 怎麼接起來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E525262-14AB-4AF0-AC66-F2FFF0A3E313}"/>
              </a:ext>
            </a:extLst>
          </p:cNvPr>
          <p:cNvSpPr txBox="1"/>
          <p:nvPr/>
        </p:nvSpPr>
        <p:spPr>
          <a:xfrm>
            <a:off x="762000" y="4762500"/>
            <a:ext cx="6096000" cy="3810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>
                <a:solidFill>
                  <a:srgbClr val="C9D3E0"/>
                </a:solidFill>
              </a:rPr>
              <a:t>SIP 不經過 AMF／SMF，兩邊只在五個地方接觸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AD3B01F-3D1D-4C04-AACE-E6F05AEFB248}"/>
              </a:ext>
            </a:extLst>
          </p:cNvPr>
          <p:cNvSpPr txBox="1"/>
          <p:nvPr/>
        </p:nvSpPr>
        <p:spPr>
          <a:xfrm>
            <a:off x="7924800" y="1047750"/>
            <a:ext cx="3810000" cy="285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 b="1">
                <a:solidFill>
                  <a:srgbClr val="0B1B2E"/>
                </a:solidFill>
              </a:rPr>
              <a:t>五個對接點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7824DBD6-2670-40E6-838C-30D162DBEFFB}"/>
              </a:ext>
            </a:extLst>
          </p:cNvPr>
          <p:cNvSpPr/>
          <p:nvPr/>
        </p:nvSpPr>
        <p:spPr>
          <a:xfrm>
            <a:off x="7924800" y="1524000"/>
            <a:ext cx="3657600" cy="685800"/>
          </a:xfrm>
          <a:prstGeom prst="roundRect">
            <a:avLst/>
          </a:prstGeom>
          <a:solidFill>
            <a:srgbClr val="FFFFFF"/>
          </a:solidFill>
        </p:spPr>
        <p:txBody>
          <a:bodyPr wrap="square" rtlCol="0" lIns="0" tIns="0" rIns="0" bIns="0" anchor="ctr"/>
          <a:lstStyle/>
          <a:p>
            <a:pPr algn="l"/>
            <a:r>
              <a:rPr sz="1900" b="1">
                <a:solidFill>
                  <a:srgbClr val="0F4C81"/>
                </a:solidFill>
              </a:rPr>
              <a:t>  ① 使用者面（N6）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A6946651-A155-4EA0-8B63-0736E2BF21C5}"/>
              </a:ext>
            </a:extLst>
          </p:cNvPr>
          <p:cNvSpPr/>
          <p:nvPr/>
        </p:nvSpPr>
        <p:spPr>
          <a:xfrm>
            <a:off x="7924800" y="2400300"/>
            <a:ext cx="3657600" cy="685800"/>
          </a:xfrm>
          <a:prstGeom prst="roundRect">
            <a:avLst/>
          </a:prstGeom>
          <a:solidFill>
            <a:srgbClr val="FFFFFF"/>
          </a:solidFill>
        </p:spPr>
        <p:txBody>
          <a:bodyPr wrap="square" rtlCol="0" lIns="0" tIns="0" rIns="0" bIns="0" anchor="ctr"/>
          <a:lstStyle/>
          <a:p>
            <a:pPr algn="l"/>
            <a:r>
              <a:rPr sz="1900" b="1">
                <a:solidFill>
                  <a:srgbClr val="0F4C81"/>
                </a:solidFill>
              </a:rPr>
              <a:t>  ② ims DNN 與預設 QoS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8FBE07A3-BF2E-4F44-9C4F-9EB070D22A84}"/>
              </a:ext>
            </a:extLst>
          </p:cNvPr>
          <p:cNvSpPr/>
          <p:nvPr/>
        </p:nvSpPr>
        <p:spPr>
          <a:xfrm>
            <a:off x="7924800" y="3276600"/>
            <a:ext cx="3657600" cy="685800"/>
          </a:xfrm>
          <a:prstGeom prst="roundRect">
            <a:avLst/>
          </a:prstGeom>
          <a:solidFill>
            <a:srgbClr val="FFFFFF"/>
          </a:solidFill>
        </p:spPr>
        <p:txBody>
          <a:bodyPr wrap="square" rtlCol="0" lIns="0" tIns="0" rIns="0" bIns="0" anchor="ctr"/>
          <a:lstStyle/>
          <a:p>
            <a:pPr algn="l"/>
            <a:r>
              <a:rPr sz="1900" b="1">
                <a:solidFill>
                  <a:srgbClr val="0F4C81"/>
                </a:solidFill>
              </a:rPr>
              <a:t>  ③ P-CSCF discovery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681B6217-C0E1-4AA4-B705-90AAB1B14194}"/>
              </a:ext>
            </a:extLst>
          </p:cNvPr>
          <p:cNvSpPr/>
          <p:nvPr/>
        </p:nvSpPr>
        <p:spPr>
          <a:xfrm>
            <a:off x="7924800" y="4152900"/>
            <a:ext cx="3657600" cy="685800"/>
          </a:xfrm>
          <a:prstGeom prst="roundRect">
            <a:avLst/>
          </a:prstGeom>
          <a:solidFill>
            <a:srgbClr val="FFFFFF"/>
          </a:solidFill>
        </p:spPr>
        <p:txBody>
          <a:bodyPr wrap="square" rtlCol="0" lIns="0" tIns="0" rIns="0" bIns="0" anchor="ctr"/>
          <a:lstStyle/>
          <a:p>
            <a:pPr algn="l"/>
            <a:r>
              <a:rPr sz="1900" b="1">
                <a:solidFill>
                  <a:srgbClr val="0F4C81"/>
                </a:solidFill>
              </a:rPr>
              <a:t>  ④ 用戶身分與金鑰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9222CFDE-54B9-4B91-9007-C708B70CE327}"/>
              </a:ext>
            </a:extLst>
          </p:cNvPr>
          <p:cNvSpPr/>
          <p:nvPr/>
        </p:nvSpPr>
        <p:spPr>
          <a:xfrm>
            <a:off x="7924800" y="5029200"/>
            <a:ext cx="3657600" cy="685800"/>
          </a:xfrm>
          <a:prstGeom prst="roundRect">
            <a:avLst/>
          </a:prstGeom>
          <a:solidFill>
            <a:srgbClr val="FFFFFF"/>
          </a:solidFill>
        </p:spPr>
        <p:txBody>
          <a:bodyPr wrap="square" rtlCol="0" lIns="0" tIns="0" rIns="0" bIns="0" anchor="ctr"/>
          <a:lstStyle/>
          <a:p>
            <a:pPr algn="l"/>
            <a:r>
              <a:rPr sz="1900" b="1">
                <a:solidFill>
                  <a:srgbClr val="E8742A"/>
                </a:solidFill>
              </a:rPr>
              <a:t>  ⑤ Policy／QoS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A48972C7-8243-40F1-9F71-3172BBADA07E}"/>
              </a:ext>
            </a:extLst>
          </p:cNvPr>
          <p:cNvSpPr/>
          <p:nvPr/>
        </p:nvSpPr>
        <p:spPr>
          <a:xfrm>
            <a:off x="4476750" y="666750"/>
            <a:ext cx="3333750" cy="57150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4EF2232E-B72F-4857-9B0A-B08CF8FA74F2}"/>
              </a:ext>
            </a:extLst>
          </p:cNvPr>
          <p:cNvSpPr/>
          <p:nvPr/>
        </p:nvSpPr>
        <p:spPr>
          <a:xfrm>
            <a:off x="8191500" y="666750"/>
            <a:ext cx="3524250" cy="57150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752E9C6-DDC9-4D53-A909-EF242CB9DA37}"/>
              </a:ext>
            </a:extLst>
          </p:cNvPr>
          <p:cNvSpPr txBox="1"/>
          <p:nvPr/>
        </p:nvSpPr>
        <p:spPr>
          <a:xfrm>
            <a:off x="4667250" y="800100"/>
            <a:ext cx="2952750" cy="228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200" b="1">
                <a:solidFill>
                  <a:srgbClr val="0F4C81"/>
                </a:solidFill>
              </a:rPr>
              <a:t>corenet 10.100.200.0/24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7E9DA66-C859-4449-8A37-AFAB7DAC4691}"/>
              </a:ext>
            </a:extLst>
          </p:cNvPr>
          <p:cNvSpPr txBox="1"/>
          <p:nvPr/>
        </p:nvSpPr>
        <p:spPr>
          <a:xfrm>
            <a:off x="8382000" y="800100"/>
            <a:ext cx="3143250" cy="228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200" b="1">
                <a:solidFill>
                  <a:srgbClr val="E8742A"/>
                </a:solidFill>
              </a:rPr>
              <a:t>dnnet 10.100.100.0/24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AA1C274C-17FA-4AD4-A12B-CD152B33DD05}"/>
              </a:ext>
            </a:extLst>
          </p:cNvPr>
          <p:cNvSpPr/>
          <p:nvPr/>
        </p:nvSpPr>
        <p:spPr>
          <a:xfrm>
            <a:off x="5467350" y="1752600"/>
            <a:ext cx="19050" cy="110490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D5D57294-21DB-485D-9819-4B4C1FEB142A}"/>
              </a:ext>
            </a:extLst>
          </p:cNvPr>
          <p:cNvSpPr/>
          <p:nvPr/>
        </p:nvSpPr>
        <p:spPr>
          <a:xfrm>
            <a:off x="6096000" y="3105150"/>
            <a:ext cx="1190625" cy="1905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9" name="Straight Connector 9">
            <a:extLst>
              <a:ext uri="{FF2B5EF4-FFF2-40B4-BE49-F238E27FC236}">
                <a16:creationId xmlns:a16="http://schemas.microsoft.com/office/drawing/2014/main" id="{7768B443-0A44-49F6-9905-5072A08DBC4B}"/>
              </a:ext>
            </a:extLst>
          </p:cNvPr>
          <p:cNvCxnSpPr/>
          <p:nvPr/>
        </p:nvCxnSpPr>
        <p:spPr>
          <a:xfrm flipV="1">
            <a:off x="6096000" y="3371850"/>
            <a:ext cx="1524000" cy="1771650"/>
          </a:xfrm>
          <a:prstGeom prst="line">
            <a:avLst/>
          </a:prstGeom>
          <a:ln w="19050" cap="flat">
            <a:solidFill>
              <a:srgbClr val="14213D"/>
            </a:solidFill>
          </a:ln>
        </p:spPr>
      </p:cxnSp>
      <p:sp>
        <p:nvSpPr>
          <p:cNvPr id="10" name="Shape 10">
            <a:extLst>
              <a:ext uri="{FF2B5EF4-FFF2-40B4-BE49-F238E27FC236}">
                <a16:creationId xmlns:a16="http://schemas.microsoft.com/office/drawing/2014/main" id="{5829D6BA-15CD-4A90-BF94-AE0611EA17FB}"/>
              </a:ext>
            </a:extLst>
          </p:cNvPr>
          <p:cNvSpPr/>
          <p:nvPr/>
        </p:nvSpPr>
        <p:spPr>
          <a:xfrm>
            <a:off x="8715375" y="3105150"/>
            <a:ext cx="333375" cy="1905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5720912D-BEA9-4CF1-A9EF-A877221119A9}"/>
              </a:ext>
            </a:extLst>
          </p:cNvPr>
          <p:cNvSpPr/>
          <p:nvPr/>
        </p:nvSpPr>
        <p:spPr>
          <a:xfrm>
            <a:off x="9658350" y="1752600"/>
            <a:ext cx="19050" cy="110490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C3688301-9D1C-4608-B9CB-95FBB22B5B12}"/>
              </a:ext>
            </a:extLst>
          </p:cNvPr>
          <p:cNvSpPr/>
          <p:nvPr/>
        </p:nvSpPr>
        <p:spPr>
          <a:xfrm>
            <a:off x="6096000" y="1495425"/>
            <a:ext cx="2952750" cy="28575"/>
          </a:xfrm>
          <a:prstGeom prst="rect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DCEB517C-C956-40C2-A1D6-2E3DDB656880}"/>
              </a:ext>
            </a:extLst>
          </p:cNvPr>
          <p:cNvSpPr/>
          <p:nvPr/>
        </p:nvSpPr>
        <p:spPr>
          <a:xfrm>
            <a:off x="9658350" y="3371850"/>
            <a:ext cx="19050" cy="72390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92D7AF4B-FA4D-4042-A05A-8E34A77D1639}"/>
              </a:ext>
            </a:extLst>
          </p:cNvPr>
          <p:cNvSpPr/>
          <p:nvPr/>
        </p:nvSpPr>
        <p:spPr>
          <a:xfrm>
            <a:off x="9658350" y="4610100"/>
            <a:ext cx="19050" cy="72390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15" name="Straight Connector 15">
            <a:extLst>
              <a:ext uri="{FF2B5EF4-FFF2-40B4-BE49-F238E27FC236}">
                <a16:creationId xmlns:a16="http://schemas.microsoft.com/office/drawing/2014/main" id="{143440F7-0E93-400A-A96F-B3EA5F9BACA0}"/>
              </a:ext>
            </a:extLst>
          </p:cNvPr>
          <p:cNvCxnSpPr/>
          <p:nvPr/>
        </p:nvCxnSpPr>
        <p:spPr>
          <a:xfrm>
            <a:off x="10287000" y="4352925"/>
            <a:ext cx="285750" cy="571500"/>
          </a:xfrm>
          <a:prstGeom prst="line">
            <a:avLst/>
          </a:prstGeom>
          <a:ln w="19050" cap="flat">
            <a:solidFill>
              <a:srgbClr val="5B6575"/>
            </a:solidFill>
          </a:ln>
        </p:spPr>
      </p:cxnSp>
      <p:cxnSp>
        <p:nvCxnSpPr>
          <p:cNvPr id="16" name="Straight Connector 16">
            <a:extLst>
              <a:ext uri="{FF2B5EF4-FFF2-40B4-BE49-F238E27FC236}">
                <a16:creationId xmlns:a16="http://schemas.microsoft.com/office/drawing/2014/main" id="{AAC132AC-45A9-40F3-8F36-A44FE157B316}"/>
              </a:ext>
            </a:extLst>
          </p:cNvPr>
          <p:cNvCxnSpPr/>
          <p:nvPr/>
        </p:nvCxnSpPr>
        <p:spPr>
          <a:xfrm flipV="1">
            <a:off x="10287000" y="5067300"/>
            <a:ext cx="285750" cy="523875"/>
          </a:xfrm>
          <a:prstGeom prst="line">
            <a:avLst/>
          </a:prstGeom>
          <a:ln w="19050" cap="flat">
            <a:solidFill>
              <a:srgbClr val="5B6575"/>
            </a:solidFill>
          </a:ln>
        </p:spPr>
      </p:cxnSp>
      <p:sp>
        <p:nvSpPr>
          <p:cNvPr id="17" name="Shape 17">
            <a:extLst>
              <a:ext uri="{FF2B5EF4-FFF2-40B4-BE49-F238E27FC236}">
                <a16:creationId xmlns:a16="http://schemas.microsoft.com/office/drawing/2014/main" id="{2EE2FDE5-D73C-4594-B38C-E81FF2619FD1}"/>
              </a:ext>
            </a:extLst>
          </p:cNvPr>
          <p:cNvSpPr/>
          <p:nvPr/>
        </p:nvSpPr>
        <p:spPr>
          <a:xfrm>
            <a:off x="5457825" y="3371850"/>
            <a:ext cx="38100" cy="1962150"/>
          </a:xfrm>
          <a:prstGeom prst="rect">
            <a:avLst/>
          </a:prstGeom>
          <a:solidFill>
            <a:srgbClr val="0F4C8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53C524D6-D42E-41F8-8E68-9BB31C8D24C0}"/>
              </a:ext>
            </a:extLst>
          </p:cNvPr>
          <p:cNvSpPr/>
          <p:nvPr/>
        </p:nvSpPr>
        <p:spPr>
          <a:xfrm>
            <a:off x="4857750" y="1238250"/>
            <a:ext cx="1238250" cy="476250"/>
          </a:xfrm>
          <a:prstGeom prst="roundRect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PCF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6D6DDFFE-9CBC-42DE-9CCF-35B40AE8E11E}"/>
              </a:ext>
            </a:extLst>
          </p:cNvPr>
          <p:cNvSpPr/>
          <p:nvPr/>
        </p:nvSpPr>
        <p:spPr>
          <a:xfrm>
            <a:off x="4857750" y="2857500"/>
            <a:ext cx="1238250" cy="476250"/>
          </a:xfrm>
          <a:prstGeom prst="roundRect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SMF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61B76E20-A54B-4403-BC99-6A8F14B2974F}"/>
              </a:ext>
            </a:extLst>
          </p:cNvPr>
          <p:cNvSpPr/>
          <p:nvPr/>
        </p:nvSpPr>
        <p:spPr>
          <a:xfrm>
            <a:off x="4857750" y="5334000"/>
            <a:ext cx="1238250" cy="476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4C81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0F4C81"/>
                </a:solidFill>
              </a:rPr>
              <a:t>UE + gNB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5D1AD5CA-098E-4892-982D-92203803A0FA}"/>
              </a:ext>
            </a:extLst>
          </p:cNvPr>
          <p:cNvSpPr/>
          <p:nvPr/>
        </p:nvSpPr>
        <p:spPr>
          <a:xfrm>
            <a:off x="7286625" y="2857500"/>
            <a:ext cx="1428750" cy="47625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UPF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04823BF7-C7B8-4832-BF43-333A120CA3D7}"/>
              </a:ext>
            </a:extLst>
          </p:cNvPr>
          <p:cNvSpPr/>
          <p:nvPr/>
        </p:nvSpPr>
        <p:spPr>
          <a:xfrm>
            <a:off x="6477000" y="5772150"/>
            <a:ext cx="1143000" cy="419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4C81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0F4C81"/>
                </a:solidFill>
              </a:rPr>
              <a:t>UDR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D5FD9B47-A1CC-4C9F-9FF0-5D82687EA6F6}"/>
              </a:ext>
            </a:extLst>
          </p:cNvPr>
          <p:cNvSpPr/>
          <p:nvPr/>
        </p:nvSpPr>
        <p:spPr>
          <a:xfrm>
            <a:off x="9048750" y="1238250"/>
            <a:ext cx="1238250" cy="476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742A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E8742A"/>
                </a:solidFill>
              </a:rPr>
              <a:t>AF shim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30153336-BB43-4259-B625-476DE9D189D7}"/>
              </a:ext>
            </a:extLst>
          </p:cNvPr>
          <p:cNvSpPr/>
          <p:nvPr/>
        </p:nvSpPr>
        <p:spPr>
          <a:xfrm>
            <a:off x="9048750" y="2857500"/>
            <a:ext cx="1238250" cy="47625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P-CSCF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CCEF9BC0-1D1F-4428-B2B6-494D0D84EFBD}"/>
              </a:ext>
            </a:extLst>
          </p:cNvPr>
          <p:cNvSpPr/>
          <p:nvPr/>
        </p:nvSpPr>
        <p:spPr>
          <a:xfrm>
            <a:off x="9048750" y="4095750"/>
            <a:ext cx="1238250" cy="47625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I-CSCF</a:t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6CFBA8A3-F283-49F9-B7C1-339EB88D92BF}"/>
              </a:ext>
            </a:extLst>
          </p:cNvPr>
          <p:cNvSpPr/>
          <p:nvPr/>
        </p:nvSpPr>
        <p:spPr>
          <a:xfrm>
            <a:off x="9048750" y="5334000"/>
            <a:ext cx="1238250" cy="47625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S-CSCF</a:t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717AA776-3DD1-40A3-B579-E20A0E9F49BF}"/>
              </a:ext>
            </a:extLst>
          </p:cNvPr>
          <p:cNvSpPr/>
          <p:nvPr/>
        </p:nvSpPr>
        <p:spPr>
          <a:xfrm>
            <a:off x="10572750" y="4714875"/>
            <a:ext cx="952500" cy="476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742A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E8742A"/>
                </a:solidFill>
              </a:rPr>
              <a:t>PyHSS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03A8B3FD-633C-40C4-9ACE-FA55C2035072}"/>
              </a:ext>
            </a:extLst>
          </p:cNvPr>
          <p:cNvSpPr txBox="1"/>
          <p:nvPr/>
        </p:nvSpPr>
        <p:spPr>
          <a:xfrm>
            <a:off x="5562600" y="2152650"/>
            <a:ext cx="57150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200" b="1">
                <a:solidFill>
                  <a:srgbClr val="14213D"/>
                </a:solidFill>
              </a:rPr>
              <a:t>N7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21176A42-6EB8-459C-8A18-B5F9B2AD0642}"/>
              </a:ext>
            </a:extLst>
          </p:cNvPr>
          <p:cNvSpPr txBox="1"/>
          <p:nvPr/>
        </p:nvSpPr>
        <p:spPr>
          <a:xfrm>
            <a:off x="6191250" y="2876550"/>
            <a:ext cx="104775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200" b="1">
                <a:solidFill>
                  <a:srgbClr val="14213D"/>
                </a:solidFill>
              </a:rPr>
              <a:t>N4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14C58512-BADF-4080-BC99-FDE9A27FBC4A}"/>
              </a:ext>
            </a:extLst>
          </p:cNvPr>
          <p:cNvSpPr txBox="1"/>
          <p:nvPr/>
        </p:nvSpPr>
        <p:spPr>
          <a:xfrm>
            <a:off x="6667500" y="1771650"/>
            <a:ext cx="190500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200" b="1">
                <a:solidFill>
                  <a:srgbClr val="E8742A"/>
                </a:solidFill>
              </a:rPr>
              <a:t>N5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0E583626-217D-40F6-AABB-13092208339D}"/>
              </a:ext>
            </a:extLst>
          </p:cNvPr>
          <p:cNvSpPr txBox="1"/>
          <p:nvPr/>
        </p:nvSpPr>
        <p:spPr>
          <a:xfrm>
            <a:off x="9753600" y="2152650"/>
            <a:ext cx="95250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200">
                <a:solidFill>
                  <a:srgbClr val="14213D"/>
                </a:solidFill>
              </a:rPr>
              <a:t>HTTP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D450A1F8-CBC2-4A69-BFBD-AA1E3F33D58A}"/>
              </a:ext>
            </a:extLst>
          </p:cNvPr>
          <p:cNvSpPr txBox="1"/>
          <p:nvPr/>
        </p:nvSpPr>
        <p:spPr>
          <a:xfrm>
            <a:off x="9753600" y="3638550"/>
            <a:ext cx="38100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200" b="1">
                <a:solidFill>
                  <a:srgbClr val="14213D"/>
                </a:solidFill>
              </a:rPr>
              <a:t>Mw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EBDC8C8-2EB2-45D0-B369-D39F983862B6}"/>
              </a:ext>
            </a:extLst>
          </p:cNvPr>
          <p:cNvSpPr txBox="1"/>
          <p:nvPr/>
        </p:nvSpPr>
        <p:spPr>
          <a:xfrm>
            <a:off x="9753600" y="4876800"/>
            <a:ext cx="38100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200" b="1">
                <a:solidFill>
                  <a:srgbClr val="14213D"/>
                </a:solidFill>
              </a:rPr>
              <a:t>Mw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F3258068-004E-4E31-B9BF-7838B4F445DE}"/>
              </a:ext>
            </a:extLst>
          </p:cNvPr>
          <p:cNvSpPr txBox="1"/>
          <p:nvPr/>
        </p:nvSpPr>
        <p:spPr>
          <a:xfrm>
            <a:off x="10858500" y="4438650"/>
            <a:ext cx="38100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200" b="1">
                <a:solidFill>
                  <a:srgbClr val="5B6575"/>
                </a:solidFill>
              </a:rPr>
              <a:t>Cx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D6328603-BA2D-4A92-BEAB-B9D0396EECD7}"/>
              </a:ext>
            </a:extLst>
          </p:cNvPr>
          <p:cNvSpPr txBox="1"/>
          <p:nvPr/>
        </p:nvSpPr>
        <p:spPr>
          <a:xfrm>
            <a:off x="5562600" y="4191000"/>
            <a:ext cx="57150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200" b="1">
                <a:solidFill>
                  <a:srgbClr val="0F4C81"/>
                </a:solidFill>
              </a:rPr>
              <a:t>PCO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5F18A34-CAC1-4B0D-A6A4-501622B3FF23}"/>
              </a:ext>
            </a:extLst>
          </p:cNvPr>
          <p:cNvSpPr txBox="1"/>
          <p:nvPr/>
        </p:nvSpPr>
        <p:spPr>
          <a:xfrm>
            <a:off x="6915150" y="4476750"/>
            <a:ext cx="85725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200" b="1">
                <a:solidFill>
                  <a:srgbClr val="14213D"/>
                </a:solidFill>
              </a:rPr>
              <a:t>N3</a:t>
            </a:r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4B185253-6BF7-45E9-B98D-3E7029B76359}"/>
              </a:ext>
            </a:extLst>
          </p:cNvPr>
          <p:cNvSpPr/>
          <p:nvPr/>
        </p:nvSpPr>
        <p:spPr>
          <a:xfrm>
            <a:off x="8715375" y="3238500"/>
            <a:ext cx="285750" cy="285750"/>
          </a:xfrm>
          <a:prstGeom prst="ellipse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8" name="Shape 38">
            <a:extLst>
              <a:ext uri="{FF2B5EF4-FFF2-40B4-BE49-F238E27FC236}">
                <a16:creationId xmlns:a16="http://schemas.microsoft.com/office/drawing/2014/main" id="{EF20BAA4-C5BC-4591-B212-98B5A8B31E36}"/>
              </a:ext>
            </a:extLst>
          </p:cNvPr>
          <p:cNvSpPr/>
          <p:nvPr/>
        </p:nvSpPr>
        <p:spPr>
          <a:xfrm>
            <a:off x="6667500" y="4762500"/>
            <a:ext cx="285750" cy="285750"/>
          </a:xfrm>
          <a:prstGeom prst="ellipse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73962B22-CEE8-4906-A96C-A276D21F7FFD}"/>
              </a:ext>
            </a:extLst>
          </p:cNvPr>
          <p:cNvSpPr/>
          <p:nvPr/>
        </p:nvSpPr>
        <p:spPr>
          <a:xfrm>
            <a:off x="5143500" y="4191000"/>
            <a:ext cx="285750" cy="285750"/>
          </a:xfrm>
          <a:prstGeom prst="ellipse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0" name="Shape 40">
            <a:extLst>
              <a:ext uri="{FF2B5EF4-FFF2-40B4-BE49-F238E27FC236}">
                <a16:creationId xmlns:a16="http://schemas.microsoft.com/office/drawing/2014/main" id="{76EC15AF-46F3-470F-9FF3-4E4716DC8918}"/>
              </a:ext>
            </a:extLst>
          </p:cNvPr>
          <p:cNvSpPr/>
          <p:nvPr/>
        </p:nvSpPr>
        <p:spPr>
          <a:xfrm>
            <a:off x="7810500" y="5829300"/>
            <a:ext cx="285750" cy="285750"/>
          </a:xfrm>
          <a:prstGeom prst="ellipse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7A41B946-C2E7-4FF3-95E4-D4B8B85EB94B}"/>
              </a:ext>
            </a:extLst>
          </p:cNvPr>
          <p:cNvSpPr/>
          <p:nvPr/>
        </p:nvSpPr>
        <p:spPr>
          <a:xfrm>
            <a:off x="7429500" y="1066800"/>
            <a:ext cx="285750" cy="285750"/>
          </a:xfrm>
          <a:prstGeom prst="ellipse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606F3E2F-638F-41C7-8F36-7F5CD526E4EE}"/>
              </a:ext>
            </a:extLst>
          </p:cNvPr>
          <p:cNvSpPr txBox="1"/>
          <p:nvPr/>
        </p:nvSpPr>
        <p:spPr>
          <a:xfrm>
            <a:off x="476250" y="533400"/>
            <a:ext cx="3714750" cy="571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200" b="1">
                <a:solidFill>
                  <a:srgbClr val="14213D"/>
                </a:solidFill>
              </a:rPr>
              <a:t>五個對接點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AC17BF86-0199-4CFC-8182-66C84CBE7B33}"/>
              </a:ext>
            </a:extLst>
          </p:cNvPr>
          <p:cNvSpPr txBox="1"/>
          <p:nvPr/>
        </p:nvSpPr>
        <p:spPr>
          <a:xfrm>
            <a:off x="476250" y="1333500"/>
            <a:ext cx="3714750" cy="4953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400"/>
              </a:spcAft>
            </a:pPr>
            <a:r>
              <a:rPr sz="1500">
                <a:solidFill>
                  <a:srgbClr val="5B6575"/>
                </a:solidFill>
              </a:rPr>
              <a:t>SIP 不經過 AMF、SMF；對 5GC 來說只是 user plane 的 IP 封包。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E8742A"/>
                </a:solidFill>
              </a:rPr>
              <a:t>① </a:t>
            </a:r>
            <a:r>
              <a:rPr sz="1600" b="1">
                <a:solidFill>
                  <a:srgbClr val="14213D"/>
                </a:solidFill>
              </a:rPr>
              <a:t>使用者面：UPF 是唯一的橋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E8742A"/>
                </a:solidFill>
              </a:rPr>
              <a:t>② </a:t>
            </a:r>
            <a:r>
              <a:rPr sz="1600" b="1">
                <a:solidFill>
                  <a:srgbClr val="14213D"/>
                </a:solidFill>
              </a:rPr>
              <a:t>ims DNN 與預設 QoS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E8742A"/>
                </a:solidFill>
              </a:rPr>
              <a:t>③ </a:t>
            </a:r>
            <a:r>
              <a:rPr sz="1600" b="1">
                <a:solidFill>
                  <a:srgbClr val="14213D"/>
                </a:solidFill>
              </a:rPr>
              <a:t>P-CSCF discovery（PCO）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E8742A"/>
                </a:solidFill>
              </a:rPr>
              <a:t>④ </a:t>
            </a:r>
            <a:r>
              <a:rPr sz="1600" b="1">
                <a:solidFill>
                  <a:srgbClr val="14213D"/>
                </a:solidFill>
              </a:rPr>
              <a:t>用戶身分與金鑰（開戶時對齊）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E8742A"/>
                </a:solidFill>
              </a:rPr>
              <a:t>⑤ </a:t>
            </a:r>
            <a:r>
              <a:rPr sz="1600" b="1">
                <a:solidFill>
                  <a:srgbClr val="14213D"/>
                </a:solidFill>
              </a:rPr>
              <a:t>Policy／QoS（N5）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9A52E22-EC95-4016-9B46-2E681183CE47}"/>
              </a:ext>
            </a:extLst>
          </p:cNvPr>
          <p:cNvSpPr txBox="1"/>
          <p:nvPr/>
        </p:nvSpPr>
        <p:spPr>
          <a:xfrm>
            <a:off x="666750" y="381000"/>
            <a:ext cx="10858500" cy="571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400" b="1">
                <a:solidFill>
                  <a:srgbClr val="14213D"/>
                </a:solidFill>
              </a:rPr>
              <a:t>① 使用者面：UPF 是唯一的橋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30B96AE-0ACF-45BC-835C-D9128898B987}"/>
              </a:ext>
            </a:extLst>
          </p:cNvPr>
          <p:cNvSpPr txBox="1"/>
          <p:nvPr/>
        </p:nvSpPr>
        <p:spPr>
          <a:xfrm>
            <a:off x="666750" y="990600"/>
            <a:ext cx="10858500" cy="285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>
                <a:solidFill>
                  <a:srgbClr val="5B6575"/>
                </a:solidFill>
              </a:rPr>
              <a:t>SIP 與 RTP 都是 user plane 封包：UE → gNB →（GTP-U）→ UPF → N6 → P-CSCF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7C1B5CCE-2B04-424E-B70F-8433220F7779}"/>
              </a:ext>
            </a:extLst>
          </p:cNvPr>
          <p:cNvSpPr/>
          <p:nvPr/>
        </p:nvSpPr>
        <p:spPr>
          <a:xfrm>
            <a:off x="666750" y="1524000"/>
            <a:ext cx="4286250" cy="28575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3849E2A6-5283-4597-9B08-B73A8A0930D1}"/>
              </a:ext>
            </a:extLst>
          </p:cNvPr>
          <p:cNvSpPr/>
          <p:nvPr/>
        </p:nvSpPr>
        <p:spPr>
          <a:xfrm>
            <a:off x="7239000" y="1524000"/>
            <a:ext cx="4286250" cy="28575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C3D1A398-8A53-4ED4-BDFE-CEEF0407EFA6}"/>
              </a:ext>
            </a:extLst>
          </p:cNvPr>
          <p:cNvSpPr/>
          <p:nvPr/>
        </p:nvSpPr>
        <p:spPr>
          <a:xfrm>
            <a:off x="5191125" y="2667000"/>
            <a:ext cx="1809750" cy="57150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UPF（雙網卡）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F6AE6EF-FE08-438B-9C57-AD9E8555E270}"/>
              </a:ext>
            </a:extLst>
          </p:cNvPr>
          <p:cNvSpPr txBox="1"/>
          <p:nvPr/>
        </p:nvSpPr>
        <p:spPr>
          <a:xfrm>
            <a:off x="914400" y="1714500"/>
            <a:ext cx="3810000" cy="2571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2200" b="1">
                <a:solidFill>
                  <a:srgbClr val="0F4C81"/>
                </a:solidFill>
              </a:rPr>
              <a:t>corenet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B6575"/>
                </a:solidFill>
              </a:rPr>
              <a:t>10.100.200.0/24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AMF、SMF、PCF…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gNB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UPF 的 N3、N4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47FC702-10E3-41A4-9FE9-09E7EEF50D6E}"/>
              </a:ext>
            </a:extLst>
          </p:cNvPr>
          <p:cNvSpPr txBox="1"/>
          <p:nvPr/>
        </p:nvSpPr>
        <p:spPr>
          <a:xfrm>
            <a:off x="7486650" y="1714500"/>
            <a:ext cx="3810000" cy="2571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2200" b="1">
                <a:solidFill>
                  <a:srgbClr val="E8742A"/>
                </a:solidFill>
              </a:rPr>
              <a:t>dnnet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B6575"/>
                </a:solidFill>
              </a:rPr>
              <a:t>10.100.100.0/24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P／I／S-CSCF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PyHSS、AF shim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UPF 的 N6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E3EF4F36-76AF-4180-96DB-ECDC5E76259F}"/>
              </a:ext>
            </a:extLst>
          </p:cNvPr>
          <p:cNvSpPr/>
          <p:nvPr/>
        </p:nvSpPr>
        <p:spPr>
          <a:xfrm>
            <a:off x="666750" y="4667250"/>
            <a:ext cx="10858500" cy="161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8742A"/>
                </a:solidFill>
              </a:rPr>
              <a:t>   往 dnnet 不做 NAT（config/upf-n6.sh）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14213D"/>
                </a:solidFill>
              </a:rPr>
              <a:t>   • Kamailio 看到 UE 的真實 IP；否則兩支 UE 會變成同一個位址，SIP 需要 NAT 輔助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14213D"/>
                </a:solidFill>
              </a:rPr>
              <a:t>   • PCF 用 UE IP 綁定 PDU session，位址被改掉就綁不到</a:t>
            </a:r>
          </a:p>
          <a:p>
            <a:pPr algn="l"/>
            <a:r>
              <a:rPr sz="1500">
                <a:solidFill>
                  <a:srgbClr val="14213D"/>
                </a:solidFill>
              </a:rPr>
              <a:t>   • 兩個網段互不相通：UE 到 IMS 一定經過 UPF；RTP 在 UPF 內直接轉給對方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2EDE6B00-903F-4790-A5A9-916CD982F547}"/>
              </a:ext>
            </a:extLst>
          </p:cNvPr>
          <p:cNvSpPr txBox="1"/>
          <p:nvPr/>
        </p:nvSpPr>
        <p:spPr>
          <a:xfrm>
            <a:off x="666750" y="381000"/>
            <a:ext cx="10858500" cy="571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400" b="1">
                <a:solidFill>
                  <a:srgbClr val="14213D"/>
                </a:solidFill>
              </a:rPr>
              <a:t>② ims DNN 與預設 QoS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C5012A4-74A3-48D5-B21F-14EFD2618D86}"/>
              </a:ext>
            </a:extLst>
          </p:cNvPr>
          <p:cNvSpPr txBox="1"/>
          <p:nvPr/>
        </p:nvSpPr>
        <p:spPr>
          <a:xfrm>
            <a:off x="666750" y="990600"/>
            <a:ext cx="10858500" cy="285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>
                <a:solidFill>
                  <a:srgbClr val="5B6575"/>
                </a:solidFill>
              </a:rPr>
              <a:t>設在 UDR 的訂閱資料（scripts/subscriber-template.json）與 smfcfg.yaml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99C27C62-1EB4-44DB-9EC8-FF5CABAC6584}"/>
              </a:ext>
            </a:extLst>
          </p:cNvPr>
          <p:cNvSpPr/>
          <p:nvPr/>
        </p:nvSpPr>
        <p:spPr>
          <a:xfrm>
            <a:off x="666750" y="1524000"/>
            <a:ext cx="2552700" cy="3143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38F573B-FA2A-4846-B9C4-705AE879354A}"/>
              </a:ext>
            </a:extLst>
          </p:cNvPr>
          <p:cNvSpPr txBox="1"/>
          <p:nvPr/>
        </p:nvSpPr>
        <p:spPr>
          <a:xfrm>
            <a:off x="876300" y="1752600"/>
            <a:ext cx="2152650" cy="2762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0F4C81"/>
                </a:solidFill>
              </a:rPr>
              <a:t>ims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4213D"/>
                </a:solidFill>
              </a:rPr>
              <a:t>DNN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5B6575"/>
                </a:solidFill>
              </a:rPr>
              <a:t>UE 只建這一個 PDU session（free-ran-ue 的限制）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426F6A0D-85FD-4B28-BC73-C8879044A546}"/>
              </a:ext>
            </a:extLst>
          </p:cNvPr>
          <p:cNvSpPr/>
          <p:nvPr/>
        </p:nvSpPr>
        <p:spPr>
          <a:xfrm>
            <a:off x="3448050" y="1524000"/>
            <a:ext cx="2552700" cy="3143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12CC903-29AF-4800-84F0-B89E60D0D7D2}"/>
              </a:ext>
            </a:extLst>
          </p:cNvPr>
          <p:cNvSpPr txBox="1"/>
          <p:nvPr/>
        </p:nvSpPr>
        <p:spPr>
          <a:xfrm>
            <a:off x="3657600" y="1752600"/>
            <a:ext cx="2152650" cy="2762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0F4C81"/>
                </a:solidFill>
              </a:rPr>
              <a:t>10.62/16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4213D"/>
                </a:solidFill>
              </a:rPr>
              <a:t>位址池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5B6575"/>
                </a:solidFill>
              </a:rPr>
              <a:t>與 internet 分開，來源 IP 就能看出 DN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6A7F3E9D-19B5-4593-B182-013652A2E7D3}"/>
              </a:ext>
            </a:extLst>
          </p:cNvPr>
          <p:cNvSpPr/>
          <p:nvPr/>
        </p:nvSpPr>
        <p:spPr>
          <a:xfrm>
            <a:off x="6229350" y="1524000"/>
            <a:ext cx="2552700" cy="314325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D7C1E3B-CD8B-4AD0-B59B-2CCCA3A49AF2}"/>
              </a:ext>
            </a:extLst>
          </p:cNvPr>
          <p:cNvSpPr txBox="1"/>
          <p:nvPr/>
        </p:nvSpPr>
        <p:spPr>
          <a:xfrm>
            <a:off x="6438900" y="1752600"/>
            <a:ext cx="2152650" cy="2762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E8742A"/>
                </a:solidFill>
              </a:rPr>
              <a:t>5QI 5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4213D"/>
                </a:solidFill>
              </a:rPr>
              <a:t>預設 QoS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5B6575"/>
                </a:solidFill>
              </a:rPr>
              <a:t>IMS 信令，ARP 1；internet 是 5QI 9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CF4E2D59-853B-44E2-AF2C-0E9054F1029C}"/>
              </a:ext>
            </a:extLst>
          </p:cNvPr>
          <p:cNvSpPr/>
          <p:nvPr/>
        </p:nvSpPr>
        <p:spPr>
          <a:xfrm>
            <a:off x="9010650" y="1524000"/>
            <a:ext cx="2552700" cy="3143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D103827-4039-49F2-B02F-79B83A34620D}"/>
              </a:ext>
            </a:extLst>
          </p:cNvPr>
          <p:cNvSpPr txBox="1"/>
          <p:nvPr/>
        </p:nvSpPr>
        <p:spPr>
          <a:xfrm>
            <a:off x="9220200" y="1752600"/>
            <a:ext cx="2152650" cy="2762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0F4C81"/>
                </a:solidFill>
              </a:rPr>
              <a:t>10 Mbps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4213D"/>
                </a:solidFill>
              </a:rPr>
              <a:t>Session AMBR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5B6575"/>
                </a:solidFill>
              </a:rPr>
              <a:t>上下行各 10 Mbps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9ECAA7C0-1264-4CF2-9360-587A550AD4B0}"/>
              </a:ext>
            </a:extLst>
          </p:cNvPr>
          <p:cNvSpPr/>
          <p:nvPr/>
        </p:nvSpPr>
        <p:spPr>
          <a:xfrm>
            <a:off x="666750" y="4953000"/>
            <a:ext cx="10858500" cy="104775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l"/>
            <a:r>
              <a:rPr sz="1700">
                <a:solidFill>
                  <a:srgbClr val="FFFFFF"/>
                </a:solidFill>
              </a:rPr>
              <a:t>   SIP 信令一開始就走 5QI 5 的預設 QoS flow；</a:t>
            </a:r>
            <a:r>
              <a:rPr sz="1700" b="1">
                <a:solidFill>
                  <a:srgbClr val="E8742A"/>
                </a:solidFill>
              </a:rPr>
              <a:t>語音的 5QI 1</a:t>
            </a:r>
            <a:r>
              <a:rPr sz="1700">
                <a:solidFill>
                  <a:srgbClr val="FFFFFF"/>
                </a:solidFill>
              </a:rPr>
              <a:t> 由 ⑤ 在通話接通時才加上。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3C7D360-F19E-41F9-9BA8-02A14CFAF1CD}"/>
              </a:ext>
            </a:extLst>
          </p:cNvPr>
          <p:cNvSpPr txBox="1"/>
          <p:nvPr/>
        </p:nvSpPr>
        <p:spPr>
          <a:xfrm>
            <a:off x="666750" y="381000"/>
            <a:ext cx="10858500" cy="571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400" b="1">
                <a:solidFill>
                  <a:srgbClr val="14213D"/>
                </a:solidFill>
              </a:rPr>
              <a:t>③ P-CSCF discovery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A37DEBC-AA3E-47B1-A329-1457C384046C}"/>
              </a:ext>
            </a:extLst>
          </p:cNvPr>
          <p:cNvSpPr txBox="1"/>
          <p:nvPr/>
        </p:nvSpPr>
        <p:spPr>
          <a:xfrm>
            <a:off x="666750" y="990600"/>
            <a:ext cx="10858500" cy="285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>
                <a:solidFill>
                  <a:srgbClr val="5B6575"/>
                </a:solidFill>
              </a:rPr>
              <a:t>UE 不寫死 P-CSCF，由 5GC 在建 PDU session 時告訴它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AF2F11CC-F9D3-451E-8B6A-88D43714BD74}"/>
              </a:ext>
            </a:extLst>
          </p:cNvPr>
          <p:cNvSpPr/>
          <p:nvPr/>
        </p:nvSpPr>
        <p:spPr>
          <a:xfrm>
            <a:off x="1619250" y="1933575"/>
            <a:ext cx="8953500" cy="38100"/>
          </a:xfrm>
          <a:prstGeom prst="rect">
            <a:avLst/>
          </a:prstGeom>
          <a:solidFill>
            <a:srgbClr val="D5DA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BCB6D3F8-9BCE-4DF3-BC7A-54F490AF3E1C}"/>
              </a:ext>
            </a:extLst>
          </p:cNvPr>
          <p:cNvSpPr/>
          <p:nvPr/>
        </p:nvSpPr>
        <p:spPr>
          <a:xfrm>
            <a:off x="1733550" y="1685925"/>
            <a:ext cx="533400" cy="533400"/>
          </a:xfrm>
          <a:prstGeom prst="ellipse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047CF458-3A97-4CF5-BD59-F92377378EDA}"/>
              </a:ext>
            </a:extLst>
          </p:cNvPr>
          <p:cNvSpPr/>
          <p:nvPr/>
        </p:nvSpPr>
        <p:spPr>
          <a:xfrm>
            <a:off x="666750" y="2476500"/>
            <a:ext cx="2571750" cy="247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1517152-5B05-4CBD-B00C-B97A6F8CB19B}"/>
              </a:ext>
            </a:extLst>
          </p:cNvPr>
          <p:cNvSpPr txBox="1"/>
          <p:nvPr/>
        </p:nvSpPr>
        <p:spPr>
          <a:xfrm>
            <a:off x="857250" y="2667000"/>
            <a:ext cx="2190750" cy="2190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F4C81"/>
                </a:solidFill>
              </a:rPr>
              <a:t>UE 要位址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4213D"/>
                </a:solidFill>
              </a:rPr>
              <a:t>PDU Session Establishment Request 的 ePCO 帶「P-CSCF IPv4 request」（free-ran-ue 靠 pcscf-discovery.patch 補上）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BD311F55-2811-488A-8EE6-E7AC99F168FA}"/>
              </a:ext>
            </a:extLst>
          </p:cNvPr>
          <p:cNvSpPr/>
          <p:nvPr/>
        </p:nvSpPr>
        <p:spPr>
          <a:xfrm>
            <a:off x="4495800" y="1685925"/>
            <a:ext cx="533400" cy="533400"/>
          </a:xfrm>
          <a:prstGeom prst="ellipse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C668C48D-46EB-4EEC-B1F0-B879A72078AE}"/>
              </a:ext>
            </a:extLst>
          </p:cNvPr>
          <p:cNvSpPr/>
          <p:nvPr/>
        </p:nvSpPr>
        <p:spPr>
          <a:xfrm>
            <a:off x="3429000" y="2476500"/>
            <a:ext cx="2571750" cy="247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04B89F-4952-4A9C-BAF1-45506676FED9}"/>
              </a:ext>
            </a:extLst>
          </p:cNvPr>
          <p:cNvSpPr txBox="1"/>
          <p:nvPr/>
        </p:nvSpPr>
        <p:spPr>
          <a:xfrm>
            <a:off x="3619500" y="2667000"/>
            <a:ext cx="2190750" cy="2190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F4C81"/>
                </a:solidFill>
              </a:rPr>
              <a:t>SMF 查設定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4213D"/>
                </a:solidFill>
              </a:rPr>
              <a:t>smfcfg.yaml 中 ims DNN 的 pcscf：10.100.100.10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6D08A928-7694-4C17-AD7C-671EF946F4B8}"/>
              </a:ext>
            </a:extLst>
          </p:cNvPr>
          <p:cNvSpPr/>
          <p:nvPr/>
        </p:nvSpPr>
        <p:spPr>
          <a:xfrm>
            <a:off x="7258050" y="1685925"/>
            <a:ext cx="533400" cy="533400"/>
          </a:xfrm>
          <a:prstGeom prst="ellipse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26320273-AF12-4C76-AF97-D52A9683D589}"/>
              </a:ext>
            </a:extLst>
          </p:cNvPr>
          <p:cNvSpPr/>
          <p:nvPr/>
        </p:nvSpPr>
        <p:spPr>
          <a:xfrm>
            <a:off x="6191250" y="2476500"/>
            <a:ext cx="2571750" cy="247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69ED731-9E5B-43B5-B411-51F9E9B683C7}"/>
              </a:ext>
            </a:extLst>
          </p:cNvPr>
          <p:cNvSpPr txBox="1"/>
          <p:nvPr/>
        </p:nvSpPr>
        <p:spPr>
          <a:xfrm>
            <a:off x="6381750" y="2667000"/>
            <a:ext cx="2190750" cy="2190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F4C81"/>
                </a:solidFill>
              </a:rPr>
              <a:t>PCO 回傳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4213D"/>
                </a:solidFill>
              </a:rPr>
              <a:t>PDU Session Establishment Accept 的 PCO（container 000Ch）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EA43F154-EF6C-479F-84B3-EF26FD46C052}"/>
              </a:ext>
            </a:extLst>
          </p:cNvPr>
          <p:cNvSpPr/>
          <p:nvPr/>
        </p:nvSpPr>
        <p:spPr>
          <a:xfrm>
            <a:off x="10020300" y="1685925"/>
            <a:ext cx="533400" cy="533400"/>
          </a:xfrm>
          <a:prstGeom prst="ellipse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DF5901CA-DB36-4FED-B908-201DC6CA8FF6}"/>
              </a:ext>
            </a:extLst>
          </p:cNvPr>
          <p:cNvSpPr/>
          <p:nvPr/>
        </p:nvSpPr>
        <p:spPr>
          <a:xfrm>
            <a:off x="8953500" y="2476500"/>
            <a:ext cx="2571750" cy="24765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677C00F-D305-4FED-B833-4876E50B5A45}"/>
              </a:ext>
            </a:extLst>
          </p:cNvPr>
          <p:cNvSpPr txBox="1"/>
          <p:nvPr/>
        </p:nvSpPr>
        <p:spPr>
          <a:xfrm>
            <a:off x="9144000" y="2667000"/>
            <a:ext cx="2190750" cy="2190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E8742A"/>
                </a:solidFill>
              </a:rPr>
              <a:t>UE 開始 SIP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4213D"/>
                </a:solidFill>
              </a:rPr>
              <a:t>把這個位址當 SIP outbound proxy，送出 REGISTER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74475CB-668F-4A0F-890E-0422DE57A7BC}"/>
              </a:ext>
            </a:extLst>
          </p:cNvPr>
          <p:cNvSpPr txBox="1"/>
          <p:nvPr/>
        </p:nvSpPr>
        <p:spPr>
          <a:xfrm>
            <a:off x="666750" y="5334000"/>
            <a:ext cx="10858500" cy="571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500" b="1">
                <a:solidFill>
                  <a:srgbClr val="E8742A"/>
                </a:solidFill>
              </a:rPr>
              <a:t>檢查方式：</a:t>
            </a:r>
            <a:r>
              <a:rPr sz="1500">
                <a:solidFill>
                  <a:srgbClr val="14213D"/>
                </a:solidFill>
              </a:rPr>
              <a:t>03-call-test.sh 會先確認 UE 設定檔裡沒有寫 P-CSCF，否則拒絕執行；確保位址真的是從網路學來的。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D21C41F1-8EF5-4BFD-AC48-DD9D63D40DD4}"/>
              </a:ext>
            </a:extLst>
          </p:cNvPr>
          <p:cNvSpPr txBox="1"/>
          <p:nvPr/>
        </p:nvSpPr>
        <p:spPr>
          <a:xfrm>
            <a:off x="666750" y="381000"/>
            <a:ext cx="10858500" cy="571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400" b="1">
                <a:solidFill>
                  <a:srgbClr val="14213D"/>
                </a:solidFill>
              </a:rPr>
              <a:t>④ 用戶身分與金鑰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774E7A2-EE9A-442C-A55F-A807F52AFD9A}"/>
              </a:ext>
            </a:extLst>
          </p:cNvPr>
          <p:cNvSpPr txBox="1"/>
          <p:nvPr/>
        </p:nvSpPr>
        <p:spPr>
          <a:xfrm>
            <a:off x="666750" y="990600"/>
            <a:ext cx="10858500" cy="285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>
                <a:solidFill>
                  <a:srgbClr val="5B6575"/>
                </a:solidFill>
              </a:rPr>
              <a:t>兩邊各有一份用戶資料、沒有介面；一致性靠開戶腳本從同一個 IMSI 推導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2E0EB705-E335-481F-939E-CD53F7ABF263}"/>
              </a:ext>
            </a:extLst>
          </p:cNvPr>
          <p:cNvSpPr/>
          <p:nvPr/>
        </p:nvSpPr>
        <p:spPr>
          <a:xfrm>
            <a:off x="666750" y="1524000"/>
            <a:ext cx="3429000" cy="40005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0E83DC91-9FFC-4528-86DE-3C6D44E67E71}"/>
              </a:ext>
            </a:extLst>
          </p:cNvPr>
          <p:cNvSpPr/>
          <p:nvPr/>
        </p:nvSpPr>
        <p:spPr>
          <a:xfrm>
            <a:off x="4381500" y="1524000"/>
            <a:ext cx="3429000" cy="40005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71109567-E7C1-4DE6-A424-EA86D063F62A}"/>
              </a:ext>
            </a:extLst>
          </p:cNvPr>
          <p:cNvSpPr/>
          <p:nvPr/>
        </p:nvSpPr>
        <p:spPr>
          <a:xfrm>
            <a:off x="8096250" y="1524000"/>
            <a:ext cx="3429000" cy="400050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555EF9B-4167-44F3-A6E7-4D6BDC3F2456}"/>
              </a:ext>
            </a:extLst>
          </p:cNvPr>
          <p:cNvSpPr txBox="1"/>
          <p:nvPr/>
        </p:nvSpPr>
        <p:spPr>
          <a:xfrm>
            <a:off x="914400" y="1733550"/>
            <a:ext cx="2952750" cy="3619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F4C81"/>
                </a:solidFill>
              </a:rPr>
              <a:t>5GC：UDR</a:t>
            </a:r>
          </a:p>
          <a:p>
            <a:r>
              <a:rPr sz="1500">
                <a:solidFill>
                  <a:srgbClr val="5B6575"/>
                </a:solidFill>
              </a:rPr>
              <a:t>SUPI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213D"/>
                </a:solidFill>
              </a:rPr>
              <a:t>imsi-208930000000001</a:t>
            </a:r>
          </a:p>
          <a:p>
            <a:r>
              <a:rPr sz="1500">
                <a:solidFill>
                  <a:srgbClr val="5B6575"/>
                </a:solidFill>
              </a:rPr>
              <a:t>開戶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213D"/>
                </a:solidFill>
              </a:rPr>
              <a:t>02-add-subscribers.sh</a:t>
            </a:r>
          </a:p>
          <a:p>
            <a:r>
              <a:rPr sz="1500">
                <a:solidFill>
                  <a:srgbClr val="5B6575"/>
                </a:solidFill>
              </a:rPr>
              <a:t>認證</a:t>
            </a:r>
          </a:p>
          <a:p>
            <a:r>
              <a:rPr sz="1500" b="1">
                <a:solidFill>
                  <a:srgbClr val="14213D"/>
                </a:solidFill>
              </a:rPr>
              <a:t>5G-AKA（AUSF／UDM）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5673D7E-D53C-46BD-A107-9530D1447497}"/>
              </a:ext>
            </a:extLst>
          </p:cNvPr>
          <p:cNvSpPr txBox="1"/>
          <p:nvPr/>
        </p:nvSpPr>
        <p:spPr>
          <a:xfrm>
            <a:off x="4629150" y="1733550"/>
            <a:ext cx="2952750" cy="3619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E8742A"/>
                </a:solidFill>
              </a:rPr>
              <a:t>IMS：PyHSS</a:t>
            </a:r>
          </a:p>
          <a:p>
            <a:r>
              <a:rPr sz="1500">
                <a:solidFill>
                  <a:srgbClr val="5B6575"/>
                </a:solidFill>
              </a:rPr>
              <a:t>IMPI／IMPU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14213D"/>
                </a:solidFill>
              </a:rPr>
              <a:t>208930000000001@ims.mnc093.mcc208.3gppnetwork.org</a:t>
            </a:r>
          </a:p>
          <a:p>
            <a:r>
              <a:rPr sz="1500">
                <a:solidFill>
                  <a:srgbClr val="5B6575"/>
                </a:solidFill>
              </a:rPr>
              <a:t>開戶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213D"/>
                </a:solidFill>
              </a:rPr>
              <a:t>04-add-ims-subscribers.sh</a:t>
            </a:r>
          </a:p>
          <a:p>
            <a:r>
              <a:rPr sz="1500">
                <a:solidFill>
                  <a:srgbClr val="5B6575"/>
                </a:solidFill>
              </a:rPr>
              <a:t>認證</a:t>
            </a:r>
          </a:p>
          <a:p>
            <a:r>
              <a:rPr sz="1500" b="1">
                <a:solidFill>
                  <a:srgbClr val="14213D"/>
                </a:solidFill>
              </a:rPr>
              <a:t>IMS AKA（S-CSCF）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143DC4C-2C8C-4AA5-B909-AF301CD62187}"/>
              </a:ext>
            </a:extLst>
          </p:cNvPr>
          <p:cNvSpPr txBox="1"/>
          <p:nvPr/>
        </p:nvSpPr>
        <p:spPr>
          <a:xfrm>
            <a:off x="8343900" y="1733550"/>
            <a:ext cx="2952750" cy="3619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FFFFFF"/>
                </a:solidFill>
              </a:rPr>
              <a:t>金鑰：同一個 OP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C9D3E0"/>
                </a:solidFill>
              </a:rPr>
              <a:t>lib-keys.sh 推導 OPc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>
                <a:solidFill>
                  <a:srgbClr val="FFFFFF"/>
                </a:solidFill>
              </a:rPr>
              <a:t>UDR、free-ran-ue、PyHSS：OPc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>
                <a:solidFill>
                  <a:srgbClr val="FFFFFF"/>
                </a:solidFill>
              </a:rPr>
              <a:t>SIPp：OP（自己算 OPc）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>
                <a:solidFill>
                  <a:srgbClr val="FFFFFF"/>
                </a:solidFill>
              </a:rPr>
              <a:t>SQN 兩邊各自計數，都從 0x23 開始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1F35D9-3111-41C5-9B14-C1C9446C60EE}"/>
              </a:ext>
            </a:extLst>
          </p:cNvPr>
          <p:cNvSpPr txBox="1"/>
          <p:nvPr/>
        </p:nvSpPr>
        <p:spPr>
          <a:xfrm>
            <a:off x="666750" y="5753100"/>
            <a:ext cx="10858500" cy="4762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500" b="1">
                <a:solidFill>
                  <a:srgbClr val="E8742A"/>
                </a:solidFill>
              </a:rPr>
              <a:t>結果：</a:t>
            </a:r>
            <a:r>
              <a:rPr sz="1500">
                <a:solidFill>
                  <a:srgbClr val="14213D"/>
                </a:solidFill>
              </a:rPr>
              <a:t>過了 5G 認證，還要再過一次 IMS 認證；兩份資料對不上時，錯誤會在很後面才以 AUTN MAC 失敗出現。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8AB445A-F83F-46BB-9FBB-EB115B907AF7}"/>
              </a:ext>
            </a:extLst>
          </p:cNvPr>
          <p:cNvSpPr txBox="1"/>
          <p:nvPr/>
        </p:nvSpPr>
        <p:spPr>
          <a:xfrm>
            <a:off x="476250" y="533400"/>
            <a:ext cx="3810000" cy="571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200" b="1">
                <a:solidFill>
                  <a:srgbClr val="14213D"/>
                </a:solidFill>
              </a:rPr>
              <a:t>⑤ Policy／QoS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85C33F1-88A5-4DBE-8541-4FB7D7CD9287}"/>
              </a:ext>
            </a:extLst>
          </p:cNvPr>
          <p:cNvSpPr txBox="1"/>
          <p:nvPr/>
        </p:nvSpPr>
        <p:spPr>
          <a:xfrm>
            <a:off x="476250" y="1333500"/>
            <a:ext cx="3810000" cy="49530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 b="1">
                <a:solidFill>
                  <a:srgbClr val="E8742A"/>
                </a:solidFill>
              </a:rPr>
              <a:t>觸發點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4213D"/>
                </a:solidFill>
              </a:rPr>
              <a:t>200 OK：offer 與 answer 都確定，才知道 RTP 的 IP 與 port</a:t>
            </a:r>
          </a:p>
          <a:p>
            <a:r>
              <a:rPr sz="1600" b="1">
                <a:solidFill>
                  <a:srgbClr val="E8742A"/>
                </a:solidFill>
              </a:rPr>
              <a:t>一通電話預留兩次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4213D"/>
                </a:solidFill>
              </a:rPr>
              <a:t>主叫、被叫各有自己的 PDU session，P-CSCF 兩端各送一次</a:t>
            </a:r>
          </a:p>
          <a:p>
            <a:r>
              <a:rPr sz="1600" b="1">
                <a:solidFill>
                  <a:srgbClr val="E8742A"/>
                </a:solidFill>
              </a:rPr>
              <a:t>掛斷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4213D"/>
                </a:solidFill>
              </a:rPr>
              <a:t>BYE → /call/delete → 刪除 app session → UPF 移除規則</a:t>
            </a:r>
          </a:p>
          <a:p>
            <a:r>
              <a:rPr sz="1600" b="1">
                <a:solidFill>
                  <a:srgbClr val="E8742A"/>
                </a:solidFill>
              </a:rPr>
              <a:t>結果</a:t>
            </a:r>
          </a:p>
          <a:p>
            <a:r>
              <a:rPr sz="1500">
                <a:solidFill>
                  <a:srgbClr val="14213D"/>
                </a:solidFill>
              </a:rPr>
              <a:t>語音 flow 從 5QI 5 升到 5QI 1（GBR）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42DC1791-163C-4190-847C-12A8E397A044}"/>
              </a:ext>
            </a:extLst>
          </p:cNvPr>
          <p:cNvSpPr/>
          <p:nvPr/>
        </p:nvSpPr>
        <p:spPr>
          <a:xfrm>
            <a:off x="4572000" y="666750"/>
            <a:ext cx="1809750" cy="76200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P-CSCF</a:t>
            </a:r>
          </a:p>
          <a:p>
            <a:pPr algn="ctr"/>
            <a:r>
              <a:rPr sz="1200">
                <a:solidFill>
                  <a:srgbClr val="C9D3E0"/>
                </a:solidFill>
              </a:rPr>
              <a:t>Kamailio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E99D859-EA47-4B9A-B291-B87A07C46379}"/>
              </a:ext>
            </a:extLst>
          </p:cNvPr>
          <p:cNvSpPr txBox="1"/>
          <p:nvPr/>
        </p:nvSpPr>
        <p:spPr>
          <a:xfrm>
            <a:off x="6667500" y="838200"/>
            <a:ext cx="4857750" cy="4762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500">
                <a:solidFill>
                  <a:srgbClr val="14213D"/>
                </a:solidFill>
              </a:rPr>
              <a:t>200 OK 時，帶 offer、answer 兩份 SDP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0EA81764-4D79-47B9-A6A1-3166910B6B3C}"/>
              </a:ext>
            </a:extLst>
          </p:cNvPr>
          <p:cNvSpPr/>
          <p:nvPr/>
        </p:nvSpPr>
        <p:spPr>
          <a:xfrm>
            <a:off x="5362575" y="1447800"/>
            <a:ext cx="228600" cy="361950"/>
          </a:xfrm>
          <a:prstGeom prst="downArrow">
            <a:avLst/>
          </a:prstGeom>
          <a:solidFill>
            <a:srgbClr val="5B657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A08816F0-D648-48C4-9B7B-D9D83881AF1F}"/>
              </a:ext>
            </a:extLst>
          </p:cNvPr>
          <p:cNvSpPr/>
          <p:nvPr/>
        </p:nvSpPr>
        <p:spPr>
          <a:xfrm>
            <a:off x="4572000" y="1828800"/>
            <a:ext cx="1809750" cy="76200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AF shim</a:t>
            </a:r>
          </a:p>
          <a:p>
            <a:pPr algn="ctr"/>
            <a:r>
              <a:rPr sz="1200">
                <a:solidFill>
                  <a:srgbClr val="C9D3E0"/>
                </a:solidFill>
              </a:rPr>
              <a:t>af/main.go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D0ABAA8-07D9-4DEC-91EF-667A881C01BE}"/>
              </a:ext>
            </a:extLst>
          </p:cNvPr>
          <p:cNvSpPr txBox="1"/>
          <p:nvPr/>
        </p:nvSpPr>
        <p:spPr>
          <a:xfrm>
            <a:off x="6667500" y="2000250"/>
            <a:ext cx="4857750" cy="4762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500">
                <a:solidFill>
                  <a:srgbClr val="14213D"/>
                </a:solidFill>
              </a:rPr>
              <a:t>HTTP POST /call → 解析 SDP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55ADF349-0714-4034-9D62-23927463F6F7}"/>
              </a:ext>
            </a:extLst>
          </p:cNvPr>
          <p:cNvSpPr/>
          <p:nvPr/>
        </p:nvSpPr>
        <p:spPr>
          <a:xfrm>
            <a:off x="5362575" y="2609850"/>
            <a:ext cx="228600" cy="361950"/>
          </a:xfrm>
          <a:prstGeom prst="downArrow">
            <a:avLst/>
          </a:prstGeom>
          <a:solidFill>
            <a:srgbClr val="5B657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2649E016-FFE1-4CE2-A797-91121BFC7C6F}"/>
              </a:ext>
            </a:extLst>
          </p:cNvPr>
          <p:cNvSpPr/>
          <p:nvPr/>
        </p:nvSpPr>
        <p:spPr>
          <a:xfrm>
            <a:off x="4572000" y="2990850"/>
            <a:ext cx="1809750" cy="762000"/>
          </a:xfrm>
          <a:prstGeom prst="roundRect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PCF</a:t>
            </a:r>
          </a:p>
          <a:p>
            <a:pPr algn="ctr"/>
            <a:r>
              <a:rPr sz="1200">
                <a:solidFill>
                  <a:srgbClr val="C9D3E0"/>
                </a:solidFill>
              </a:rPr>
              <a:t>free5gc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46AA1CB-C08D-49CE-B4F8-3CDCDC5F2174}"/>
              </a:ext>
            </a:extLst>
          </p:cNvPr>
          <p:cNvSpPr txBox="1"/>
          <p:nvPr/>
        </p:nvSpPr>
        <p:spPr>
          <a:xfrm>
            <a:off x="6667500" y="3162300"/>
            <a:ext cx="4857750" cy="4762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500">
                <a:solidFill>
                  <a:srgbClr val="14213D"/>
                </a:solidFill>
              </a:rPr>
              <a:t>h2c POST /npcf-policyauthorization/v1/app-sessions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ABECF5C1-F17D-45A2-AFE8-7141ABAF30A2}"/>
              </a:ext>
            </a:extLst>
          </p:cNvPr>
          <p:cNvSpPr/>
          <p:nvPr/>
        </p:nvSpPr>
        <p:spPr>
          <a:xfrm>
            <a:off x="5362575" y="3771900"/>
            <a:ext cx="228600" cy="361950"/>
          </a:xfrm>
          <a:prstGeom prst="downArrow">
            <a:avLst/>
          </a:prstGeom>
          <a:solidFill>
            <a:srgbClr val="5B657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FF13E8CC-CADA-418D-8644-56E4665D0457}"/>
              </a:ext>
            </a:extLst>
          </p:cNvPr>
          <p:cNvSpPr/>
          <p:nvPr/>
        </p:nvSpPr>
        <p:spPr>
          <a:xfrm>
            <a:off x="4572000" y="4152900"/>
            <a:ext cx="1809750" cy="762000"/>
          </a:xfrm>
          <a:prstGeom prst="roundRect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SMF</a:t>
            </a:r>
          </a:p>
          <a:p>
            <a:pPr algn="ctr"/>
            <a:r>
              <a:rPr sz="1200">
                <a:solidFill>
                  <a:srgbClr val="C9D3E0"/>
                </a:solidFill>
              </a:rPr>
              <a:t>free5gc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663D73C-1080-45BA-86FB-7C6B72E062B3}"/>
              </a:ext>
            </a:extLst>
          </p:cNvPr>
          <p:cNvSpPr txBox="1"/>
          <p:nvPr/>
        </p:nvSpPr>
        <p:spPr>
          <a:xfrm>
            <a:off x="6667500" y="4324350"/>
            <a:ext cx="4857750" cy="4762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500">
                <a:solidFill>
                  <a:srgbClr val="14213D"/>
                </a:solidFill>
              </a:rPr>
              <a:t>N7：SM Policy Update Notify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E54B21B3-25EA-4E2F-B481-2FC279DBD4D1}"/>
              </a:ext>
            </a:extLst>
          </p:cNvPr>
          <p:cNvSpPr/>
          <p:nvPr/>
        </p:nvSpPr>
        <p:spPr>
          <a:xfrm>
            <a:off x="5362575" y="4933950"/>
            <a:ext cx="228600" cy="361950"/>
          </a:xfrm>
          <a:prstGeom prst="downArrow">
            <a:avLst/>
          </a:prstGeom>
          <a:solidFill>
            <a:srgbClr val="5B657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CFE19411-2F57-4E5A-A04C-2421362BADBE}"/>
              </a:ext>
            </a:extLst>
          </p:cNvPr>
          <p:cNvSpPr/>
          <p:nvPr/>
        </p:nvSpPr>
        <p:spPr>
          <a:xfrm>
            <a:off x="4572000" y="5314950"/>
            <a:ext cx="1809750" cy="76200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UPF</a:t>
            </a:r>
          </a:p>
          <a:p>
            <a:pPr algn="ctr"/>
            <a:r>
              <a:rPr sz="1200">
                <a:solidFill>
                  <a:srgbClr val="C9D3E0"/>
                </a:solidFill>
              </a:rPr>
              <a:t>gtp5g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B59C330-6159-4773-A314-2382A3BB3B26}"/>
              </a:ext>
            </a:extLst>
          </p:cNvPr>
          <p:cNvSpPr txBox="1"/>
          <p:nvPr/>
        </p:nvSpPr>
        <p:spPr>
          <a:xfrm>
            <a:off x="6667500" y="5486400"/>
            <a:ext cx="4857750" cy="4762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500">
                <a:solidFill>
                  <a:srgbClr val="14213D"/>
                </a:solidFill>
              </a:rPr>
              <a:t>N4：PFCP 裝上 PDR + QER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C4F8E9F-8AB2-4055-B5D1-CDA122E1C0E9}"/>
              </a:ext>
            </a:extLst>
          </p:cNvPr>
          <p:cNvSpPr txBox="1"/>
          <p:nvPr/>
        </p:nvSpPr>
        <p:spPr>
          <a:xfrm>
            <a:off x="666750" y="381000"/>
            <a:ext cx="10858500" cy="571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400" b="1">
                <a:solidFill>
                  <a:srgbClr val="14213D"/>
                </a:solidFill>
              </a:rPr>
              <a:t>AF shim 送給 PCF 的內容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5F6F5C4-C4AB-4FA1-AAD4-E329F7598335}"/>
              </a:ext>
            </a:extLst>
          </p:cNvPr>
          <p:cNvSpPr txBox="1"/>
          <p:nvPr/>
        </p:nvSpPr>
        <p:spPr>
          <a:xfrm>
            <a:off x="666750" y="990600"/>
            <a:ext cx="10858500" cy="285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>
                <a:solidFill>
                  <a:srgbClr val="5B6575"/>
                </a:solidFill>
              </a:rPr>
              <a:t>N5 的 AppSessionContext（af/main.go buildContext）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C86100A9-F846-46E3-8BA1-42EF968FD13B}"/>
              </a:ext>
            </a:extLst>
          </p:cNvPr>
          <p:cNvSpPr/>
          <p:nvPr/>
        </p:nvSpPr>
        <p:spPr>
          <a:xfrm>
            <a:off x="666750" y="1428750"/>
            <a:ext cx="5334000" cy="2095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003D556-953D-41BE-A80B-6E5402DF971A}"/>
              </a:ext>
            </a:extLst>
          </p:cNvPr>
          <p:cNvSpPr txBox="1"/>
          <p:nvPr/>
        </p:nvSpPr>
        <p:spPr>
          <a:xfrm>
            <a:off x="914400" y="1619250"/>
            <a:ext cx="4857750" cy="1809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F4C81"/>
                </a:solidFill>
              </a:rPr>
              <a:t>session binding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supi：imsi-…（一定要帶）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ueIpv4：PDU session 的位址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dnn：ims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F6260981-B85F-4E85-BE8F-06B70DC63C28}"/>
              </a:ext>
            </a:extLst>
          </p:cNvPr>
          <p:cNvSpPr/>
          <p:nvPr/>
        </p:nvSpPr>
        <p:spPr>
          <a:xfrm>
            <a:off x="6191250" y="1428750"/>
            <a:ext cx="5334000" cy="2095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26F4F1-FFB4-4655-A665-CB7C22E86923}"/>
              </a:ext>
            </a:extLst>
          </p:cNvPr>
          <p:cNvSpPr txBox="1"/>
          <p:nvPr/>
        </p:nvSpPr>
        <p:spPr>
          <a:xfrm>
            <a:off x="6438900" y="1619250"/>
            <a:ext cx="4857750" cy="1809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E8742A"/>
                </a:solidFill>
              </a:rPr>
              <a:t>媒體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medType：AUDIO → 5QI 1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fDescs：permit out／in 17 from &lt;peer&gt; to &lt;ue&gt;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marBwUl／Dl、codecs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EE3CD0A5-524E-4170-AC97-514ECF75A3E5}"/>
              </a:ext>
            </a:extLst>
          </p:cNvPr>
          <p:cNvSpPr/>
          <p:nvPr/>
        </p:nvSpPr>
        <p:spPr>
          <a:xfrm>
            <a:off x="666750" y="3714750"/>
            <a:ext cx="5334000" cy="2095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0D4532B-E23D-4F97-85AA-7E29615CD045}"/>
              </a:ext>
            </a:extLst>
          </p:cNvPr>
          <p:cNvSpPr txBox="1"/>
          <p:nvPr/>
        </p:nvSpPr>
        <p:spPr>
          <a:xfrm>
            <a:off x="914400" y="3905250"/>
            <a:ext cx="4857750" cy="1809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F4C81"/>
                </a:solidFill>
              </a:rPr>
              <a:t>控制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afAppId：IMS-voice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notifUri：http://af:8090/notify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suppFeat："0"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2D648E84-3929-4F44-AB0B-0FB1963DD933}"/>
              </a:ext>
            </a:extLst>
          </p:cNvPr>
          <p:cNvSpPr/>
          <p:nvPr/>
        </p:nvSpPr>
        <p:spPr>
          <a:xfrm>
            <a:off x="6191250" y="3714750"/>
            <a:ext cx="5334000" cy="2095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648A5EF-4B73-45D1-98A2-0F887C6D1A71}"/>
              </a:ext>
            </a:extLst>
          </p:cNvPr>
          <p:cNvSpPr txBox="1"/>
          <p:nvPr/>
        </p:nvSpPr>
        <p:spPr>
          <a:xfrm>
            <a:off x="6438900" y="3905250"/>
            <a:ext cx="4857750" cy="1809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E8742A"/>
                </a:solidFill>
              </a:rPr>
              <a:t>生命週期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/call → POST app-sessions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/call/delete → 刪除 app session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啟動時向 NRF 註冊為 AF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6474D51-86AA-41D7-8464-5A5F5C547FB6}"/>
              </a:ext>
            </a:extLst>
          </p:cNvPr>
          <p:cNvSpPr txBox="1"/>
          <p:nvPr/>
        </p:nvSpPr>
        <p:spPr>
          <a:xfrm>
            <a:off x="666750" y="381000"/>
            <a:ext cx="10858500" cy="571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400" b="1">
                <a:solidFill>
                  <a:srgbClr val="14213D"/>
                </a:solidFill>
              </a:rPr>
              <a:t>對接時踩到的細節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AD123940-138A-486C-B044-06866EB4999B}"/>
              </a:ext>
            </a:extLst>
          </p:cNvPr>
          <p:cNvSpPr/>
          <p:nvPr/>
        </p:nvSpPr>
        <p:spPr>
          <a:xfrm>
            <a:off x="666750" y="1333500"/>
            <a:ext cx="2028825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A15513C-BD92-40AA-AEC6-27DED4E561FD}"/>
              </a:ext>
            </a:extLst>
          </p:cNvPr>
          <p:cNvSpPr txBox="1"/>
          <p:nvPr/>
        </p:nvSpPr>
        <p:spPr>
          <a:xfrm>
            <a:off x="838200" y="1524000"/>
            <a:ext cx="1685925" cy="3524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E8742A"/>
                </a:solidFill>
              </a:rPr>
              <a:t>01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4213D"/>
                </a:solidFill>
              </a:rPr>
              <a:t>一定要帶 supi</a:t>
            </a:r>
          </a:p>
          <a:p>
            <a:pPr>
              <a:lnSpc>
                <a:spcPct val="125000"/>
              </a:lnSpc>
            </a:pPr>
            <a:r>
              <a:rPr sz="1700">
                <a:solidFill>
                  <a:srgbClr val="5B6575"/>
                </a:solidFill>
              </a:rPr>
              <a:t>沒帶時 PCF 掃所有 UE 找 IP，迴圈不會停，多 UE 時可能綁錯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5B9663D5-EB62-4891-9985-27407F81A5F1}"/>
              </a:ext>
            </a:extLst>
          </p:cNvPr>
          <p:cNvSpPr/>
          <p:nvPr/>
        </p:nvSpPr>
        <p:spPr>
          <a:xfrm>
            <a:off x="2886075" y="1333500"/>
            <a:ext cx="2028825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24D919E-BB43-4DBD-B0A6-71D58D051E9C}"/>
              </a:ext>
            </a:extLst>
          </p:cNvPr>
          <p:cNvSpPr txBox="1"/>
          <p:nvPr/>
        </p:nvSpPr>
        <p:spPr>
          <a:xfrm>
            <a:off x="3057525" y="1524000"/>
            <a:ext cx="1685925" cy="3524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E8742A"/>
                </a:solidFill>
              </a:rPr>
              <a:t>02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4213D"/>
                </a:solidFill>
              </a:rPr>
              <a:t>不能用 permit inout</a:t>
            </a:r>
          </a:p>
          <a:p>
            <a:pPr>
              <a:lnSpc>
                <a:spcPct val="125000"/>
              </a:lnSpc>
            </a:pPr>
            <a:r>
              <a:rPr sz="1700">
                <a:solidFill>
                  <a:srgbClr val="5B6575"/>
                </a:solidFill>
              </a:rPr>
              <a:t>PCF 先比對 permit in，inout 會變成只有上行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CBC1D815-CC79-4BB1-813C-7AEF76171033}"/>
              </a:ext>
            </a:extLst>
          </p:cNvPr>
          <p:cNvSpPr/>
          <p:nvPr/>
        </p:nvSpPr>
        <p:spPr>
          <a:xfrm>
            <a:off x="5105400" y="1333500"/>
            <a:ext cx="2028825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27C879D-97B6-4048-A694-A07EF9F6F0BD}"/>
              </a:ext>
            </a:extLst>
          </p:cNvPr>
          <p:cNvSpPr txBox="1"/>
          <p:nvPr/>
        </p:nvSpPr>
        <p:spPr>
          <a:xfrm>
            <a:off x="5276850" y="1524000"/>
            <a:ext cx="1685925" cy="3524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E8742A"/>
                </a:solidFill>
              </a:rPr>
              <a:t>03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4213D"/>
                </a:solidFill>
              </a:rPr>
              <a:t>連 PCF 要用 h2c</a:t>
            </a:r>
          </a:p>
          <a:p>
            <a:pPr>
              <a:lnSpc>
                <a:spcPct val="125000"/>
              </a:lnSpc>
            </a:pPr>
            <a:r>
              <a:rPr sz="1700">
                <a:solidFill>
                  <a:srgbClr val="5B6575"/>
                </a:solidFill>
              </a:rPr>
              <a:t>free5gc SBI 只講不加密的 HTTP/2；Kamailio 的 http_client 做不到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2711A904-BA14-481D-A05D-8E6F75FAEDFE}"/>
              </a:ext>
            </a:extLst>
          </p:cNvPr>
          <p:cNvSpPr/>
          <p:nvPr/>
        </p:nvSpPr>
        <p:spPr>
          <a:xfrm>
            <a:off x="7324725" y="1333500"/>
            <a:ext cx="2028825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E6C7995-C5F9-4D1A-9C60-F3ADF7B27E9E}"/>
              </a:ext>
            </a:extLst>
          </p:cNvPr>
          <p:cNvSpPr txBox="1"/>
          <p:nvPr/>
        </p:nvSpPr>
        <p:spPr>
          <a:xfrm>
            <a:off x="7496175" y="1524000"/>
            <a:ext cx="1685925" cy="3524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E8742A"/>
                </a:solidFill>
              </a:rPr>
              <a:t>04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4213D"/>
                </a:solidFill>
              </a:rPr>
              <a:t>NRF OAuth 關閉</a:t>
            </a:r>
          </a:p>
          <a:p>
            <a:pPr>
              <a:lnSpc>
                <a:spcPct val="125000"/>
              </a:lnSpc>
            </a:pPr>
            <a:r>
              <a:rPr sz="1700">
                <a:solidFill>
                  <a:srgbClr val="5B6575"/>
                </a:solidFill>
              </a:rPr>
              <a:t>開啟時 PCF → SMF 的 token scope 對不上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EE421138-E44D-4F04-8DBD-E99A132F541E}"/>
              </a:ext>
            </a:extLst>
          </p:cNvPr>
          <p:cNvSpPr/>
          <p:nvPr/>
        </p:nvSpPr>
        <p:spPr>
          <a:xfrm>
            <a:off x="9544050" y="1333500"/>
            <a:ext cx="2028825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A0174F1-981D-42D4-AE94-A23774C7A1DA}"/>
              </a:ext>
            </a:extLst>
          </p:cNvPr>
          <p:cNvSpPr txBox="1"/>
          <p:nvPr/>
        </p:nvSpPr>
        <p:spPr>
          <a:xfrm>
            <a:off x="9715500" y="1524000"/>
            <a:ext cx="1685925" cy="3524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E8742A"/>
                </a:solidFill>
              </a:rPr>
              <a:t>05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4213D"/>
                </a:solidFill>
              </a:rPr>
              <a:t>AF ID 不能亂取</a:t>
            </a:r>
          </a:p>
          <a:p>
            <a:pPr>
              <a:lnSpc>
                <a:spcPct val="125000"/>
              </a:lnSpc>
            </a:pPr>
            <a:r>
              <a:rPr sz="1700">
                <a:solidFill>
                  <a:srgbClr val="5B6575"/>
                </a:solidFill>
              </a:rPr>
              <a:t>要和 free5gc 產生的 AF 憑證對上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5A78C674-5D27-4F73-AD4C-1D2A5ECAAD12}"/>
              </a:ext>
            </a:extLst>
          </p:cNvPr>
          <p:cNvSpPr/>
          <p:nvPr/>
        </p:nvSpPr>
        <p:spPr>
          <a:xfrm>
            <a:off x="666750" y="5391150"/>
            <a:ext cx="10858500" cy="76200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這些都寫在 af/main.go 與 docs/policy-and-qos.md 的註解裡；換實作時要一起帶走。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AF57328-F749-4E24-A52F-03DB712B0701}"/>
              </a:ext>
            </a:extLst>
          </p:cNvPr>
          <p:cNvSpPr txBox="1"/>
          <p:nvPr/>
        </p:nvSpPr>
        <p:spPr>
          <a:xfrm>
            <a:off x="666750" y="381000"/>
            <a:ext cx="10858500" cy="571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400" b="1">
                <a:solidFill>
                  <a:srgbClr val="14213D"/>
                </a:solidFill>
              </a:rPr>
              <a:t>怎麼證明真的接上了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FD51CBF-C255-4A00-95DB-3E7E3E3FCD97}"/>
              </a:ext>
            </a:extLst>
          </p:cNvPr>
          <p:cNvSpPr/>
          <p:nvPr/>
        </p:nvSpPr>
        <p:spPr>
          <a:xfrm>
            <a:off x="666750" y="1238250"/>
            <a:ext cx="5334000" cy="41910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84871157-08AC-429A-8761-68AE51D0EB98}"/>
              </a:ext>
            </a:extLst>
          </p:cNvPr>
          <p:cNvSpPr/>
          <p:nvPr/>
        </p:nvSpPr>
        <p:spPr>
          <a:xfrm>
            <a:off x="6191250" y="1238250"/>
            <a:ext cx="5334000" cy="41910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7274F17-974F-4E5A-A00E-D489FC714E3B}"/>
              </a:ext>
            </a:extLst>
          </p:cNvPr>
          <p:cNvSpPr txBox="1"/>
          <p:nvPr/>
        </p:nvSpPr>
        <p:spPr>
          <a:xfrm>
            <a:off x="914400" y="1447800"/>
            <a:ext cx="4857750" cy="38100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2200" b="1">
                <a:solidFill>
                  <a:srgbClr val="0F4C81"/>
                </a:solidFill>
              </a:rPr>
              <a:t>03-call-test.sh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5B6575"/>
                </a:solidFill>
              </a:rPr>
              <a:t>端到端：註冊、通話、媒體、QoS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INVITE 依序經過 P → I → S → P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UAR、MAR、SAR、LIR 四種 Cx 都有用到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通話中 UPF 上有語音的 PDR／QER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抓 N3 封包：SIP 與 RTP 確實在 GTP-U 裡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UE 的 P-CSCF 位址來自 PCO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D26EEFE-6CAD-4BB1-B1AF-0083E5C33925}"/>
              </a:ext>
            </a:extLst>
          </p:cNvPr>
          <p:cNvSpPr txBox="1"/>
          <p:nvPr/>
        </p:nvSpPr>
        <p:spPr>
          <a:xfrm>
            <a:off x="6438900" y="1447800"/>
            <a:ext cx="4857750" cy="38100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2200" b="1">
                <a:solidFill>
                  <a:srgbClr val="E8742A"/>
                </a:solidFill>
              </a:rPr>
              <a:t>05-n5-qos-test.sh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5B6575"/>
                </a:solidFill>
              </a:rPr>
              <a:t>只測 ⑤：不經 SIP，直接打 AF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每個方向一條 PDR，帶語音的 5-tuple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PDR 指向帶 GBR 的 QER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釋放後規則消失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這個過、03 不過 → 問題在 IMS；反之在 5GC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E7B7BCD-88A0-4A6D-B064-BA04EAA3F856}"/>
              </a:ext>
            </a:extLst>
          </p:cNvPr>
          <p:cNvSpPr txBox="1"/>
          <p:nvPr/>
        </p:nvSpPr>
        <p:spPr>
          <a:xfrm>
            <a:off x="666750" y="5676900"/>
            <a:ext cx="10858500" cy="4762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500" b="1">
                <a:solidFill>
                  <a:srgbClr val="E8742A"/>
                </a:solidFill>
              </a:rPr>
              <a:t>刻意不測：</a:t>
            </a:r>
            <a:r>
              <a:rPr sz="1500">
                <a:solidFill>
                  <a:srgbClr val="14213D"/>
                </a:solidFill>
              </a:rPr>
              <a:t>throughput。free5gc 不會真的限速，只能證明「規則裝上了」。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9E8D9B45-ABA2-4035-B4B7-F539C29A33C2}"/>
              </a:ext>
            </a:extLst>
          </p:cNvPr>
          <p:cNvSpPr/>
          <p:nvPr/>
        </p:nvSpPr>
        <p:spPr>
          <a:xfrm>
            <a:off x="8191500" y="0"/>
            <a:ext cx="4000500" cy="6858000"/>
          </a:xfrm>
          <a:prstGeom prst="rect">
            <a:avLst/>
          </a:prstGeom>
          <a:solidFill>
            <a:srgbClr val="0F4C8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1F10DDB-E009-4D8A-BA4E-B04584493AF2}"/>
              </a:ext>
            </a:extLst>
          </p:cNvPr>
          <p:cNvSpPr txBox="1"/>
          <p:nvPr/>
        </p:nvSpPr>
        <p:spPr>
          <a:xfrm>
            <a:off x="762000" y="762000"/>
            <a:ext cx="6667500" cy="8572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4600" b="1">
                <a:solidFill>
                  <a:srgbClr val="FFFFFF"/>
                </a:solidFill>
              </a:rPr>
              <a:t>改善方向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294D22A8-5C9E-4F39-802A-EC9302172DF5}"/>
              </a:ext>
            </a:extLst>
          </p:cNvPr>
          <p:cNvSpPr/>
          <p:nvPr/>
        </p:nvSpPr>
        <p:spPr>
          <a:xfrm>
            <a:off x="762000" y="2190750"/>
            <a:ext cx="533400" cy="533400"/>
          </a:xfrm>
          <a:prstGeom prst="ellipse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DB04776-602B-4E5B-8AA8-3342CBB8BECA}"/>
              </a:ext>
            </a:extLst>
          </p:cNvPr>
          <p:cNvSpPr txBox="1"/>
          <p:nvPr/>
        </p:nvSpPr>
        <p:spPr>
          <a:xfrm>
            <a:off x="1524000" y="2190750"/>
            <a:ext cx="6096000" cy="857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</a:rPr>
              <a:t>Rx／N5 Adapter 取代 shim</a:t>
            </a:r>
          </a:p>
          <a:p>
            <a:r>
              <a:rPr sz="1500">
                <a:solidFill>
                  <a:srgbClr val="C9D3E0"/>
                </a:solidFill>
              </a:rPr>
              <a:t>Kamailio 改用標準的 ims_qos，PCF 事件可以回到 IMS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EB39BF15-A8E9-4A24-87B9-C8A328C8A512}"/>
              </a:ext>
            </a:extLst>
          </p:cNvPr>
          <p:cNvSpPr/>
          <p:nvPr/>
        </p:nvSpPr>
        <p:spPr>
          <a:xfrm>
            <a:off x="762000" y="3429000"/>
            <a:ext cx="533400" cy="533400"/>
          </a:xfrm>
          <a:prstGeom prst="ellipse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AEA6241-39F8-48A9-A8E4-32D3BD016ACC}"/>
              </a:ext>
            </a:extLst>
          </p:cNvPr>
          <p:cNvSpPr txBox="1"/>
          <p:nvPr/>
        </p:nvSpPr>
        <p:spPr>
          <a:xfrm>
            <a:off x="1524000" y="3429000"/>
            <a:ext cx="6096000" cy="857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</a:rPr>
              <a:t>SMF 補 N1N2</a:t>
            </a:r>
          </a:p>
          <a:p>
            <a:r>
              <a:rPr sz="1500">
                <a:solidFill>
                  <a:srgbClr val="C9D3E0"/>
                </a:solidFill>
              </a:rPr>
              <a:t>語音 QoS flow 送到 gNB 與 UE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A8318523-B74A-4795-A1AC-DF72D2E37093}"/>
              </a:ext>
            </a:extLst>
          </p:cNvPr>
          <p:cNvSpPr/>
          <p:nvPr/>
        </p:nvSpPr>
        <p:spPr>
          <a:xfrm>
            <a:off x="762000" y="4667250"/>
            <a:ext cx="533400" cy="533400"/>
          </a:xfrm>
          <a:prstGeom prst="ellipse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1E00B04-F837-45FD-845B-6DB5ED5DDAFD}"/>
              </a:ext>
            </a:extLst>
          </p:cNvPr>
          <p:cNvSpPr txBox="1"/>
          <p:nvPr/>
        </p:nvSpPr>
        <p:spPr>
          <a:xfrm>
            <a:off x="1524000" y="4667250"/>
            <a:ext cx="6096000" cy="857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</a:rPr>
              <a:t>AMF imsVoPS 改 1</a:t>
            </a:r>
          </a:p>
          <a:p>
            <a:r>
              <a:rPr sz="1500">
                <a:solidFill>
                  <a:srgbClr val="C9D3E0"/>
                </a:solidFill>
              </a:rPr>
              <a:t>只改設定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0CE178E-9A28-420C-B61E-04A3CCC84B34}"/>
              </a:ext>
            </a:extLst>
          </p:cNvPr>
          <p:cNvSpPr txBox="1"/>
          <p:nvPr/>
        </p:nvSpPr>
        <p:spPr>
          <a:xfrm>
            <a:off x="8572500" y="762000"/>
            <a:ext cx="3238500" cy="5334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FFFFFF"/>
                </a:solidFill>
              </a:rPr>
              <a:t>文件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9D3E0"/>
                </a:solidFill>
              </a:rPr>
              <a:t>free5gc-kamailio-integration.md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9D3E0"/>
                </a:solidFill>
              </a:rPr>
              <a:t>vonr-ims-nf-plan.md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9D3E0"/>
                </a:solidFill>
              </a:rPr>
              <a:t>kamailio-free5gc/docs/</a:t>
            </a:r>
          </a:p>
          <a:p>
            <a:pPr>
              <a:spcBef>
                <a:spcPts val="1600"/>
              </a:spcBef>
              <a:spcAft>
                <a:spcPts val="1000"/>
              </a:spcAft>
            </a:pPr>
            <a:r>
              <a:rPr sz="2000" b="1">
                <a:solidFill>
                  <a:srgbClr val="FFFFFF"/>
                </a:solidFill>
              </a:rPr>
              <a:t>規格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9D3E0"/>
                </a:solidFill>
              </a:rPr>
              <a:t>TS 29.514  N5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9D3E0"/>
                </a:solidFill>
              </a:rPr>
              <a:t>TS 29.513  IMS 與 PCF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9D3E0"/>
                </a:solidFill>
              </a:rPr>
              <a:t>TS 23.503 附錄 C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9D3E0"/>
                </a:solidFill>
              </a:rPr>
              <a:t>TS 24.008  PCO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0F3455E7-262E-4B94-A35B-09C55F3BE6C8}"/>
              </a:ext>
            </a:extLst>
          </p:cNvPr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rgbClr val="0F4C8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7F9A9E0-B608-4E7C-B94D-35902B7C4789}"/>
              </a:ext>
            </a:extLst>
          </p:cNvPr>
          <p:cNvSpPr txBox="1"/>
          <p:nvPr/>
        </p:nvSpPr>
        <p:spPr>
          <a:xfrm>
            <a:off x="476250" y="1428750"/>
            <a:ext cx="3048000" cy="2438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32623DE-9B8E-4419-A16B-768742BAED22}"/>
              </a:ext>
            </a:extLst>
          </p:cNvPr>
          <p:cNvSpPr txBox="1"/>
          <p:nvPr/>
        </p:nvSpPr>
        <p:spPr>
          <a:xfrm>
            <a:off x="476250" y="4095750"/>
            <a:ext cx="3048000" cy="1333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</a:rPr>
              <a:t>個還沒打通的地方</a:t>
            </a:r>
          </a:p>
          <a:p>
            <a:r>
              <a:rPr sz="1500">
                <a:solidFill>
                  <a:srgbClr val="C9D3E0"/>
                </a:solidFill>
              </a:rPr>
              <a:t>前兩個影響最大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508BBC4-06BA-4178-A466-BE437EDCD5A2}"/>
              </a:ext>
            </a:extLst>
          </p:cNvPr>
          <p:cNvSpPr txBox="1"/>
          <p:nvPr/>
        </p:nvSpPr>
        <p:spPr>
          <a:xfrm>
            <a:off x="4286250" y="571500"/>
            <a:ext cx="7239000" cy="762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900" b="1">
                <a:solidFill>
                  <a:srgbClr val="E8742A"/>
                </a:solidFill>
              </a:rPr>
              <a:t>SMF 沒送 N1N2</a:t>
            </a:r>
          </a:p>
          <a:p>
            <a:r>
              <a:rPr sz="1500">
                <a:solidFill>
                  <a:srgbClr val="5B6575"/>
                </a:solidFill>
              </a:rPr>
              <a:t>policy 更新只改 UPF，gNB 與 UE 不知道語音 QoS flow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CEF2B108-67A0-4837-B2A7-EECC80E857EF}"/>
              </a:ext>
            </a:extLst>
          </p:cNvPr>
          <p:cNvSpPr/>
          <p:nvPr/>
        </p:nvSpPr>
        <p:spPr>
          <a:xfrm>
            <a:off x="4286250" y="1409700"/>
            <a:ext cx="7239000" cy="9525"/>
          </a:xfrm>
          <a:prstGeom prst="rect">
            <a:avLst/>
          </a:prstGeom>
          <a:solidFill>
            <a:srgbClr val="D5DA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910FC2E-0A85-4294-BD25-788A276E4CA5}"/>
              </a:ext>
            </a:extLst>
          </p:cNvPr>
          <p:cNvSpPr txBox="1"/>
          <p:nvPr/>
        </p:nvSpPr>
        <p:spPr>
          <a:xfrm>
            <a:off x="4286250" y="1524000"/>
            <a:ext cx="7239000" cy="762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900" b="1">
                <a:solidFill>
                  <a:srgbClr val="E8742A"/>
                </a:solidFill>
              </a:rPr>
              <a:t>PCF 終止通知收不到</a:t>
            </a:r>
          </a:p>
          <a:p>
            <a:r>
              <a:rPr sz="1500">
                <a:solidFill>
                  <a:srgbClr val="5B6575"/>
                </a:solidFill>
              </a:rPr>
              <a:t>送到 /notify/terminate，shim 回 404；通話還掛著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98C1EE20-DA36-43EF-BF57-09D5093E1441}"/>
              </a:ext>
            </a:extLst>
          </p:cNvPr>
          <p:cNvSpPr/>
          <p:nvPr/>
        </p:nvSpPr>
        <p:spPr>
          <a:xfrm>
            <a:off x="4286250" y="2362200"/>
            <a:ext cx="7239000" cy="9525"/>
          </a:xfrm>
          <a:prstGeom prst="rect">
            <a:avLst/>
          </a:prstGeom>
          <a:solidFill>
            <a:srgbClr val="D5DA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D6BC32F-DF9C-4BCD-8864-EC28A80CB180}"/>
              </a:ext>
            </a:extLst>
          </p:cNvPr>
          <p:cNvSpPr txBox="1"/>
          <p:nvPr/>
        </p:nvSpPr>
        <p:spPr>
          <a:xfrm>
            <a:off x="4286250" y="2476500"/>
            <a:ext cx="7239000" cy="762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900" b="1">
                <a:solidFill>
                  <a:srgbClr val="14213D"/>
                </a:solidFill>
              </a:rPr>
              <a:t>註冊時沒交換資訊</a:t>
            </a:r>
          </a:p>
          <a:p>
            <a:r>
              <a:rPr sz="1500">
                <a:solidFill>
                  <a:srgbClr val="5B6575"/>
                </a:solidFill>
              </a:rPr>
              <a:t>沒有信令 flow、事件訂閱（29.513 B.5–B.8）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069E3180-8FC4-4C0E-A2C3-F0BF133D7A79}"/>
              </a:ext>
            </a:extLst>
          </p:cNvPr>
          <p:cNvSpPr/>
          <p:nvPr/>
        </p:nvSpPr>
        <p:spPr>
          <a:xfrm>
            <a:off x="4286250" y="3314700"/>
            <a:ext cx="7239000" cy="9525"/>
          </a:xfrm>
          <a:prstGeom prst="rect">
            <a:avLst/>
          </a:prstGeom>
          <a:solidFill>
            <a:srgbClr val="D5DA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EC0C6A8-5B71-4371-9942-194067C09200}"/>
              </a:ext>
            </a:extLst>
          </p:cNvPr>
          <p:cNvSpPr txBox="1"/>
          <p:nvPr/>
        </p:nvSpPr>
        <p:spPr>
          <a:xfrm>
            <a:off x="4286250" y="3429000"/>
            <a:ext cx="7239000" cy="762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900" b="1">
                <a:solidFill>
                  <a:srgbClr val="14213D"/>
                </a:solidFill>
              </a:rPr>
              <a:t>AMF imsVoPS = 0</a:t>
            </a:r>
          </a:p>
          <a:p>
            <a:r>
              <a:rPr sz="1500">
                <a:solidFill>
                  <a:srgbClr val="5B6575"/>
                </a:solidFill>
              </a:rPr>
              <a:t>網路告訴 UE 不支援 IMS 語音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54A8BD40-7383-4026-A70F-38A3D1A71EF8}"/>
              </a:ext>
            </a:extLst>
          </p:cNvPr>
          <p:cNvSpPr/>
          <p:nvPr/>
        </p:nvSpPr>
        <p:spPr>
          <a:xfrm>
            <a:off x="4286250" y="4267200"/>
            <a:ext cx="7239000" cy="9525"/>
          </a:xfrm>
          <a:prstGeom prst="rect">
            <a:avLst/>
          </a:prstGeom>
          <a:solidFill>
            <a:srgbClr val="D5DA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0C2748F-4C4B-40AF-8CBC-DA32C486155A}"/>
              </a:ext>
            </a:extLst>
          </p:cNvPr>
          <p:cNvSpPr txBox="1"/>
          <p:nvPr/>
        </p:nvSpPr>
        <p:spPr>
          <a:xfrm>
            <a:off x="4286250" y="4381500"/>
            <a:ext cx="7239000" cy="762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900" b="1">
                <a:solidFill>
                  <a:srgbClr val="14213D"/>
                </a:solidFill>
              </a:rPr>
              <a:t>PCO 只有 IPv4</a:t>
            </a:r>
          </a:p>
          <a:p>
            <a:r>
              <a:rPr sz="1500">
                <a:solidFill>
                  <a:srgbClr val="5B6575"/>
                </a:solidFill>
              </a:rPr>
              <a:t>沒有 IPv6 P-CSCF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99F9807D-AED6-4779-B66C-0625848BC5DD}"/>
              </a:ext>
            </a:extLst>
          </p:cNvPr>
          <p:cNvSpPr/>
          <p:nvPr/>
        </p:nvSpPr>
        <p:spPr>
          <a:xfrm>
            <a:off x="4286250" y="5219700"/>
            <a:ext cx="7239000" cy="9525"/>
          </a:xfrm>
          <a:prstGeom prst="rect">
            <a:avLst/>
          </a:prstGeom>
          <a:solidFill>
            <a:srgbClr val="D5DA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6FC03EC-3061-4CB3-A09C-ED7FEB8309DF}"/>
              </a:ext>
            </a:extLst>
          </p:cNvPr>
          <p:cNvSpPr txBox="1"/>
          <p:nvPr/>
        </p:nvSpPr>
        <p:spPr>
          <a:xfrm>
            <a:off x="4286250" y="5334000"/>
            <a:ext cx="7239000" cy="762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900" b="1">
                <a:solidFill>
                  <a:srgbClr val="14213D"/>
                </a:solidFill>
              </a:rPr>
              <a:t>QER 不真的限速</a:t>
            </a:r>
          </a:p>
          <a:p>
            <a:r>
              <a:rPr sz="1500">
                <a:solidFill>
                  <a:srgbClr val="5B6575"/>
                </a:solidFill>
              </a:rPr>
              <a:t>free5gc 的已知限制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