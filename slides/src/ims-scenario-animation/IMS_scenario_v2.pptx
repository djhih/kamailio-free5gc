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第一幕：講者可在每次點擊後停下來說明，共 7 次點擊。</a:t>
            </a:r>
          </a:p>
          <a:p>
            <a:r>
              <a:rPr lang="zh-CN" dirty="0"/>
              <a:t>前提：5G 註冊、ims PDU session 和 P-CSCF 探索已完成；這不是 5G-AKA 的動畫。</a:t>
            </a:r>
          </a:p>
          <a:p>
            <a:r>
              <a:rPr lang="zh-CN" dirty="0"/>
              <a:t>1. 小明向 P-CSCF 發 REGISTER，P 加 Path，再轉 I-CSCF。</a:t>
            </a:r>
          </a:p>
          <a:p>
            <a:r>
              <a:rPr lang="zh-CN" dirty="0"/>
              <a:t>2. I-CSCF 以 UAR/UAA 查 HSS，選定 S-CSCF 後把 REGISTER 轉過去。為保持畫面簡潔，此段轉送用對白及 S-CSCF 強調表示。</a:t>
            </a:r>
          </a:p>
          <a:p>
            <a:r>
              <a:rPr lang="zh-CN" dirty="0"/>
              <a:t>3. S-CSCF 用 MAR/MAA 向 HSS 取得 IMS AKA 向量。</a:t>
            </a:r>
          </a:p>
          <a:p>
            <a:r>
              <a:rPr lang="zh-CN" dirty="0"/>
              <a:t>4. S-CSCF 回 401，挑戰中的 nonce 承載 RAND、AUTN；這是正常的認證流程。回程經 I、P。</a:t>
            </a:r>
          </a:p>
          <a:p>
            <a:r>
              <a:rPr lang="zh-CN" dirty="0"/>
              <a:t>5. SIM 驗 AUTN、算 RES，以 RES 產生 AKAv1-MD5 的 Digest response，再放入 Authorization 送第二次 REGISTER；不是裸送 RES。圖省略各跳重傳與 SIM 計算細節。</a:t>
            </a:r>
          </a:p>
          <a:p>
            <a:r>
              <a:rPr lang="zh-CN" dirty="0"/>
              <a:t>6. 認證通過後 SAR/SAA 登記 serving S-CSCF 並取 profile；S-CSCF 保存 IMPU、Contact、Path。</a:t>
            </a:r>
          </a:p>
          <a:p>
            <a:r>
              <a:rPr lang="zh-CN" dirty="0"/>
              <a:t>7. 200 OK 經 I、P 回 UE，P-CSCF 也記錄成功的註冊。小華先完成同樣流程，接著才進入下一幕。</a:t>
            </a:r>
          </a:p>
          <a:p>
            <a:r>
              <a:rPr lang="zh-CN" dirty="0"/>
              <a:t>安全概念：K 只留在 SIM/HSS；HSS 的 XRES 不送到 UE。標準服務邏輯與簡化專案路由有差異。</a:t>
            </a:r>
          </a:p>
          <a:p>
            <a:r>
              <a:rPr lang="zh-CN" dirty="0"/>
              <a:t>依據：原簡報第 7、9、10 頁；kamailio-free5gc/pcscf/kamailio.cfg、icscf/kamailio.cfg、scscf/kamailio.cfg。</a:t>
            </a:r>
          </a:p>
          <a:p>
            <a:r>
              <a:rPr lang="zh-CN" dirty="0"/>
              <a:t>官方參考：https://www.kamailio.org/docs/modules/stable/modules/ims_registrar_pcscf.html</a:t>
            </a:r>
          </a:p>
          <a:p>
            <a:endParaRPr 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第二幕：共 6 次點擊。雙方已註冊；在此只教一通成功通話。</a:t>
            </a:r>
          </a:p>
          <a:p>
            <a:r>
              <a:rPr lang="zh-CN" dirty="0"/>
              <a:t>1. 小明發 INVITE，body 的 SDP offer 帶媒體位址、埠及 codec 提案；P-CSCF 依本專案配置送 I-CSCF。</a:t>
            </a:r>
          </a:p>
          <a:p>
            <a:r>
              <a:rPr lang="zh-CN" dirty="0"/>
              <a:t>2. I-CSCF 以 LIR/LIA 查 HSS 的被叫 serving S-CSCF 資料。HSS 查詢是 Diameter Cx，不是 SIP。</a:t>
            </a:r>
          </a:p>
          <a:p>
            <a:r>
              <a:rPr lang="zh-CN" dirty="0"/>
              <a:t>3. I 轉 INVITE 到 S；S 用被叫 IMPU 找 Contact，沿註冊保存的 Path 經被叫 P-CSCF 送小華。</a:t>
            </a:r>
          </a:p>
          <a:p>
            <a:r>
              <a:rPr lang="zh-CN" dirty="0"/>
              <a:t>4. 180 Ringing 回主叫，代表響鈴；省略 100 Trying。</a:t>
            </a:r>
          </a:p>
          <a:p>
            <a:r>
              <a:rPr lang="zh-CN" dirty="0"/>
              <a:t>5. 小華接聽回 200 OK + SDP answer，P-CSCF 此時收齊 offer/answer，觸發下一幕的 N5 預留。</a:t>
            </a:r>
          </a:p>
          <a:p>
            <a:r>
              <a:rPr lang="zh-CN" dirty="0"/>
              <a:t>6. 小明回 ACK。應答沿 Via；ACK 與之後的 BYE 依對話 route set 路由。</a:t>
            </a:r>
          </a:p>
          <a:p>
            <a:r>
              <a:rPr lang="zh-CN" dirty="0"/>
              <a:t>畫面中兩個 P-CSCF 是同一個 Kamailio 程序分別處理主叫、被叫兩個 leg；每端有自己的 PDU session，因此兩端各申請 QoS。</a:t>
            </a:r>
          </a:p>
          <a:p>
            <a:r>
              <a:rPr lang="zh-CN" dirty="0"/>
              <a:t>本圖忠實呈現 PoC 的主叫 P→I→S 路由。標準 IMS 主叫一般先依 Service-Route 到主叫 S-CSCF，再處理被叫側；不要把這個 PoC 當所有營運商網路的完整通話流程。</a:t>
            </a:r>
          </a:p>
          <a:p>
            <a:r>
              <a:rPr lang="zh-CN" dirty="0"/>
              <a:t>省略 183、PRACK、preconditions、AS/TAS 與跨網互通。</a:t>
            </a:r>
          </a:p>
          <a:p>
            <a:r>
              <a:rPr lang="zh-CN" dirty="0"/>
              <a:t>依據：原簡報第 14、23、24 頁；kamailio-free5gc/pcscf/kamailio.cfg request_route 與 INVITE_REPLY；icscf/kamailio.cfg TERMINATING、LIR_REPLY；scscf/kamailio.cfg LOOKUP。</a:t>
            </a:r>
          </a:p>
          <a:p>
            <a:r>
              <a:rPr lang="zh-CN" dirty="0"/>
              <a:t>官方架構參考：https://www.etsi.org/deliver/etsi_ts/123200_123299/123228/18.05.00_60/ts_123228v180500p.pdf</a:t>
            </a:r>
          </a:p>
          <a:p>
            <a:endParaRPr 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第三幕：共 3 次點擊；本幕將前一幕的 200 OK 觸發點放大說明。</a:t>
            </a:r>
          </a:p>
          <a:p>
            <a:r>
              <a:rPr lang="zh-CN" dirty="0"/>
              <a:t>1. P-CSCF 在 200 OK 看到 SDP answer，經本專案 AF shim 建 N5 App Session。PCF 以 N7 通知 SMF，SMF 以 N4 修改 UPF 的 PDR/QER。兩個 leg 各申請一次。媒體語音使用 5QI 1；信令仍使用 5QI 5，不是把整個 IMS session 從 5 改成 1。QoS 失敗時本專案仍允許通話。</a:t>
            </a:r>
          </a:p>
          <a:p>
            <a:r>
              <a:rPr lang="zh-CN" dirty="0"/>
              <a:t>2. 此處示意 ACK 後的 RTP 雙向傳送；真實 SIP 可有 early media，本 PoC 不呈現。藍色兩個封包反向移動，代表兩人說話；UPF 內 hairpin 轉到另一個 UE。圖省略 UE 與 UPF 之間的 gNB/N3，RTP 不經 CSCF。本專案沒有 IMS-AGW/SBC，勿泛化成所有部署都沒有媒體錨點。</a:t>
            </a:r>
          </a:p>
          <a:p>
            <a:r>
              <a:rPr lang="zh-CN" dirty="0"/>
              <a:t>3. 小明掛斷，BYE 走既有對話路由，對端回 200 OK；P-CSCF 於 BYE 釋放兩端 QoS App Session，控制链撤除媒體規則。動畫收起 RTP 路徑、強調控制群及 UPF。圖為控制群示意，不意指 BYE 重新作 LIR。通話結束不等於 IMS deregistration；原 IMS 註冊及 ims PDU session 仍可保留。</a:t>
            </a:r>
          </a:p>
          <a:p>
            <a:r>
              <a:rPr lang="zh-CN" dirty="0"/>
              <a:t>本專案只驗證規則存在，未驗證實際 GBR 頻寬保證或限速。</a:t>
            </a:r>
          </a:p>
          <a:p>
            <a:r>
              <a:rPr lang="zh-CN" dirty="0"/>
              <a:t>依據：原簡報第 14–17、23 頁；kamailio-free5gc/pcscf/kamailio.cfg AF_RESERVE、AF_RELEASE；AF shim 與 QoS 測試。</a:t>
            </a:r>
          </a:p>
          <a:p>
            <a:endParaRPr 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628E10F8-1FCD-46A4-B641-3001A4E8DA51}"/>
              </a:ext>
            </a:extLst>
          </p:cNvPr>
          <p:cNvSpPr txBox="1"/>
          <p:nvPr/>
        </p:nvSpPr>
        <p:spPr>
          <a:xfrm>
            <a:off x="571500" y="323850"/>
            <a:ext cx="11049000" cy="57150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4213D"/>
                </a:solidFill>
                <a:latin typeface="Noto Sans CJK TC"/>
                <a:ea typeface="Noto Sans CJK TC"/>
              </a:rPr>
              <a:t>第一幕｜先報到，電話才找得到我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6DEFEAA-3740-4BAD-BC2D-C7451CC23459}"/>
              </a:ext>
            </a:extLst>
          </p:cNvPr>
          <p:cNvSpPr txBox="1"/>
          <p:nvPr/>
        </p:nvSpPr>
        <p:spPr>
          <a:xfrm>
            <a:off x="571500" y="981075"/>
            <a:ext cx="11049000" cy="3143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5B6575"/>
                </a:solidFill>
                <a:latin typeface="Noto Sans CJK TC"/>
                <a:ea typeface="Noto Sans CJK TC"/>
              </a:rPr>
              <a:t>小明已連上 5G、取得 ims PDU session；現在向「電話公司的總機」報到。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C3745872-D335-466B-BD54-B4859A3E4310}"/>
              </a:ext>
            </a:extLst>
          </p:cNvPr>
          <p:cNvSpPr/>
          <p:nvPr/>
        </p:nvSpPr>
        <p:spPr>
          <a:xfrm>
            <a:off x="457200" y="1562100"/>
            <a:ext cx="1276350" cy="723900"/>
          </a:xfrm>
          <a:prstGeom prst="roundRect">
            <a:avLst/>
          </a:prstGeom>
          <a:solidFill>
            <a:srgbClr val="E8F1F9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2877B5"/>
                </a:solidFill>
                <a:latin typeface="Noto Sans CJK TC"/>
                <a:ea typeface="Noto Sans CJK TC"/>
              </a:rPr>
              <a:t>小明 UE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我想用電話</a:t>
            </a:r>
          </a:p>
        </p:txBody>
      </p:sp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FE24C32B-5CAD-4D18-B3E3-95A9562EB07E}"/>
              </a:ext>
            </a:extLst>
          </p:cNvPr>
          <p:cNvCxnSpPr/>
          <p:nvPr/>
        </p:nvCxnSpPr>
        <p:spPr>
          <a:xfrm>
            <a:off x="1095375" y="2362200"/>
            <a:ext cx="0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7" name="Shape 7">
            <a:extLst>
              <a:ext uri="{FF2B5EF4-FFF2-40B4-BE49-F238E27FC236}">
                <a16:creationId xmlns:a16="http://schemas.microsoft.com/office/drawing/2014/main" id="{635EDADF-1D5A-47E1-8B99-D1DE1F182486}"/>
              </a:ext>
            </a:extLst>
          </p:cNvPr>
          <p:cNvSpPr/>
          <p:nvPr/>
        </p:nvSpPr>
        <p:spPr>
          <a:xfrm>
            <a:off x="2219325" y="1562100"/>
            <a:ext cx="1276350" cy="723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P-CSCF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門口接待</a:t>
            </a:r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3F38F04B-971B-4AA4-990F-3ED8800F6297}"/>
              </a:ext>
            </a:extLst>
          </p:cNvPr>
          <p:cNvCxnSpPr/>
          <p:nvPr/>
        </p:nvCxnSpPr>
        <p:spPr>
          <a:xfrm>
            <a:off x="2857500" y="2362200"/>
            <a:ext cx="0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9" name="Shape 9">
            <a:extLst>
              <a:ext uri="{FF2B5EF4-FFF2-40B4-BE49-F238E27FC236}">
                <a16:creationId xmlns:a16="http://schemas.microsoft.com/office/drawing/2014/main" id="{30C3C387-4885-4AEB-B3B5-14C917B73C4C}"/>
              </a:ext>
            </a:extLst>
          </p:cNvPr>
          <p:cNvSpPr/>
          <p:nvPr/>
        </p:nvSpPr>
        <p:spPr>
          <a:xfrm>
            <a:off x="3981450" y="1562100"/>
            <a:ext cx="1276350" cy="723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I-CSCF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總機</a:t>
            </a:r>
          </a:p>
        </p:txBody>
      </p:sp>
      <p:cxnSp>
        <p:nvCxnSpPr>
          <p:cNvPr id="10" name="Straight Connector 10">
            <a:extLst>
              <a:ext uri="{FF2B5EF4-FFF2-40B4-BE49-F238E27FC236}">
                <a16:creationId xmlns:a16="http://schemas.microsoft.com/office/drawing/2014/main" id="{EEC1D3FD-B43B-4603-9DA2-473831EB6A58}"/>
              </a:ext>
            </a:extLst>
          </p:cNvPr>
          <p:cNvCxnSpPr/>
          <p:nvPr/>
        </p:nvCxnSpPr>
        <p:spPr>
          <a:xfrm>
            <a:off x="4619625" y="2362200"/>
            <a:ext cx="0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11" name="Shape 11">
            <a:extLst>
              <a:ext uri="{FF2B5EF4-FFF2-40B4-BE49-F238E27FC236}">
                <a16:creationId xmlns:a16="http://schemas.microsoft.com/office/drawing/2014/main" id="{3E2EFC84-0638-401F-97E0-607C30A902A1}"/>
              </a:ext>
            </a:extLst>
          </p:cNvPr>
          <p:cNvSpPr/>
          <p:nvPr/>
        </p:nvSpPr>
        <p:spPr>
          <a:xfrm>
            <a:off x="5743575" y="1562100"/>
            <a:ext cx="1276350" cy="723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S-CSCF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專屬承辦人</a:t>
            </a:r>
          </a:p>
        </p:txBody>
      </p:sp>
      <p:cxnSp>
        <p:nvCxnSpPr>
          <p:cNvPr id="12" name="Straight Connector 12">
            <a:extLst>
              <a:ext uri="{FF2B5EF4-FFF2-40B4-BE49-F238E27FC236}">
                <a16:creationId xmlns:a16="http://schemas.microsoft.com/office/drawing/2014/main" id="{68829DBB-5A5D-4C53-9ED8-6FAFE5829504}"/>
              </a:ext>
            </a:extLst>
          </p:cNvPr>
          <p:cNvCxnSpPr/>
          <p:nvPr/>
        </p:nvCxnSpPr>
        <p:spPr>
          <a:xfrm>
            <a:off x="6381750" y="2362200"/>
            <a:ext cx="0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13" name="Shape 13">
            <a:extLst>
              <a:ext uri="{FF2B5EF4-FFF2-40B4-BE49-F238E27FC236}">
                <a16:creationId xmlns:a16="http://schemas.microsoft.com/office/drawing/2014/main" id="{447BA73A-855C-4EC0-B5E7-75D76ABF1855}"/>
              </a:ext>
            </a:extLst>
          </p:cNvPr>
          <p:cNvSpPr/>
          <p:nvPr/>
        </p:nvSpPr>
        <p:spPr>
          <a:xfrm>
            <a:off x="7505700" y="1562100"/>
            <a:ext cx="1276350" cy="723900"/>
          </a:xfrm>
          <a:prstGeom prst="roundRect">
            <a:avLst/>
          </a:prstGeom>
          <a:solidFill>
            <a:srgbClr val="FCEBDD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HSS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客戶資料室</a:t>
            </a:r>
          </a:p>
        </p:txBody>
      </p:sp>
      <p:cxnSp>
        <p:nvCxnSpPr>
          <p:cNvPr id="14" name="Straight Connector 14">
            <a:extLst>
              <a:ext uri="{FF2B5EF4-FFF2-40B4-BE49-F238E27FC236}">
                <a16:creationId xmlns:a16="http://schemas.microsoft.com/office/drawing/2014/main" id="{E54CDC94-38A9-4D25-AFE7-5C320AA9F580}"/>
              </a:ext>
            </a:extLst>
          </p:cNvPr>
          <p:cNvCxnSpPr/>
          <p:nvPr/>
        </p:nvCxnSpPr>
        <p:spPr>
          <a:xfrm>
            <a:off x="8143875" y="2362200"/>
            <a:ext cx="0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15" name="TextBox 15">
            <a:extLst>
              <a:ext uri="{FF2B5EF4-FFF2-40B4-BE49-F238E27FC236}">
                <a16:creationId xmlns:a16="http://schemas.microsoft.com/office/drawing/2014/main" id="{3B9A0AA0-2E55-4722-8141-38CDD7E0C43D}"/>
              </a:ext>
            </a:extLst>
          </p:cNvPr>
          <p:cNvSpPr txBox="1"/>
          <p:nvPr/>
        </p:nvSpPr>
        <p:spPr>
          <a:xfrm>
            <a:off x="9201150" y="1724025"/>
            <a:ext cx="2524125" cy="4000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5B6575"/>
                </a:solidFill>
                <a:latin typeface="Noto Sans CJK TC"/>
                <a:ea typeface="Noto Sans CJK TC"/>
              </a:rPr>
              <a:t>角色對白</a:t>
            </a:r>
          </a:p>
        </p:txBody>
      </p:sp>
      <p:cxnSp>
        <p:nvCxnSpPr>
          <p:cNvPr id="16" name="Straight Connector 16">
            <a:extLst>
              <a:ext uri="{FF2B5EF4-FFF2-40B4-BE49-F238E27FC236}">
                <a16:creationId xmlns:a16="http://schemas.microsoft.com/office/drawing/2014/main" id="{421AB3DE-D1E3-408C-A949-1CFC620B576A}"/>
              </a:ext>
            </a:extLst>
          </p:cNvPr>
          <p:cNvCxnSpPr/>
          <p:nvPr/>
        </p:nvCxnSpPr>
        <p:spPr>
          <a:xfrm>
            <a:off x="1095375" y="2781300"/>
            <a:ext cx="3524250" cy="0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17" name="TextBox 17">
            <a:extLst>
              <a:ext uri="{FF2B5EF4-FFF2-40B4-BE49-F238E27FC236}">
                <a16:creationId xmlns:a16="http://schemas.microsoft.com/office/drawing/2014/main" id="{8AA664F6-B29D-4E21-AA50-EEE93B6C18B7}"/>
              </a:ext>
            </a:extLst>
          </p:cNvPr>
          <p:cNvSpPr txBox="1"/>
          <p:nvPr/>
        </p:nvSpPr>
        <p:spPr>
          <a:xfrm>
            <a:off x="1209675" y="2514600"/>
            <a:ext cx="33528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REGISTER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82E6979-B1B5-48BE-A71F-D3C4E2C32E10}"/>
              </a:ext>
            </a:extLst>
          </p:cNvPr>
          <p:cNvSpPr txBox="1"/>
          <p:nvPr/>
        </p:nvSpPr>
        <p:spPr>
          <a:xfrm>
            <a:off x="9153525" y="2514600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① 小明：我要報到。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接待加 Path，再交給總機。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C9671FA7-039A-4410-B080-F0E1E3CD8B3C}"/>
              </a:ext>
            </a:extLst>
          </p:cNvPr>
          <p:cNvSpPr/>
          <p:nvPr/>
        </p:nvSpPr>
        <p:spPr>
          <a:xfrm>
            <a:off x="1019175" y="2705100"/>
            <a:ext cx="152400" cy="152400"/>
          </a:xfrm>
          <a:prstGeom prst="ellipse">
            <a:avLst/>
          </a:prstGeom>
          <a:solidFill>
            <a:srgbClr val="E8742A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20" name="Straight Connector 20">
            <a:extLst>
              <a:ext uri="{FF2B5EF4-FFF2-40B4-BE49-F238E27FC236}">
                <a16:creationId xmlns:a16="http://schemas.microsoft.com/office/drawing/2014/main" id="{7BAC215B-FE54-466B-8B50-D19F451FE8DE}"/>
              </a:ext>
            </a:extLst>
          </p:cNvPr>
          <p:cNvCxnSpPr/>
          <p:nvPr/>
        </p:nvCxnSpPr>
        <p:spPr>
          <a:xfrm>
            <a:off x="4619625" y="3267075"/>
            <a:ext cx="3524250" cy="0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cxnSp>
        <p:nvCxnSpPr>
          <p:cNvPr id="21" name="Straight Connector 21">
            <a:extLst>
              <a:ext uri="{FF2B5EF4-FFF2-40B4-BE49-F238E27FC236}">
                <a16:creationId xmlns:a16="http://schemas.microsoft.com/office/drawing/2014/main" id="{7C6BD851-A48A-40ED-B445-D6C3DF13442C}"/>
              </a:ext>
            </a:extLst>
          </p:cNvPr>
          <p:cNvCxnSpPr/>
          <p:nvPr/>
        </p:nvCxnSpPr>
        <p:spPr>
          <a:xfrm flipH="1">
            <a:off x="4619625" y="3324225"/>
            <a:ext cx="3524250" cy="0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22" name="TextBox 22">
            <a:extLst>
              <a:ext uri="{FF2B5EF4-FFF2-40B4-BE49-F238E27FC236}">
                <a16:creationId xmlns:a16="http://schemas.microsoft.com/office/drawing/2014/main" id="{0E3524D5-9B87-4A8E-822F-369F27FBBC98}"/>
              </a:ext>
            </a:extLst>
          </p:cNvPr>
          <p:cNvSpPr txBox="1"/>
          <p:nvPr/>
        </p:nvSpPr>
        <p:spPr>
          <a:xfrm>
            <a:off x="4733925" y="3000375"/>
            <a:ext cx="33528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UAR / UAA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1AEA2828-994B-44D8-A92F-7E139870E99D}"/>
              </a:ext>
            </a:extLst>
          </p:cNvPr>
          <p:cNvSpPr txBox="1"/>
          <p:nvPr/>
        </p:nvSpPr>
        <p:spPr>
          <a:xfrm>
            <a:off x="9153525" y="3000375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② 總機：找哪位承辦人？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查完 HSS，轉送 REGISTER。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3038A50E-3C67-41FB-8B28-14701D7C48D9}"/>
              </a:ext>
            </a:extLst>
          </p:cNvPr>
          <p:cNvSpPr/>
          <p:nvPr/>
        </p:nvSpPr>
        <p:spPr>
          <a:xfrm>
            <a:off x="4543425" y="3190875"/>
            <a:ext cx="152400" cy="152400"/>
          </a:xfrm>
          <a:prstGeom prst="ellipse">
            <a:avLst/>
          </a:prstGeom>
          <a:solidFill>
            <a:srgbClr val="E8742A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25" name="Straight Connector 25">
            <a:extLst>
              <a:ext uri="{FF2B5EF4-FFF2-40B4-BE49-F238E27FC236}">
                <a16:creationId xmlns:a16="http://schemas.microsoft.com/office/drawing/2014/main" id="{A3F6E086-EE2B-4CE8-A5A8-4EBF47F5A049}"/>
              </a:ext>
            </a:extLst>
          </p:cNvPr>
          <p:cNvCxnSpPr/>
          <p:nvPr/>
        </p:nvCxnSpPr>
        <p:spPr>
          <a:xfrm>
            <a:off x="6381750" y="3752850"/>
            <a:ext cx="1762125" cy="0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cxnSp>
        <p:nvCxnSpPr>
          <p:cNvPr id="26" name="Straight Connector 26">
            <a:extLst>
              <a:ext uri="{FF2B5EF4-FFF2-40B4-BE49-F238E27FC236}">
                <a16:creationId xmlns:a16="http://schemas.microsoft.com/office/drawing/2014/main" id="{A180104C-AE0B-4F7C-B202-49914E0F8ECE}"/>
              </a:ext>
            </a:extLst>
          </p:cNvPr>
          <p:cNvCxnSpPr/>
          <p:nvPr/>
        </p:nvCxnSpPr>
        <p:spPr>
          <a:xfrm flipH="1">
            <a:off x="6381750" y="3810000"/>
            <a:ext cx="1762125" cy="0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27" name="TextBox 27">
            <a:extLst>
              <a:ext uri="{FF2B5EF4-FFF2-40B4-BE49-F238E27FC236}">
                <a16:creationId xmlns:a16="http://schemas.microsoft.com/office/drawing/2014/main" id="{38CF37EC-3AB5-4D6D-A772-FABDCE711313}"/>
              </a:ext>
            </a:extLst>
          </p:cNvPr>
          <p:cNvSpPr txBox="1"/>
          <p:nvPr/>
        </p:nvSpPr>
        <p:spPr>
          <a:xfrm>
            <a:off x="6496050" y="3486150"/>
            <a:ext cx="1590675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MAR / MAA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C917F88F-AA1C-4363-8151-485365B9C8C3}"/>
              </a:ext>
            </a:extLst>
          </p:cNvPr>
          <p:cNvSpPr txBox="1"/>
          <p:nvPr/>
        </p:nvSpPr>
        <p:spPr>
          <a:xfrm>
            <a:off x="9153525" y="3486150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③ 承辦人：請給認證向量。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HSS 產生題目與驗證資料。</a:t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866B9B8-ABDE-4505-B731-332B0A628356}"/>
              </a:ext>
            </a:extLst>
          </p:cNvPr>
          <p:cNvSpPr/>
          <p:nvPr/>
        </p:nvSpPr>
        <p:spPr>
          <a:xfrm>
            <a:off x="6305550" y="3676650"/>
            <a:ext cx="152400" cy="152400"/>
          </a:xfrm>
          <a:prstGeom prst="ellipse">
            <a:avLst/>
          </a:prstGeom>
          <a:solidFill>
            <a:srgbClr val="E8742A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30" name="Straight Connector 30">
            <a:extLst>
              <a:ext uri="{FF2B5EF4-FFF2-40B4-BE49-F238E27FC236}">
                <a16:creationId xmlns:a16="http://schemas.microsoft.com/office/drawing/2014/main" id="{5A75A99A-711D-4F08-9BF7-91661D556A0D}"/>
              </a:ext>
            </a:extLst>
          </p:cNvPr>
          <p:cNvCxnSpPr/>
          <p:nvPr/>
        </p:nvCxnSpPr>
        <p:spPr>
          <a:xfrm flipH="1">
            <a:off x="1095375" y="4238625"/>
            <a:ext cx="5286375" cy="0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31" name="TextBox 31">
            <a:extLst>
              <a:ext uri="{FF2B5EF4-FFF2-40B4-BE49-F238E27FC236}">
                <a16:creationId xmlns:a16="http://schemas.microsoft.com/office/drawing/2014/main" id="{F5287217-428C-451C-9210-7D99744D1AC9}"/>
              </a:ext>
            </a:extLst>
          </p:cNvPr>
          <p:cNvSpPr txBox="1"/>
          <p:nvPr/>
        </p:nvSpPr>
        <p:spPr>
          <a:xfrm>
            <a:off x="1209675" y="3971925"/>
            <a:ext cx="5114925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401：RAND + AUTN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085754E-84F6-4686-9F4B-C180592C1114}"/>
              </a:ext>
            </a:extLst>
          </p:cNvPr>
          <p:cNvSpPr txBox="1"/>
          <p:nvPr/>
        </p:nvSpPr>
        <p:spPr>
          <a:xfrm>
            <a:off x="9153525" y="3971925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④ 承辦人：先證明你是你。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小明的 SIM 也驗證網路。</a:t>
            </a:r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E226B36C-BA9A-4C6A-AEA2-8286C1D46877}"/>
              </a:ext>
            </a:extLst>
          </p:cNvPr>
          <p:cNvSpPr/>
          <p:nvPr/>
        </p:nvSpPr>
        <p:spPr>
          <a:xfrm>
            <a:off x="6305550" y="4162425"/>
            <a:ext cx="152400" cy="152400"/>
          </a:xfrm>
          <a:prstGeom prst="ellipse">
            <a:avLst/>
          </a:prstGeom>
          <a:solidFill>
            <a:srgbClr val="E8742A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34" name="Straight Connector 34">
            <a:extLst>
              <a:ext uri="{FF2B5EF4-FFF2-40B4-BE49-F238E27FC236}">
                <a16:creationId xmlns:a16="http://schemas.microsoft.com/office/drawing/2014/main" id="{FE4B3B37-BE01-4CCE-9733-ECF6B8DD29B6}"/>
              </a:ext>
            </a:extLst>
          </p:cNvPr>
          <p:cNvCxnSpPr/>
          <p:nvPr/>
        </p:nvCxnSpPr>
        <p:spPr>
          <a:xfrm>
            <a:off x="1095375" y="4724400"/>
            <a:ext cx="5286375" cy="0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35" name="TextBox 35">
            <a:extLst>
              <a:ext uri="{FF2B5EF4-FFF2-40B4-BE49-F238E27FC236}">
                <a16:creationId xmlns:a16="http://schemas.microsoft.com/office/drawing/2014/main" id="{0462082D-121F-4D70-8F2C-FF537E1FCC50}"/>
              </a:ext>
            </a:extLst>
          </p:cNvPr>
          <p:cNvSpPr txBox="1"/>
          <p:nvPr/>
        </p:nvSpPr>
        <p:spPr>
          <a:xfrm>
            <a:off x="1209675" y="4457700"/>
            <a:ext cx="5114925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REGISTER + Authorization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AFD8ABDE-29FA-455C-B9D9-016CD1A88F04}"/>
              </a:ext>
            </a:extLst>
          </p:cNvPr>
          <p:cNvSpPr txBox="1"/>
          <p:nvPr/>
        </p:nvSpPr>
        <p:spPr>
          <a:xfrm>
            <a:off x="9153525" y="4457700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⑤ 小明：這是我的回答。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SIM 算 RES，再產生 Digest。</a:t>
            </a:r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72A74E37-6D1B-4091-AA41-08FCA99BA4A2}"/>
              </a:ext>
            </a:extLst>
          </p:cNvPr>
          <p:cNvSpPr/>
          <p:nvPr/>
        </p:nvSpPr>
        <p:spPr>
          <a:xfrm>
            <a:off x="1019175" y="4648200"/>
            <a:ext cx="152400" cy="152400"/>
          </a:xfrm>
          <a:prstGeom prst="ellipse">
            <a:avLst/>
          </a:prstGeom>
          <a:solidFill>
            <a:srgbClr val="E8742A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38" name="Straight Connector 38">
            <a:extLst>
              <a:ext uri="{FF2B5EF4-FFF2-40B4-BE49-F238E27FC236}">
                <a16:creationId xmlns:a16="http://schemas.microsoft.com/office/drawing/2014/main" id="{C6BBF305-D4D5-411D-8F91-54A85CBC887D}"/>
              </a:ext>
            </a:extLst>
          </p:cNvPr>
          <p:cNvCxnSpPr/>
          <p:nvPr/>
        </p:nvCxnSpPr>
        <p:spPr>
          <a:xfrm>
            <a:off x="6381750" y="5210175"/>
            <a:ext cx="1762125" cy="0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cxnSp>
        <p:nvCxnSpPr>
          <p:cNvPr id="39" name="Straight Connector 39">
            <a:extLst>
              <a:ext uri="{FF2B5EF4-FFF2-40B4-BE49-F238E27FC236}">
                <a16:creationId xmlns:a16="http://schemas.microsoft.com/office/drawing/2014/main" id="{A2EFD9E7-56D0-409E-8F04-2D1682C88A29}"/>
              </a:ext>
            </a:extLst>
          </p:cNvPr>
          <p:cNvCxnSpPr/>
          <p:nvPr/>
        </p:nvCxnSpPr>
        <p:spPr>
          <a:xfrm flipH="1">
            <a:off x="6381750" y="5267325"/>
            <a:ext cx="1762125" cy="0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40" name="TextBox 40">
            <a:extLst>
              <a:ext uri="{FF2B5EF4-FFF2-40B4-BE49-F238E27FC236}">
                <a16:creationId xmlns:a16="http://schemas.microsoft.com/office/drawing/2014/main" id="{CA889DA4-DCAC-45BA-8C30-4FB434DD57C0}"/>
              </a:ext>
            </a:extLst>
          </p:cNvPr>
          <p:cNvSpPr txBox="1"/>
          <p:nvPr/>
        </p:nvSpPr>
        <p:spPr>
          <a:xfrm>
            <a:off x="6496050" y="4943475"/>
            <a:ext cx="1590675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SAR / SAA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82F86698-690E-4CAF-B9D2-AF99ED42FB33}"/>
              </a:ext>
            </a:extLst>
          </p:cNvPr>
          <p:cNvSpPr txBox="1"/>
          <p:nvPr/>
        </p:nvSpPr>
        <p:spPr>
          <a:xfrm>
            <a:off x="9153525" y="4943475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⑥ 認證成功，登記承辦人。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取回 profile、記住 Contact。</a:t>
            </a:r>
          </a:p>
        </p:txBody>
      </p:sp>
      <p:sp>
        <p:nvSpPr>
          <p:cNvPr id="42" name="Shape 42">
            <a:extLst>
              <a:ext uri="{FF2B5EF4-FFF2-40B4-BE49-F238E27FC236}">
                <a16:creationId xmlns:a16="http://schemas.microsoft.com/office/drawing/2014/main" id="{6EB484A9-C73A-41F3-BF0E-7985DB1B07C7}"/>
              </a:ext>
            </a:extLst>
          </p:cNvPr>
          <p:cNvSpPr/>
          <p:nvPr/>
        </p:nvSpPr>
        <p:spPr>
          <a:xfrm>
            <a:off x="6305550" y="5133975"/>
            <a:ext cx="152400" cy="152400"/>
          </a:xfrm>
          <a:prstGeom prst="ellipse">
            <a:avLst/>
          </a:prstGeom>
          <a:solidFill>
            <a:srgbClr val="E8742A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43" name="Straight Connector 43">
            <a:extLst>
              <a:ext uri="{FF2B5EF4-FFF2-40B4-BE49-F238E27FC236}">
                <a16:creationId xmlns:a16="http://schemas.microsoft.com/office/drawing/2014/main" id="{7B096462-905C-469C-A61A-CC8DAB9E68DB}"/>
              </a:ext>
            </a:extLst>
          </p:cNvPr>
          <p:cNvCxnSpPr/>
          <p:nvPr/>
        </p:nvCxnSpPr>
        <p:spPr>
          <a:xfrm flipH="1">
            <a:off x="1095375" y="5695950"/>
            <a:ext cx="5286375" cy="0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44" name="TextBox 44">
            <a:extLst>
              <a:ext uri="{FF2B5EF4-FFF2-40B4-BE49-F238E27FC236}">
                <a16:creationId xmlns:a16="http://schemas.microsoft.com/office/drawing/2014/main" id="{9A97A643-4FE0-4A9F-A539-8D3A5D200AF6}"/>
              </a:ext>
            </a:extLst>
          </p:cNvPr>
          <p:cNvSpPr txBox="1"/>
          <p:nvPr/>
        </p:nvSpPr>
        <p:spPr>
          <a:xfrm>
            <a:off x="1209675" y="5429250"/>
            <a:ext cx="5114925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200 OK：註冊完成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D7680C4F-0131-4DC4-8AA9-EEA5E07CF89B}"/>
              </a:ext>
            </a:extLst>
          </p:cNvPr>
          <p:cNvSpPr txBox="1"/>
          <p:nvPr/>
        </p:nvSpPr>
        <p:spPr>
          <a:xfrm>
            <a:off x="9153525" y="5429250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⑦ 承辦人：我找得到你了。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小華也完成同樣的註冊。</a:t>
            </a:r>
          </a:p>
        </p:txBody>
      </p:sp>
      <p:sp>
        <p:nvSpPr>
          <p:cNvPr id="46" name="Shape 46">
            <a:extLst>
              <a:ext uri="{FF2B5EF4-FFF2-40B4-BE49-F238E27FC236}">
                <a16:creationId xmlns:a16="http://schemas.microsoft.com/office/drawing/2014/main" id="{85A5907A-5E95-4DB3-B7B4-037836B93FA4}"/>
              </a:ext>
            </a:extLst>
          </p:cNvPr>
          <p:cNvSpPr/>
          <p:nvPr/>
        </p:nvSpPr>
        <p:spPr>
          <a:xfrm>
            <a:off x="6305550" y="5619750"/>
            <a:ext cx="152400" cy="152400"/>
          </a:xfrm>
          <a:prstGeom prst="ellipse">
            <a:avLst/>
          </a:prstGeom>
          <a:solidFill>
            <a:srgbClr val="E8742A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AD0F63AA-3822-4F6E-81B3-F68B94E64BE9}"/>
              </a:ext>
            </a:extLst>
          </p:cNvPr>
          <p:cNvSpPr txBox="1"/>
          <p:nvPr/>
        </p:nvSpPr>
        <p:spPr>
          <a:xfrm>
            <a:off x="571500" y="6343650"/>
            <a:ext cx="11049000" cy="2857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5B6575"/>
                </a:solidFill>
                <a:latin typeface="Noto Sans CJK TC"/>
                <a:ea typeface="Noto Sans CJK TC"/>
              </a:rPr>
              <a:t>逐次點擊 7 次｜橘色：IMS 訊息；Cx 查詢為雙向。SIM 金鑰 K 不上網；SIP 回傳 Digest 證明。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923" fill="hold">
                      <p:stCondLst>
                        <p:cond delay="indefinite"/>
                      </p:stCondLst>
                      <p:childTnLst>
                        <p:par>
                          <p:cTn id="5924" fill="hold">
                            <p:stCondLst>
                              <p:cond delay="0"/>
                            </p:stCondLst>
                            <p:childTnLst>
                              <p:par>
                                <p:cTn id="58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95" dur="2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99" dur="2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03" dur="2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07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2890625 0.0000000 E" pathEditMode="relative">
                                      <p:cBhvr>
                                        <p:cTn id="5910" dur="2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11" presetID="1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9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15" presetID="26" presetClass="emph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5918" dur="21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5919" presetID="26" presetClass="emph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5922" dur="21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64" fill="hold">
                      <p:stCondLst>
                        <p:cond delay="indefinite"/>
                      </p:stCondLst>
                      <p:childTnLst>
                        <p:par>
                          <p:cTn id="5965" fill="hold">
                            <p:stCondLst>
                              <p:cond delay="0"/>
                            </p:stCondLst>
                            <p:childTnLst>
                              <p:par>
                                <p:cTn id="59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28" dur="2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32" dur="2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36" dur="2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40" dur="2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44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2890625 0.0000000 L 0.2890625 0.0083333 L 0.0000000 0.0083333 E" pathEditMode="relative">
                                      <p:cBhvr>
                                        <p:cTn id="5947" dur="2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48" presetID="1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9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2" presetID="26" presetClass="emph" presetSubtype="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5955" dur="21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5956" presetID="26" presetClass="emph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5959" dur="21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5960" presetID="26" presetClass="emph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5963" dur="21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01" fill="hold">
                      <p:stCondLst>
                        <p:cond delay="indefinite"/>
                      </p:stCondLst>
                      <p:childTnLst>
                        <p:par>
                          <p:cTn id="6002" fill="hold">
                            <p:stCondLst>
                              <p:cond delay="0"/>
                            </p:stCondLst>
                            <p:childTnLst>
                              <p:par>
                                <p:cTn id="59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69" dur="2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73" dur="2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77" dur="2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81" dur="2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85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1445312 0.0000000 L 0.1445312 0.0083333 L 0.0000000 0.0083333 E" pathEditMode="relative">
                                      <p:cBhvr>
                                        <p:cTn id="5988" dur="22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89" presetID="1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9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93" presetID="26" presetClass="emph" presetSubtype="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5996" dur="21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5997" presetID="26" presetClass="emph" presetSubtype="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6000" dur="21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30" fill="hold">
                      <p:stCondLst>
                        <p:cond delay="indefinite"/>
                      </p:stCondLst>
                      <p:childTnLst>
                        <p:par>
                          <p:cTn id="6031" fill="hold">
                            <p:stCondLst>
                              <p:cond delay="0"/>
                            </p:stCondLst>
                            <p:childTnLst>
                              <p:par>
                                <p:cTn id="60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06" dur="2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10" dur="2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14" dur="2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18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-0.4335938 0.0000000 E" pathEditMode="relative">
                                      <p:cBhvr>
                                        <p:cTn id="6021" dur="22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22" presetID="1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0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26" presetID="26" presetClass="emph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6029" dur="21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59" fill="hold">
                      <p:stCondLst>
                        <p:cond delay="indefinite"/>
                      </p:stCondLst>
                      <p:childTnLst>
                        <p:par>
                          <p:cTn id="6060" fill="hold">
                            <p:stCondLst>
                              <p:cond delay="0"/>
                            </p:stCondLst>
                            <p:childTnLst>
                              <p:par>
                                <p:cTn id="60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35" dur="2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39" dur="2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43" dur="2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47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4335938 0.0000000 E" pathEditMode="relative">
                                      <p:cBhvr>
                                        <p:cTn id="6050" dur="22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51" presetID="1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0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55" presetID="26" presetClass="emph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6058" dur="21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96" fill="hold">
                      <p:stCondLst>
                        <p:cond delay="indefinite"/>
                      </p:stCondLst>
                      <p:childTnLst>
                        <p:par>
                          <p:cTn id="6097" fill="hold">
                            <p:stCondLst>
                              <p:cond delay="0"/>
                            </p:stCondLst>
                            <p:childTnLst>
                              <p:par>
                                <p:cTn id="60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64" dur="2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68" dur="2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72" dur="28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76" dur="2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80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1445312 0.0000000 L 0.1445312 0.0083333 L 0.0000000 0.0083333 E" pathEditMode="relative">
                                      <p:cBhvr>
                                        <p:cTn id="6083" dur="22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84" presetID="1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0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88" presetID="26" presetClass="emph" presetSubtype="0" fill="hold" grpId="3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6091" dur="21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6092" presetID="26" presetClass="emph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6095" dur="21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25" fill="hold">
                      <p:stCondLst>
                        <p:cond delay="indefinite"/>
                      </p:stCondLst>
                      <p:childTnLst>
                        <p:par>
                          <p:cTn id="6126" fill="hold">
                            <p:stCondLst>
                              <p:cond delay="0"/>
                            </p:stCondLst>
                            <p:childTnLst>
                              <p:par>
                                <p:cTn id="60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01" dur="28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05" dur="28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09" dur="28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13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-0.4335938 0.0000000 E" pathEditMode="relative">
                                      <p:cBhvr>
                                        <p:cTn id="6116" dur="22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17" presetID="1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21" presetID="26" presetClass="emph" presetSubtype="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6124" dur="21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6" grpId="0"/>
      <p:bldP spid="18" grpId="0"/>
      <p:bldP spid="19" grpId="0"/>
      <p:bldP spid="19" grpId="1"/>
      <p:bldP spid="19" grpId="2"/>
      <p:bldP spid="7" grpId="0"/>
      <p:bldP spid="9" grpId="0"/>
      <p:bldP spid="22" grpId="0"/>
      <p:bldP spid="20" grpId="0"/>
      <p:bldP spid="21" grpId="0"/>
      <p:bldP spid="23" grpId="0"/>
      <p:bldP spid="24" grpId="0"/>
      <p:bldP spid="24" grpId="1"/>
      <p:bldP spid="24" grpId="2"/>
      <p:bldP spid="9" grpId="1"/>
      <p:bldP spid="13" grpId="0"/>
      <p:bldP spid="11" grpId="0"/>
      <p:bldP spid="27" grpId="0"/>
      <p:bldP spid="25" grpId="0"/>
      <p:bldP spid="26" grpId="0"/>
      <p:bldP spid="28" grpId="0"/>
      <p:bldP spid="29" grpId="0"/>
      <p:bldP spid="29" grpId="1"/>
      <p:bldP spid="29" grpId="2"/>
      <p:bldP spid="11" grpId="1"/>
      <p:bldP spid="13" grpId="1"/>
      <p:bldP spid="31" grpId="0"/>
      <p:bldP spid="30" grpId="0"/>
      <p:bldP spid="32" grpId="0"/>
      <p:bldP spid="33" grpId="0"/>
      <p:bldP spid="33" grpId="1"/>
      <p:bldP spid="33" grpId="2"/>
      <p:bldP spid="5" grpId="0"/>
      <p:bldP spid="35" grpId="0"/>
      <p:bldP spid="34" grpId="0"/>
      <p:bldP spid="36" grpId="0"/>
      <p:bldP spid="37" grpId="0"/>
      <p:bldP spid="37" grpId="1"/>
      <p:bldP spid="37" grpId="2"/>
      <p:bldP spid="11" grpId="2"/>
      <p:bldP spid="40" grpId="0"/>
      <p:bldP spid="38" grpId="0"/>
      <p:bldP spid="39" grpId="0"/>
      <p:bldP spid="41" grpId="0"/>
      <p:bldP spid="42" grpId="0"/>
      <p:bldP spid="42" grpId="1"/>
      <p:bldP spid="42" grpId="2"/>
      <p:bldP spid="11" grpId="3"/>
      <p:bldP spid="13" grpId="2"/>
      <p:bldP spid="44" grpId="0"/>
      <p:bldP spid="43" grpId="0"/>
      <p:bldP spid="45" grpId="0"/>
      <p:bldP spid="46" grpId="0"/>
      <p:bldP spid="46" grpId="1"/>
      <p:bldP spid="46" grpId="2"/>
      <p:bldP spid="5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DAB5B1C-D3B5-4D76-9488-99803A210DAE}"/>
              </a:ext>
            </a:extLst>
          </p:cNvPr>
          <p:cNvSpPr txBox="1"/>
          <p:nvPr/>
        </p:nvSpPr>
        <p:spPr>
          <a:xfrm>
            <a:off x="571500" y="323850"/>
            <a:ext cx="11049000" cy="57150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4213D"/>
                </a:solidFill>
                <a:latin typeface="Noto Sans CJK TC"/>
                <a:ea typeface="Noto Sans CJK TC"/>
              </a:rPr>
              <a:t>第二幕｜小明撥號，總機找到小華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BABBE2F-3001-4C67-A8E2-638AA05D1E23}"/>
              </a:ext>
            </a:extLst>
          </p:cNvPr>
          <p:cNvSpPr txBox="1"/>
          <p:nvPr/>
        </p:nvSpPr>
        <p:spPr>
          <a:xfrm>
            <a:off x="571500" y="981075"/>
            <a:ext cx="11049000" cy="3143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5B6575"/>
                </a:solidFill>
                <a:latin typeface="Noto Sans CJK TC"/>
                <a:ea typeface="Noto Sans CJK TC"/>
              </a:rPr>
              <a:t>雙方都已註冊。小明按下撥號鍵，SIP 請總機把電話送到小華。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94E2058F-8FF1-42B5-B9AA-A352CF9551C8}"/>
              </a:ext>
            </a:extLst>
          </p:cNvPr>
          <p:cNvSpPr/>
          <p:nvPr/>
        </p:nvSpPr>
        <p:spPr>
          <a:xfrm>
            <a:off x="361950" y="1562100"/>
            <a:ext cx="1181100" cy="723900"/>
          </a:xfrm>
          <a:prstGeom prst="roundRect">
            <a:avLst/>
          </a:prstGeom>
          <a:solidFill>
            <a:srgbClr val="E8F1F9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2877B5"/>
                </a:solidFill>
                <a:latin typeface="Noto Sans CJK TC"/>
                <a:ea typeface="Noto Sans CJK TC"/>
              </a:rPr>
              <a:t>小明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主叫 UE</a:t>
            </a:r>
          </a:p>
        </p:txBody>
      </p:sp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59627A06-18B3-4623-8130-DE1C5938C53F}"/>
              </a:ext>
            </a:extLst>
          </p:cNvPr>
          <p:cNvCxnSpPr/>
          <p:nvPr/>
        </p:nvCxnSpPr>
        <p:spPr>
          <a:xfrm>
            <a:off x="952500" y="2362200"/>
            <a:ext cx="0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7" name="Shape 7">
            <a:extLst>
              <a:ext uri="{FF2B5EF4-FFF2-40B4-BE49-F238E27FC236}">
                <a16:creationId xmlns:a16="http://schemas.microsoft.com/office/drawing/2014/main" id="{EBB3FDAE-EB01-475C-9A99-E4551C89655D}"/>
              </a:ext>
            </a:extLst>
          </p:cNvPr>
          <p:cNvSpPr/>
          <p:nvPr/>
        </p:nvSpPr>
        <p:spPr>
          <a:xfrm>
            <a:off x="1885950" y="1562100"/>
            <a:ext cx="1181100" cy="723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P-CSCF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主叫側接待</a:t>
            </a:r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FBED9837-67DA-462D-87C0-169A220EBED3}"/>
              </a:ext>
            </a:extLst>
          </p:cNvPr>
          <p:cNvCxnSpPr/>
          <p:nvPr/>
        </p:nvCxnSpPr>
        <p:spPr>
          <a:xfrm>
            <a:off x="2476500" y="2362200"/>
            <a:ext cx="0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9" name="Shape 9">
            <a:extLst>
              <a:ext uri="{FF2B5EF4-FFF2-40B4-BE49-F238E27FC236}">
                <a16:creationId xmlns:a16="http://schemas.microsoft.com/office/drawing/2014/main" id="{80FD10AD-3AF6-4789-98BF-C39D4D7A88D9}"/>
              </a:ext>
            </a:extLst>
          </p:cNvPr>
          <p:cNvSpPr/>
          <p:nvPr/>
        </p:nvSpPr>
        <p:spPr>
          <a:xfrm>
            <a:off x="3409950" y="1562100"/>
            <a:ext cx="1181100" cy="723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I-CSCF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總機</a:t>
            </a:r>
          </a:p>
        </p:txBody>
      </p:sp>
      <p:cxnSp>
        <p:nvCxnSpPr>
          <p:cNvPr id="10" name="Straight Connector 10">
            <a:extLst>
              <a:ext uri="{FF2B5EF4-FFF2-40B4-BE49-F238E27FC236}">
                <a16:creationId xmlns:a16="http://schemas.microsoft.com/office/drawing/2014/main" id="{57DA48F7-966F-4295-8876-CD10D3543F78}"/>
              </a:ext>
            </a:extLst>
          </p:cNvPr>
          <p:cNvCxnSpPr/>
          <p:nvPr/>
        </p:nvCxnSpPr>
        <p:spPr>
          <a:xfrm>
            <a:off x="4000500" y="2362200"/>
            <a:ext cx="0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11" name="Shape 11">
            <a:extLst>
              <a:ext uri="{FF2B5EF4-FFF2-40B4-BE49-F238E27FC236}">
                <a16:creationId xmlns:a16="http://schemas.microsoft.com/office/drawing/2014/main" id="{AF0F9928-1B72-470F-A8AA-A00C575117AA}"/>
              </a:ext>
            </a:extLst>
          </p:cNvPr>
          <p:cNvSpPr/>
          <p:nvPr/>
        </p:nvSpPr>
        <p:spPr>
          <a:xfrm>
            <a:off x="4933950" y="1562100"/>
            <a:ext cx="1181100" cy="723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S-CSCF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被叫承辦人</a:t>
            </a:r>
          </a:p>
        </p:txBody>
      </p:sp>
      <p:cxnSp>
        <p:nvCxnSpPr>
          <p:cNvPr id="12" name="Straight Connector 12">
            <a:extLst>
              <a:ext uri="{FF2B5EF4-FFF2-40B4-BE49-F238E27FC236}">
                <a16:creationId xmlns:a16="http://schemas.microsoft.com/office/drawing/2014/main" id="{4F81B352-1AB0-4746-AB81-DB52D6523968}"/>
              </a:ext>
            </a:extLst>
          </p:cNvPr>
          <p:cNvCxnSpPr/>
          <p:nvPr/>
        </p:nvCxnSpPr>
        <p:spPr>
          <a:xfrm>
            <a:off x="5524500" y="2362200"/>
            <a:ext cx="0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13" name="Shape 13">
            <a:extLst>
              <a:ext uri="{FF2B5EF4-FFF2-40B4-BE49-F238E27FC236}">
                <a16:creationId xmlns:a16="http://schemas.microsoft.com/office/drawing/2014/main" id="{7138CA8A-3343-4337-B964-DB57C64D0C8D}"/>
              </a:ext>
            </a:extLst>
          </p:cNvPr>
          <p:cNvSpPr/>
          <p:nvPr/>
        </p:nvSpPr>
        <p:spPr>
          <a:xfrm>
            <a:off x="6457950" y="1562100"/>
            <a:ext cx="1181100" cy="723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P-CSCF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被叫側接待</a:t>
            </a:r>
          </a:p>
        </p:txBody>
      </p:sp>
      <p:cxnSp>
        <p:nvCxnSpPr>
          <p:cNvPr id="14" name="Straight Connector 14">
            <a:extLst>
              <a:ext uri="{FF2B5EF4-FFF2-40B4-BE49-F238E27FC236}">
                <a16:creationId xmlns:a16="http://schemas.microsoft.com/office/drawing/2014/main" id="{DEDF6646-CBD6-4470-87BD-2A2CA6A153DB}"/>
              </a:ext>
            </a:extLst>
          </p:cNvPr>
          <p:cNvCxnSpPr/>
          <p:nvPr/>
        </p:nvCxnSpPr>
        <p:spPr>
          <a:xfrm>
            <a:off x="7048500" y="2362200"/>
            <a:ext cx="0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15" name="Shape 15">
            <a:extLst>
              <a:ext uri="{FF2B5EF4-FFF2-40B4-BE49-F238E27FC236}">
                <a16:creationId xmlns:a16="http://schemas.microsoft.com/office/drawing/2014/main" id="{D4816E92-40BE-447E-B5F8-A652EFC57C8C}"/>
              </a:ext>
            </a:extLst>
          </p:cNvPr>
          <p:cNvSpPr/>
          <p:nvPr/>
        </p:nvSpPr>
        <p:spPr>
          <a:xfrm>
            <a:off x="7981950" y="1562100"/>
            <a:ext cx="1181100" cy="723900"/>
          </a:xfrm>
          <a:prstGeom prst="roundRect">
            <a:avLst/>
          </a:prstGeom>
          <a:solidFill>
            <a:srgbClr val="E8F1F9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2877B5"/>
                </a:solidFill>
                <a:latin typeface="Noto Sans CJK TC"/>
                <a:ea typeface="Noto Sans CJK TC"/>
              </a:rPr>
              <a:t>小華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被叫 UE</a:t>
            </a:r>
          </a:p>
        </p:txBody>
      </p:sp>
      <p:cxnSp>
        <p:nvCxnSpPr>
          <p:cNvPr id="16" name="Straight Connector 16">
            <a:extLst>
              <a:ext uri="{FF2B5EF4-FFF2-40B4-BE49-F238E27FC236}">
                <a16:creationId xmlns:a16="http://schemas.microsoft.com/office/drawing/2014/main" id="{7DB7C15D-3F2B-47F9-B355-388FBF98D9B1}"/>
              </a:ext>
            </a:extLst>
          </p:cNvPr>
          <p:cNvCxnSpPr/>
          <p:nvPr/>
        </p:nvCxnSpPr>
        <p:spPr>
          <a:xfrm>
            <a:off x="8572500" y="2362200"/>
            <a:ext cx="0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17" name="Shape 17">
            <a:extLst>
              <a:ext uri="{FF2B5EF4-FFF2-40B4-BE49-F238E27FC236}">
                <a16:creationId xmlns:a16="http://schemas.microsoft.com/office/drawing/2014/main" id="{2488D709-6F06-474D-8041-8A3A43EA7C25}"/>
              </a:ext>
            </a:extLst>
          </p:cNvPr>
          <p:cNvSpPr/>
          <p:nvPr/>
        </p:nvSpPr>
        <p:spPr>
          <a:xfrm>
            <a:off x="9620250" y="1562100"/>
            <a:ext cx="1905000" cy="723900"/>
          </a:xfrm>
          <a:prstGeom prst="roundRect">
            <a:avLst/>
          </a:prstGeom>
          <a:solidFill>
            <a:srgbClr val="FCEBDD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HSS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知道承辦人在哪</a:t>
            </a:r>
          </a:p>
        </p:txBody>
      </p:sp>
      <p:cxnSp>
        <p:nvCxnSpPr>
          <p:cNvPr id="18" name="Straight Connector 18">
            <a:extLst>
              <a:ext uri="{FF2B5EF4-FFF2-40B4-BE49-F238E27FC236}">
                <a16:creationId xmlns:a16="http://schemas.microsoft.com/office/drawing/2014/main" id="{22113FF4-1D82-4FA0-8504-22345A38F15B}"/>
              </a:ext>
            </a:extLst>
          </p:cNvPr>
          <p:cNvCxnSpPr/>
          <p:nvPr/>
        </p:nvCxnSpPr>
        <p:spPr>
          <a:xfrm>
            <a:off x="10572750" y="2362200"/>
            <a:ext cx="0" cy="11239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cxnSp>
        <p:nvCxnSpPr>
          <p:cNvPr id="19" name="Straight Connector 19">
            <a:extLst>
              <a:ext uri="{FF2B5EF4-FFF2-40B4-BE49-F238E27FC236}">
                <a16:creationId xmlns:a16="http://schemas.microsoft.com/office/drawing/2014/main" id="{EE013DEF-3806-4C7B-879B-673366B79109}"/>
              </a:ext>
            </a:extLst>
          </p:cNvPr>
          <p:cNvCxnSpPr/>
          <p:nvPr/>
        </p:nvCxnSpPr>
        <p:spPr>
          <a:xfrm>
            <a:off x="952500" y="2857500"/>
            <a:ext cx="3048000" cy="0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20" name="TextBox 20">
            <a:extLst>
              <a:ext uri="{FF2B5EF4-FFF2-40B4-BE49-F238E27FC236}">
                <a16:creationId xmlns:a16="http://schemas.microsoft.com/office/drawing/2014/main" id="{BB75FDB3-5C0D-4015-BCD3-2E18AB83CA34}"/>
              </a:ext>
            </a:extLst>
          </p:cNvPr>
          <p:cNvSpPr txBox="1"/>
          <p:nvPr/>
        </p:nvSpPr>
        <p:spPr>
          <a:xfrm>
            <a:off x="1066800" y="2590800"/>
            <a:ext cx="287655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INVITE + SDP offer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BBC615D-B6E3-485D-878A-FC9C9AF49D30}"/>
              </a:ext>
            </a:extLst>
          </p:cNvPr>
          <p:cNvSpPr txBox="1"/>
          <p:nvPr/>
        </p:nvSpPr>
        <p:spPr>
          <a:xfrm>
            <a:off x="9153525" y="2590800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① 小明：請幫我找小華。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SDP 說明我的媒體位址。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3F8E3945-C09A-4174-ACC3-4DFD86529885}"/>
              </a:ext>
            </a:extLst>
          </p:cNvPr>
          <p:cNvSpPr/>
          <p:nvPr/>
        </p:nvSpPr>
        <p:spPr>
          <a:xfrm>
            <a:off x="876300" y="2781300"/>
            <a:ext cx="152400" cy="152400"/>
          </a:xfrm>
          <a:prstGeom prst="ellipse">
            <a:avLst/>
          </a:prstGeom>
          <a:solidFill>
            <a:srgbClr val="E8742A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23" name="Straight Connector 23">
            <a:extLst>
              <a:ext uri="{FF2B5EF4-FFF2-40B4-BE49-F238E27FC236}">
                <a16:creationId xmlns:a16="http://schemas.microsoft.com/office/drawing/2014/main" id="{109E06E4-EE70-4EAF-9146-41FBEB72191B}"/>
              </a:ext>
            </a:extLst>
          </p:cNvPr>
          <p:cNvCxnSpPr/>
          <p:nvPr/>
        </p:nvCxnSpPr>
        <p:spPr>
          <a:xfrm>
            <a:off x="4000500" y="3429000"/>
            <a:ext cx="6572250" cy="0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cxnSp>
        <p:nvCxnSpPr>
          <p:cNvPr id="24" name="Straight Connector 24">
            <a:extLst>
              <a:ext uri="{FF2B5EF4-FFF2-40B4-BE49-F238E27FC236}">
                <a16:creationId xmlns:a16="http://schemas.microsoft.com/office/drawing/2014/main" id="{585D2C7D-EE41-4EFF-BE6F-2A791AA40F2F}"/>
              </a:ext>
            </a:extLst>
          </p:cNvPr>
          <p:cNvCxnSpPr/>
          <p:nvPr/>
        </p:nvCxnSpPr>
        <p:spPr>
          <a:xfrm flipH="1">
            <a:off x="4000500" y="3486150"/>
            <a:ext cx="6572250" cy="0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25" name="TextBox 25">
            <a:extLst>
              <a:ext uri="{FF2B5EF4-FFF2-40B4-BE49-F238E27FC236}">
                <a16:creationId xmlns:a16="http://schemas.microsoft.com/office/drawing/2014/main" id="{AE779000-96DC-4AEC-AF96-F87039EAE995}"/>
              </a:ext>
            </a:extLst>
          </p:cNvPr>
          <p:cNvSpPr txBox="1"/>
          <p:nvPr/>
        </p:nvSpPr>
        <p:spPr>
          <a:xfrm>
            <a:off x="4143375" y="3162300"/>
            <a:ext cx="45720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LIR / LIA：小華在哪台 S-CSCF？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11AFE350-3722-4D7E-9073-44BCCD75CBD2}"/>
              </a:ext>
            </a:extLst>
          </p:cNvPr>
          <p:cNvSpPr txBox="1"/>
          <p:nvPr/>
        </p:nvSpPr>
        <p:spPr>
          <a:xfrm>
            <a:off x="9344025" y="2324100"/>
            <a:ext cx="24003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② HSS：找這台 S-CSCF。</a:t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8B9551AB-4DE1-4E9B-BEA9-F9151881B15D}"/>
              </a:ext>
            </a:extLst>
          </p:cNvPr>
          <p:cNvSpPr/>
          <p:nvPr/>
        </p:nvSpPr>
        <p:spPr>
          <a:xfrm>
            <a:off x="3924300" y="3352800"/>
            <a:ext cx="152400" cy="152400"/>
          </a:xfrm>
          <a:prstGeom prst="ellipse">
            <a:avLst/>
          </a:prstGeom>
          <a:solidFill>
            <a:srgbClr val="E8742A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28" name="Straight Connector 28">
            <a:extLst>
              <a:ext uri="{FF2B5EF4-FFF2-40B4-BE49-F238E27FC236}">
                <a16:creationId xmlns:a16="http://schemas.microsoft.com/office/drawing/2014/main" id="{E213FE81-B823-40AD-A24A-BCA46AFBDD03}"/>
              </a:ext>
            </a:extLst>
          </p:cNvPr>
          <p:cNvCxnSpPr/>
          <p:nvPr/>
        </p:nvCxnSpPr>
        <p:spPr>
          <a:xfrm>
            <a:off x="4000500" y="4000500"/>
            <a:ext cx="4572000" cy="0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29" name="TextBox 29">
            <a:extLst>
              <a:ext uri="{FF2B5EF4-FFF2-40B4-BE49-F238E27FC236}">
                <a16:creationId xmlns:a16="http://schemas.microsoft.com/office/drawing/2014/main" id="{6B6DDCB7-42F2-4D3D-BFF5-C797CBB5DCAD}"/>
              </a:ext>
            </a:extLst>
          </p:cNvPr>
          <p:cNvSpPr txBox="1"/>
          <p:nvPr/>
        </p:nvSpPr>
        <p:spPr>
          <a:xfrm>
            <a:off x="4114800" y="3733800"/>
            <a:ext cx="440055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INVITE → S-CSCF → Path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84569F17-15F5-4129-9D6D-74A0FD69E94D}"/>
              </a:ext>
            </a:extLst>
          </p:cNvPr>
          <p:cNvSpPr txBox="1"/>
          <p:nvPr/>
        </p:nvSpPr>
        <p:spPr>
          <a:xfrm>
            <a:off x="9153525" y="3733800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③ 承辦人：我有她的地址。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沿 Path 經接待送到小華。</a:t>
            </a: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446FC23D-0632-4001-8117-C5AB3A2AA439}"/>
              </a:ext>
            </a:extLst>
          </p:cNvPr>
          <p:cNvSpPr/>
          <p:nvPr/>
        </p:nvSpPr>
        <p:spPr>
          <a:xfrm>
            <a:off x="3924300" y="3924300"/>
            <a:ext cx="152400" cy="152400"/>
          </a:xfrm>
          <a:prstGeom prst="ellipse">
            <a:avLst/>
          </a:prstGeom>
          <a:solidFill>
            <a:srgbClr val="E8742A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32" name="Straight Connector 32">
            <a:extLst>
              <a:ext uri="{FF2B5EF4-FFF2-40B4-BE49-F238E27FC236}">
                <a16:creationId xmlns:a16="http://schemas.microsoft.com/office/drawing/2014/main" id="{9746232C-0E9D-4548-97D2-D3E58DE9496C}"/>
              </a:ext>
            </a:extLst>
          </p:cNvPr>
          <p:cNvCxnSpPr/>
          <p:nvPr/>
        </p:nvCxnSpPr>
        <p:spPr>
          <a:xfrm flipH="1">
            <a:off x="952500" y="4572000"/>
            <a:ext cx="7620000" cy="0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33" name="TextBox 33">
            <a:extLst>
              <a:ext uri="{FF2B5EF4-FFF2-40B4-BE49-F238E27FC236}">
                <a16:creationId xmlns:a16="http://schemas.microsoft.com/office/drawing/2014/main" id="{7FBB54F5-B165-4232-A1CE-AD04488E8C73}"/>
              </a:ext>
            </a:extLst>
          </p:cNvPr>
          <p:cNvSpPr txBox="1"/>
          <p:nvPr/>
        </p:nvSpPr>
        <p:spPr>
          <a:xfrm>
            <a:off x="1066800" y="4305300"/>
            <a:ext cx="744855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180 Ringing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93E0C663-FE2E-4B49-BF02-9298A2775BAF}"/>
              </a:ext>
            </a:extLst>
          </p:cNvPr>
          <p:cNvSpPr txBox="1"/>
          <p:nvPr/>
        </p:nvSpPr>
        <p:spPr>
          <a:xfrm>
            <a:off x="9153525" y="4305300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④ 小華的手機開始響鈴。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小明得知對方正在響鈴。</a:t>
            </a:r>
          </a:p>
        </p:txBody>
      </p:sp>
      <p:sp>
        <p:nvSpPr>
          <p:cNvPr id="35" name="Shape 35">
            <a:extLst>
              <a:ext uri="{FF2B5EF4-FFF2-40B4-BE49-F238E27FC236}">
                <a16:creationId xmlns:a16="http://schemas.microsoft.com/office/drawing/2014/main" id="{A400FC5F-A01B-4873-937C-F7BE1BF25D7A}"/>
              </a:ext>
            </a:extLst>
          </p:cNvPr>
          <p:cNvSpPr/>
          <p:nvPr/>
        </p:nvSpPr>
        <p:spPr>
          <a:xfrm>
            <a:off x="8496300" y="4495800"/>
            <a:ext cx="152400" cy="152400"/>
          </a:xfrm>
          <a:prstGeom prst="ellipse">
            <a:avLst/>
          </a:prstGeom>
          <a:solidFill>
            <a:srgbClr val="E8742A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36" name="Straight Connector 36">
            <a:extLst>
              <a:ext uri="{FF2B5EF4-FFF2-40B4-BE49-F238E27FC236}">
                <a16:creationId xmlns:a16="http://schemas.microsoft.com/office/drawing/2014/main" id="{28586DFE-404F-4903-9947-222A1C6A9C5B}"/>
              </a:ext>
            </a:extLst>
          </p:cNvPr>
          <p:cNvCxnSpPr/>
          <p:nvPr/>
        </p:nvCxnSpPr>
        <p:spPr>
          <a:xfrm flipH="1">
            <a:off x="952500" y="5143500"/>
            <a:ext cx="7620000" cy="0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37" name="TextBox 37">
            <a:extLst>
              <a:ext uri="{FF2B5EF4-FFF2-40B4-BE49-F238E27FC236}">
                <a16:creationId xmlns:a16="http://schemas.microsoft.com/office/drawing/2014/main" id="{D7C7E666-9A18-41DF-9783-E9641B215A59}"/>
              </a:ext>
            </a:extLst>
          </p:cNvPr>
          <p:cNvSpPr txBox="1"/>
          <p:nvPr/>
        </p:nvSpPr>
        <p:spPr>
          <a:xfrm>
            <a:off x="1066800" y="4876800"/>
            <a:ext cx="744855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200 OK + SDP answer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87214C10-0511-43F3-9671-7C72820E089E}"/>
              </a:ext>
            </a:extLst>
          </p:cNvPr>
          <p:cNvSpPr txBox="1"/>
          <p:nvPr/>
        </p:nvSpPr>
        <p:spPr>
          <a:xfrm>
            <a:off x="9153525" y="4876800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⑤ 小華：喂，我接聽了。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雙方媒體位址、codec 到齊。</a:t>
            </a:r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1EA4C447-E8BD-4F0D-A680-B11900C75583}"/>
              </a:ext>
            </a:extLst>
          </p:cNvPr>
          <p:cNvSpPr/>
          <p:nvPr/>
        </p:nvSpPr>
        <p:spPr>
          <a:xfrm>
            <a:off x="8496300" y="5067300"/>
            <a:ext cx="152400" cy="152400"/>
          </a:xfrm>
          <a:prstGeom prst="ellipse">
            <a:avLst/>
          </a:prstGeom>
          <a:solidFill>
            <a:srgbClr val="E8742A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40" name="Straight Connector 40">
            <a:extLst>
              <a:ext uri="{FF2B5EF4-FFF2-40B4-BE49-F238E27FC236}">
                <a16:creationId xmlns:a16="http://schemas.microsoft.com/office/drawing/2014/main" id="{0864DEE3-CD66-45C4-AFFD-78162C602E2C}"/>
              </a:ext>
            </a:extLst>
          </p:cNvPr>
          <p:cNvCxnSpPr/>
          <p:nvPr/>
        </p:nvCxnSpPr>
        <p:spPr>
          <a:xfrm>
            <a:off x="952500" y="5715000"/>
            <a:ext cx="7620000" cy="0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41" name="TextBox 41">
            <a:extLst>
              <a:ext uri="{FF2B5EF4-FFF2-40B4-BE49-F238E27FC236}">
                <a16:creationId xmlns:a16="http://schemas.microsoft.com/office/drawing/2014/main" id="{8E432C24-ECC5-4911-A718-812102025205}"/>
              </a:ext>
            </a:extLst>
          </p:cNvPr>
          <p:cNvSpPr txBox="1"/>
          <p:nvPr/>
        </p:nvSpPr>
        <p:spPr>
          <a:xfrm>
            <a:off x="1066800" y="5448300"/>
            <a:ext cx="744855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ACK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4F26C5BC-3673-444F-BE2D-C06D94FC08BE}"/>
              </a:ext>
            </a:extLst>
          </p:cNvPr>
          <p:cNvSpPr txBox="1"/>
          <p:nvPr/>
        </p:nvSpPr>
        <p:spPr>
          <a:xfrm>
            <a:off x="9153525" y="5448300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⑥ 小明：收到，開始說話。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通話已建立。</a:t>
            </a:r>
          </a:p>
        </p:txBody>
      </p:sp>
      <p:sp>
        <p:nvSpPr>
          <p:cNvPr id="43" name="Shape 43">
            <a:extLst>
              <a:ext uri="{FF2B5EF4-FFF2-40B4-BE49-F238E27FC236}">
                <a16:creationId xmlns:a16="http://schemas.microsoft.com/office/drawing/2014/main" id="{AC7FD793-868D-41D8-9119-937EF3BBD274}"/>
              </a:ext>
            </a:extLst>
          </p:cNvPr>
          <p:cNvSpPr/>
          <p:nvPr/>
        </p:nvSpPr>
        <p:spPr>
          <a:xfrm>
            <a:off x="876300" y="5638800"/>
            <a:ext cx="152400" cy="152400"/>
          </a:xfrm>
          <a:prstGeom prst="ellipse">
            <a:avLst/>
          </a:prstGeom>
          <a:solidFill>
            <a:srgbClr val="E8742A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DC004F2C-6841-4D50-A9A6-4EB2F8D65614}"/>
              </a:ext>
            </a:extLst>
          </p:cNvPr>
          <p:cNvSpPr txBox="1"/>
          <p:nvPr/>
        </p:nvSpPr>
        <p:spPr>
          <a:xfrm>
            <a:off x="571500" y="6257925"/>
            <a:ext cx="110490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5B6575"/>
                </a:solidFill>
                <a:latin typeface="Noto Sans CJK TC"/>
                <a:ea typeface="Noto Sans CJK TC"/>
              </a:rPr>
              <a:t>逐次點擊 6 次｜兩個 P 是本專案同一程序的兩個 leg。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5B6575"/>
                </a:solidFill>
                <a:latin typeface="Noto Sans CJK TC"/>
                <a:ea typeface="Noto Sans CJK TC"/>
              </a:rPr>
              <a:t>本頁依 PoC 路由；標準主叫先經 Service-Route 到主叫 S-CSCF。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202" fill="hold">
                      <p:stCondLst>
                        <p:cond delay="indefinite"/>
                      </p:stCondLst>
                      <p:childTnLst>
                        <p:par>
                          <p:cTn id="4203" fill="hold">
                            <p:stCondLst>
                              <p:cond delay="0"/>
                            </p:stCondLst>
                            <p:childTnLst>
                              <p:par>
                                <p:cTn id="41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4" dur="2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8" dur="2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82" dur="2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86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2500000 0.0000000 E" pathEditMode="relative">
                                      <p:cBhvr>
                                        <p:cTn id="4189" dur="2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90" presetID="1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94" presetID="26" presetClass="emph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4197" dur="21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4198" presetID="26" presetClass="emph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4201" dur="21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9" fill="hold">
                      <p:stCondLst>
                        <p:cond delay="indefinite"/>
                      </p:stCondLst>
                      <p:childTnLst>
                        <p:par>
                          <p:cTn id="4240" fill="hold">
                            <p:stCondLst>
                              <p:cond delay="0"/>
                            </p:stCondLst>
                            <p:childTnLst>
                              <p:par>
                                <p:cTn id="42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07" dur="2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1" dur="2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5" dur="2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9" dur="2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23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5390625 0.0000000 L 0.5390625 0.0083333 L 0.0000000 0.0083333 E" pathEditMode="relative">
                                      <p:cBhvr>
                                        <p:cTn id="4226" dur="2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27" presetID="1" presetClass="exit" presetSubtype="0" fill="hold" grpId="2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4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1" presetID="26" presetClass="emph" presetSubtype="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animScale>
                                      <p:cBhvr>
                                        <p:cTn id="4234" dur="21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4235" presetID="26" presetClass="emph" presetSubtype="0" fill="hold" grpId="1" nodeType="withEffect">
                                  <p:stCondLst>
                                    <p:cond delay="2900"/>
                                  </p:stCondLst>
                                  <p:childTnLst>
                                    <p:animScale>
                                      <p:cBhvr>
                                        <p:cTn id="4238" dur="21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76" fill="hold">
                      <p:stCondLst>
                        <p:cond delay="indefinite"/>
                      </p:stCondLst>
                      <p:childTnLst>
                        <p:par>
                          <p:cTn id="4277" fill="hold">
                            <p:stCondLst>
                              <p:cond delay="0"/>
                            </p:stCondLst>
                            <p:childTnLst>
                              <p:par>
                                <p:cTn id="42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4" dur="2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8" dur="2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52" dur="2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56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3750000 0.0000000 E" pathEditMode="relative">
                                      <p:cBhvr>
                                        <p:cTn id="4259" dur="22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60" presetID="1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64" presetID="26" presetClass="emph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4267" dur="21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4268" presetID="26" presetClass="emph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4271" dur="21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4272" presetID="26" presetClass="emph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4275" dur="21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9" fill="hold">
                      <p:stCondLst>
                        <p:cond delay="indefinite"/>
                      </p:stCondLst>
                      <p:childTnLst>
                        <p:par>
                          <p:cTn id="4310" fill="hold">
                            <p:stCondLst>
                              <p:cond delay="0"/>
                            </p:stCondLst>
                            <p:childTnLst>
                              <p:par>
                                <p:cTn id="42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81" dur="2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85" dur="2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89" dur="2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3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-0.6250000 0.0000000 E" pathEditMode="relative">
                                      <p:cBhvr>
                                        <p:cTn id="4296" dur="22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97" presetID="1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1" presetID="26" presetClass="emph" presetSubtype="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4304" dur="21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4305" presetID="26" presetClass="emph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4308" dur="21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38" fill="hold">
                      <p:stCondLst>
                        <p:cond delay="indefinite"/>
                      </p:stCondLst>
                      <p:childTnLst>
                        <p:par>
                          <p:cTn id="4339" fill="hold">
                            <p:stCondLst>
                              <p:cond delay="0"/>
                            </p:stCondLst>
                            <p:childTnLst>
                              <p:par>
                                <p:cTn id="43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14" dur="2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18" dur="2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22" dur="2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6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-0.6250000 0.0000000 E" pathEditMode="relative">
                                      <p:cBhvr>
                                        <p:cTn id="4329" dur="22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30" presetID="1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4" presetID="26" presetClass="emph" presetSubtype="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4337" dur="21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67" fill="hold">
                      <p:stCondLst>
                        <p:cond delay="indefinite"/>
                      </p:stCondLst>
                      <p:childTnLst>
                        <p:par>
                          <p:cTn id="4368" fill="hold">
                            <p:stCondLst>
                              <p:cond delay="0"/>
                            </p:stCondLst>
                            <p:childTnLst>
                              <p:par>
                                <p:cTn id="43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43" dur="2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47" dur="2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1" dur="2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5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6250000 0.0000000 E" pathEditMode="relative">
                                      <p:cBhvr>
                                        <p:cTn id="4358" dur="22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59" presetID="1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3" presetID="26" presetClass="emph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4366" dur="21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9" grpId="0"/>
      <p:bldP spid="21" grpId="0"/>
      <p:bldP spid="22" grpId="0"/>
      <p:bldP spid="22" grpId="1"/>
      <p:bldP spid="22" grpId="2"/>
      <p:bldP spid="7" grpId="0"/>
      <p:bldP spid="9" grpId="0"/>
      <p:bldP spid="25" grpId="0"/>
      <p:bldP spid="23" grpId="0"/>
      <p:bldP spid="24" grpId="0"/>
      <p:bldP spid="26" grpId="0"/>
      <p:bldP spid="27" grpId="0"/>
      <p:bldP spid="27" grpId="1"/>
      <p:bldP spid="27" grpId="2"/>
      <p:bldP spid="17" grpId="0"/>
      <p:bldP spid="9" grpId="1"/>
      <p:bldP spid="29" grpId="0"/>
      <p:bldP spid="28" grpId="0"/>
      <p:bldP spid="30" grpId="0"/>
      <p:bldP spid="31" grpId="0"/>
      <p:bldP spid="31" grpId="1"/>
      <p:bldP spid="31" grpId="2"/>
      <p:bldP spid="11" grpId="0"/>
      <p:bldP spid="13" grpId="0"/>
      <p:bldP spid="15" grpId="0"/>
      <p:bldP spid="33" grpId="0"/>
      <p:bldP spid="32" grpId="0"/>
      <p:bldP spid="34" grpId="0"/>
      <p:bldP spid="35" grpId="0"/>
      <p:bldP spid="35" grpId="1"/>
      <p:bldP spid="35" grpId="2"/>
      <p:bldP spid="15" grpId="1"/>
      <p:bldP spid="5" grpId="0"/>
      <p:bldP spid="37" grpId="0"/>
      <p:bldP spid="36" grpId="0"/>
      <p:bldP spid="38" grpId="0"/>
      <p:bldP spid="39" grpId="0"/>
      <p:bldP spid="39" grpId="1"/>
      <p:bldP spid="39" grpId="2"/>
      <p:bldP spid="5" grpId="1"/>
      <p:bldP spid="41" grpId="0"/>
      <p:bldP spid="40" grpId="0"/>
      <p:bldP spid="42" grpId="0"/>
      <p:bldP spid="43" grpId="0"/>
      <p:bldP spid="43" grpId="1"/>
      <p:bldP spid="43" grpId="2"/>
      <p:bldP spid="15" grpId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E9B330F6-0D96-4F69-9758-2BB2DC74A39A}"/>
              </a:ext>
            </a:extLst>
          </p:cNvPr>
          <p:cNvSpPr txBox="1"/>
          <p:nvPr/>
        </p:nvSpPr>
        <p:spPr>
          <a:xfrm>
            <a:off x="571500" y="323850"/>
            <a:ext cx="11049000" cy="57150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4213D"/>
                </a:solidFill>
                <a:latin typeface="Noto Sans CJK TC"/>
                <a:ea typeface="Noto Sans CJK TC"/>
              </a:rPr>
              <a:t>第三幕｜接通後，聲音走自己的路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D68ADE8-E1D9-426B-8D59-09477FBE81CB}"/>
              </a:ext>
            </a:extLst>
          </p:cNvPr>
          <p:cNvSpPr txBox="1"/>
          <p:nvPr/>
        </p:nvSpPr>
        <p:spPr>
          <a:xfrm>
            <a:off x="571500" y="981075"/>
            <a:ext cx="11049000" cy="3143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5B6575"/>
                </a:solidFill>
                <a:latin typeface="Noto Sans CJK TC"/>
                <a:ea typeface="Noto Sans CJK TC"/>
              </a:rPr>
              <a:t>P-CSCF 看到 200 OK 的 SDP answer 後申請 QoS；接著示意 ACK 後的雙向語音。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CEE74776-4F64-45A6-931A-10CE7DC124D6}"/>
              </a:ext>
            </a:extLst>
          </p:cNvPr>
          <p:cNvSpPr/>
          <p:nvPr/>
        </p:nvSpPr>
        <p:spPr>
          <a:xfrm>
            <a:off x="4095750" y="1571625"/>
            <a:ext cx="4000500" cy="838200"/>
          </a:xfrm>
          <a:prstGeom prst="roundRect">
            <a:avLst/>
          </a:prstGeom>
          <a:solidFill>
            <a:srgbClr val="FCEBDD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E8742A"/>
                </a:solidFill>
                <a:latin typeface="Noto Sans CJK TC"/>
                <a:ea typeface="Noto Sans CJK TC"/>
              </a:rPr>
              <a:t>P / I / S-CSCF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>
                <a:solidFill>
                  <a:srgbClr val="14213D"/>
                </a:solidFill>
                <a:latin typeface="Noto Sans CJK TC"/>
                <a:ea typeface="Noto Sans CJK TC"/>
              </a:rPr>
              <a:t>通話控制：接通、掛斷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F172EDD7-53F5-4F5D-8DDE-DDC9F68D96D7}"/>
              </a:ext>
            </a:extLst>
          </p:cNvPr>
          <p:cNvSpPr/>
          <p:nvPr/>
        </p:nvSpPr>
        <p:spPr>
          <a:xfrm>
            <a:off x="8934450" y="1571625"/>
            <a:ext cx="2705100" cy="857250"/>
          </a:xfrm>
          <a:prstGeom prst="roundRect">
            <a:avLst/>
          </a:prstGeom>
          <a:solidFill>
            <a:srgbClr val="E8F1F9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2877B5"/>
                </a:solidFill>
                <a:latin typeface="Noto Sans CJK TC"/>
                <a:ea typeface="Noto Sans CJK TC"/>
              </a:rPr>
              <a:t>AF shim → PCF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N5 → N7 / SMF → N4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兩端各一份語音規則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46193AC2-CCDD-4D62-911A-F46E1B86DAAD}"/>
              </a:ext>
            </a:extLst>
          </p:cNvPr>
          <p:cNvSpPr/>
          <p:nvPr/>
        </p:nvSpPr>
        <p:spPr>
          <a:xfrm>
            <a:off x="685800" y="3286125"/>
            <a:ext cx="1714500" cy="9239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2877B5"/>
                </a:solidFill>
                <a:latin typeface="Noto Sans CJK TC"/>
                <a:ea typeface="Noto Sans CJK TC"/>
              </a:rPr>
              <a:t>小明 UE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「喂，聽得到嗎？」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B1472B54-F882-4F6F-A7FA-9F95555BCB06}"/>
              </a:ext>
            </a:extLst>
          </p:cNvPr>
          <p:cNvSpPr/>
          <p:nvPr/>
        </p:nvSpPr>
        <p:spPr>
          <a:xfrm>
            <a:off x="5238750" y="3286125"/>
            <a:ext cx="1714500" cy="9239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2877B5"/>
                </a:solidFill>
                <a:latin typeface="Noto Sans CJK TC"/>
                <a:ea typeface="Noto Sans CJK TC"/>
              </a:rPr>
              <a:t>UPF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轉送真正的語音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53B5EA0E-62DD-4C86-9C86-5CCFE84B24A4}"/>
              </a:ext>
            </a:extLst>
          </p:cNvPr>
          <p:cNvSpPr/>
          <p:nvPr/>
        </p:nvSpPr>
        <p:spPr>
          <a:xfrm>
            <a:off x="9791700" y="3286125"/>
            <a:ext cx="1714500" cy="9239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2877B5"/>
                </a:solidFill>
                <a:latin typeface="Noto Sans CJK TC"/>
                <a:ea typeface="Noto Sans CJK TC"/>
              </a:rPr>
              <a:t>小華 UE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「聽到了！」</a:t>
            </a:r>
          </a:p>
        </p:txBody>
      </p:sp>
      <p:cxnSp>
        <p:nvCxnSpPr>
          <p:cNvPr id="10" name="Straight Connector 10">
            <a:extLst>
              <a:ext uri="{FF2B5EF4-FFF2-40B4-BE49-F238E27FC236}">
                <a16:creationId xmlns:a16="http://schemas.microsoft.com/office/drawing/2014/main" id="{25084430-331E-4DF8-AE79-779E0A64173E}"/>
              </a:ext>
            </a:extLst>
          </p:cNvPr>
          <p:cNvCxnSpPr/>
          <p:nvPr/>
        </p:nvCxnSpPr>
        <p:spPr>
          <a:xfrm>
            <a:off x="1543050" y="4438650"/>
            <a:ext cx="9105900" cy="0"/>
          </a:xfrm>
          <a:prstGeom prst="straightConnector1">
            <a:avLst/>
          </a:prstGeom>
          <a:ln w="20320" cap="flat">
            <a:solidFill>
              <a:srgbClr val="2877B5"/>
            </a:solidFill>
            <a:tailEnd type="triangle" w="med" len="med"/>
          </a:ln>
        </p:spPr>
      </p:cxnSp>
      <p:cxnSp>
        <p:nvCxnSpPr>
          <p:cNvPr id="11" name="Straight Connector 11">
            <a:extLst>
              <a:ext uri="{FF2B5EF4-FFF2-40B4-BE49-F238E27FC236}">
                <a16:creationId xmlns:a16="http://schemas.microsoft.com/office/drawing/2014/main" id="{B89294A5-82FF-4C5B-9D91-391159098261}"/>
              </a:ext>
            </a:extLst>
          </p:cNvPr>
          <p:cNvCxnSpPr/>
          <p:nvPr/>
        </p:nvCxnSpPr>
        <p:spPr>
          <a:xfrm flipH="1">
            <a:off x="1543050" y="4676775"/>
            <a:ext cx="9105900" cy="0"/>
          </a:xfrm>
          <a:prstGeom prst="straightConnector1">
            <a:avLst/>
          </a:prstGeom>
          <a:ln w="20320" cap="flat">
            <a:solidFill>
              <a:srgbClr val="2877B5"/>
            </a:solidFill>
            <a:tailEnd type="triangle" w="med" len="med"/>
          </a:ln>
        </p:spPr>
      </p:cxnSp>
      <p:sp>
        <p:nvSpPr>
          <p:cNvPr id="12" name="TextBox 12">
            <a:extLst>
              <a:ext uri="{FF2B5EF4-FFF2-40B4-BE49-F238E27FC236}">
                <a16:creationId xmlns:a16="http://schemas.microsoft.com/office/drawing/2014/main" id="{63E4A33E-BEB4-4C26-ABA4-ECEDE68845CB}"/>
              </a:ext>
            </a:extLst>
          </p:cNvPr>
          <p:cNvSpPr txBox="1"/>
          <p:nvPr/>
        </p:nvSpPr>
        <p:spPr>
          <a:xfrm>
            <a:off x="2667000" y="4219575"/>
            <a:ext cx="6858000" cy="209550"/>
          </a:xfrm>
        </p:spPr>
        <p:txBody>
          <a:bodyPr wrap="square" rtlCol="0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2877B5"/>
                </a:solidFill>
                <a:latin typeface="Noto Sans CJK TC"/>
                <a:ea typeface="Noto Sans CJK TC"/>
              </a:rPr>
              <a:t>RTP 語音：小明 ⇄ UPF ⇄ 小華（CSCF 不轉送聲音）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7A2A572D-0A16-4BFF-9F94-9A45F31F75CB}"/>
              </a:ext>
            </a:extLst>
          </p:cNvPr>
          <p:cNvSpPr/>
          <p:nvPr/>
        </p:nvSpPr>
        <p:spPr>
          <a:xfrm>
            <a:off x="1466850" y="4362450"/>
            <a:ext cx="152400" cy="152400"/>
          </a:xfrm>
          <a:prstGeom prst="ellipse">
            <a:avLst/>
          </a:prstGeom>
          <a:solidFill>
            <a:srgbClr val="2877B5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3C9A7011-8FEF-4C01-82B4-42AF43FC784B}"/>
              </a:ext>
            </a:extLst>
          </p:cNvPr>
          <p:cNvSpPr/>
          <p:nvPr/>
        </p:nvSpPr>
        <p:spPr>
          <a:xfrm>
            <a:off x="10572750" y="4600575"/>
            <a:ext cx="152400" cy="152400"/>
          </a:xfrm>
          <a:prstGeom prst="ellipse">
            <a:avLst/>
          </a:prstGeom>
          <a:solidFill>
            <a:srgbClr val="2877B5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15" name="Straight Connector 15">
            <a:extLst>
              <a:ext uri="{FF2B5EF4-FFF2-40B4-BE49-F238E27FC236}">
                <a16:creationId xmlns:a16="http://schemas.microsoft.com/office/drawing/2014/main" id="{44D163C0-F5A9-4EB2-877B-01C2A8DCC420}"/>
              </a:ext>
            </a:extLst>
          </p:cNvPr>
          <p:cNvCxnSpPr/>
          <p:nvPr/>
        </p:nvCxnSpPr>
        <p:spPr>
          <a:xfrm>
            <a:off x="8096250" y="2000250"/>
            <a:ext cx="838200" cy="0"/>
          </a:xfrm>
          <a:prstGeom prst="straightConnector1">
            <a:avLst/>
          </a:prstGeom>
          <a:ln w="20320" cap="flat">
            <a:solidFill>
              <a:srgbClr val="2877B5"/>
            </a:solidFill>
            <a:tailEnd type="triangle" w="med" len="med"/>
          </a:ln>
        </p:spPr>
      </p:cxnSp>
      <p:cxnSp>
        <p:nvCxnSpPr>
          <p:cNvPr id="16" name="Straight Connector 16">
            <a:extLst>
              <a:ext uri="{FF2B5EF4-FFF2-40B4-BE49-F238E27FC236}">
                <a16:creationId xmlns:a16="http://schemas.microsoft.com/office/drawing/2014/main" id="{A670C0D0-F7EE-4D05-9CCB-AA42CA51F7D4}"/>
              </a:ext>
            </a:extLst>
          </p:cNvPr>
          <p:cNvCxnSpPr/>
          <p:nvPr/>
        </p:nvCxnSpPr>
        <p:spPr>
          <a:xfrm>
            <a:off x="10287000" y="2428875"/>
            <a:ext cx="0" cy="552450"/>
          </a:xfrm>
          <a:prstGeom prst="line">
            <a:avLst/>
          </a:prstGeom>
          <a:ln w="20320" cap="flat">
            <a:solidFill>
              <a:srgbClr val="2877B5"/>
            </a:solidFill>
          </a:ln>
        </p:spPr>
      </p:cxnSp>
      <p:cxnSp>
        <p:nvCxnSpPr>
          <p:cNvPr id="17" name="Straight Connector 17">
            <a:extLst>
              <a:ext uri="{FF2B5EF4-FFF2-40B4-BE49-F238E27FC236}">
                <a16:creationId xmlns:a16="http://schemas.microsoft.com/office/drawing/2014/main" id="{EB42F5E4-E43B-45C3-8D0A-BBF165600E59}"/>
              </a:ext>
            </a:extLst>
          </p:cNvPr>
          <p:cNvCxnSpPr/>
          <p:nvPr/>
        </p:nvCxnSpPr>
        <p:spPr>
          <a:xfrm>
            <a:off x="6096000" y="2981325"/>
            <a:ext cx="4191000" cy="0"/>
          </a:xfrm>
          <a:prstGeom prst="line">
            <a:avLst/>
          </a:prstGeom>
          <a:ln w="20320" cap="flat">
            <a:solidFill>
              <a:srgbClr val="2877B5"/>
            </a:solidFill>
          </a:ln>
        </p:spPr>
      </p:cxnSp>
      <p:cxnSp>
        <p:nvCxnSpPr>
          <p:cNvPr id="18" name="Straight Connector 18">
            <a:extLst>
              <a:ext uri="{FF2B5EF4-FFF2-40B4-BE49-F238E27FC236}">
                <a16:creationId xmlns:a16="http://schemas.microsoft.com/office/drawing/2014/main" id="{99C3AB9A-F435-4731-A0F9-EE553D7ECD56}"/>
              </a:ext>
            </a:extLst>
          </p:cNvPr>
          <p:cNvCxnSpPr/>
          <p:nvPr/>
        </p:nvCxnSpPr>
        <p:spPr>
          <a:xfrm>
            <a:off x="6096000" y="2981325"/>
            <a:ext cx="0" cy="304800"/>
          </a:xfrm>
          <a:prstGeom prst="straightConnector1">
            <a:avLst/>
          </a:prstGeom>
          <a:ln w="20320" cap="flat">
            <a:solidFill>
              <a:srgbClr val="2877B5"/>
            </a:solidFill>
            <a:tailEnd type="triangle" w="med" len="med"/>
          </a:ln>
        </p:spPr>
      </p:cxnSp>
      <p:sp>
        <p:nvSpPr>
          <p:cNvPr id="19" name="Shape 19">
            <a:extLst>
              <a:ext uri="{FF2B5EF4-FFF2-40B4-BE49-F238E27FC236}">
                <a16:creationId xmlns:a16="http://schemas.microsoft.com/office/drawing/2014/main" id="{F343D861-4705-445F-9F7C-6A42DB4F580A}"/>
              </a:ext>
            </a:extLst>
          </p:cNvPr>
          <p:cNvSpPr/>
          <p:nvPr/>
        </p:nvSpPr>
        <p:spPr>
          <a:xfrm>
            <a:off x="8020050" y="1924050"/>
            <a:ext cx="152400" cy="152400"/>
          </a:xfrm>
          <a:prstGeom prst="ellipse">
            <a:avLst/>
          </a:prstGeom>
          <a:solidFill>
            <a:srgbClr val="2877B5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20" name="Straight Connector 20">
            <a:extLst>
              <a:ext uri="{FF2B5EF4-FFF2-40B4-BE49-F238E27FC236}">
                <a16:creationId xmlns:a16="http://schemas.microsoft.com/office/drawing/2014/main" id="{3481245C-D69B-437D-ACBB-8C70CE549AA4}"/>
              </a:ext>
            </a:extLst>
          </p:cNvPr>
          <p:cNvCxnSpPr/>
          <p:nvPr/>
        </p:nvCxnSpPr>
        <p:spPr>
          <a:xfrm>
            <a:off x="1543050" y="2552700"/>
            <a:ext cx="0" cy="733425"/>
          </a:xfrm>
          <a:prstGeom prst="line">
            <a:avLst/>
          </a:prstGeom>
          <a:ln w="20320" cap="flat">
            <a:solidFill>
              <a:srgbClr val="E8742A"/>
            </a:solidFill>
          </a:ln>
        </p:spPr>
      </p:cxnSp>
      <p:cxnSp>
        <p:nvCxnSpPr>
          <p:cNvPr id="21" name="Straight Connector 21">
            <a:extLst>
              <a:ext uri="{FF2B5EF4-FFF2-40B4-BE49-F238E27FC236}">
                <a16:creationId xmlns:a16="http://schemas.microsoft.com/office/drawing/2014/main" id="{A5966A63-4CB2-4E7F-9280-BD608CE51C14}"/>
              </a:ext>
            </a:extLst>
          </p:cNvPr>
          <p:cNvCxnSpPr/>
          <p:nvPr/>
        </p:nvCxnSpPr>
        <p:spPr>
          <a:xfrm>
            <a:off x="1543050" y="2552700"/>
            <a:ext cx="9105900" cy="0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cxnSp>
        <p:nvCxnSpPr>
          <p:cNvPr id="22" name="Straight Connector 22">
            <a:extLst>
              <a:ext uri="{FF2B5EF4-FFF2-40B4-BE49-F238E27FC236}">
                <a16:creationId xmlns:a16="http://schemas.microsoft.com/office/drawing/2014/main" id="{AFD28E0D-E438-4100-BB25-EA0E674FDB95}"/>
              </a:ext>
            </a:extLst>
          </p:cNvPr>
          <p:cNvCxnSpPr/>
          <p:nvPr/>
        </p:nvCxnSpPr>
        <p:spPr>
          <a:xfrm>
            <a:off x="10648950" y="2552700"/>
            <a:ext cx="0" cy="7334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cxnSp>
        <p:nvCxnSpPr>
          <p:cNvPr id="23" name="Straight Connector 23">
            <a:extLst>
              <a:ext uri="{FF2B5EF4-FFF2-40B4-BE49-F238E27FC236}">
                <a16:creationId xmlns:a16="http://schemas.microsoft.com/office/drawing/2014/main" id="{5E0FBC00-1D04-4ADE-9435-41BD5AD70044}"/>
              </a:ext>
            </a:extLst>
          </p:cNvPr>
          <p:cNvCxnSpPr/>
          <p:nvPr/>
        </p:nvCxnSpPr>
        <p:spPr>
          <a:xfrm>
            <a:off x="6096000" y="2409825"/>
            <a:ext cx="0" cy="142875"/>
          </a:xfrm>
          <a:prstGeom prst="line">
            <a:avLst/>
          </a:prstGeom>
          <a:ln w="20320" cap="flat">
            <a:solidFill>
              <a:srgbClr val="E8742A"/>
            </a:solidFill>
          </a:ln>
        </p:spPr>
      </p:cxnSp>
      <p:sp>
        <p:nvSpPr>
          <p:cNvPr id="24" name="TextBox 24">
            <a:extLst>
              <a:ext uri="{FF2B5EF4-FFF2-40B4-BE49-F238E27FC236}">
                <a16:creationId xmlns:a16="http://schemas.microsoft.com/office/drawing/2014/main" id="{93966CC3-FC50-430B-9FD5-A4A0AA5DE9FC}"/>
              </a:ext>
            </a:extLst>
          </p:cNvPr>
          <p:cNvSpPr txBox="1"/>
          <p:nvPr/>
        </p:nvSpPr>
        <p:spPr>
          <a:xfrm>
            <a:off x="4048125" y="2619375"/>
            <a:ext cx="4476750" cy="257175"/>
          </a:xfrm>
        </p:spPr>
        <p:txBody>
          <a:bodyPr wrap="square" rtlCol="0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BYE / 200 OK：仍經既有的 SIP 路徑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1173D2F-F82C-4186-90E0-9A1931B829E0}"/>
              </a:ext>
            </a:extLst>
          </p:cNvPr>
          <p:cNvSpPr/>
          <p:nvPr/>
        </p:nvSpPr>
        <p:spPr>
          <a:xfrm>
            <a:off x="1466850" y="3209925"/>
            <a:ext cx="152400" cy="152400"/>
          </a:xfrm>
          <a:prstGeom prst="ellipse">
            <a:avLst/>
          </a:prstGeom>
          <a:solidFill>
            <a:srgbClr val="E8742A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5EAACA50-EDFC-4F2C-B279-AB3B210F529D}"/>
              </a:ext>
            </a:extLst>
          </p:cNvPr>
          <p:cNvSpPr/>
          <p:nvPr/>
        </p:nvSpPr>
        <p:spPr>
          <a:xfrm>
            <a:off x="571500" y="5105400"/>
            <a:ext cx="3495675" cy="981075"/>
          </a:xfrm>
          <a:prstGeom prst="roundRect">
            <a:avLst/>
          </a:prstGeom>
          <a:solidFill>
            <a:srgbClr val="E8F1F9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2877B5"/>
                </a:solidFill>
                <a:latin typeface="Noto Sans CJK TC"/>
                <a:ea typeface="Noto Sans CJK TC"/>
              </a:rPr>
              <a:t>① 接聽：向 5GC 申請 QoS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P-CSCF 讀 SDP，經 AF shim 送 N5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媒體用 5QI 1，信令維持 5QI 5</a:t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8D9F3B94-5A61-4F87-9ED8-4C6410FD6EC9}"/>
              </a:ext>
            </a:extLst>
          </p:cNvPr>
          <p:cNvSpPr/>
          <p:nvPr/>
        </p:nvSpPr>
        <p:spPr>
          <a:xfrm>
            <a:off x="4352925" y="5105400"/>
            <a:ext cx="3495675" cy="981075"/>
          </a:xfrm>
          <a:prstGeom prst="roundRect">
            <a:avLst/>
          </a:prstGeom>
          <a:solidFill>
            <a:srgbClr val="E8F1F9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2877B5"/>
                </a:solidFill>
                <a:latin typeface="Noto Sans CJK TC"/>
                <a:ea typeface="Noto Sans CJK TC"/>
              </a:rPr>
              <a:t>② 說話：RTP 雙向傳送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本專案在 UPF 內轉給另一個 UE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IMS 管通話，UPF 搬語音封包</a:t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BA7DB63F-2DC4-4ABD-914C-4A139C99B70D}"/>
              </a:ext>
            </a:extLst>
          </p:cNvPr>
          <p:cNvSpPr/>
          <p:nvPr/>
        </p:nvSpPr>
        <p:spPr>
          <a:xfrm>
            <a:off x="8134350" y="5105400"/>
            <a:ext cx="3495675" cy="981075"/>
          </a:xfrm>
          <a:prstGeom prst="roundRect">
            <a:avLst/>
          </a:prstGeom>
          <a:solidFill>
            <a:srgbClr val="FCEBDD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③ 掛斷：BYE 並釋放 QoS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結束通話，釋放兩端媒體預留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IMS 註冊與 PDU session 仍保留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73C6280B-A62B-4148-BBBF-E5CE2F243550}"/>
              </a:ext>
            </a:extLst>
          </p:cNvPr>
          <p:cNvSpPr txBox="1"/>
          <p:nvPr/>
        </p:nvSpPr>
        <p:spPr>
          <a:xfrm>
            <a:off x="571500" y="6343650"/>
            <a:ext cx="11049000" cy="2857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5B6575"/>
                </a:solidFill>
                <a:latin typeface="Noto Sans CJK TC"/>
                <a:ea typeface="Noto Sans CJK TC"/>
              </a:rPr>
              <a:t>逐次點擊 3 次｜省略 gNB／N3；本 PoC 驗證 QoS 規則存在，未驗證 GBR 實際限速。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45" fill="hold">
                      <p:stCondLst>
                        <p:cond delay="indefinite"/>
                      </p:stCondLst>
                      <p:childTnLst>
                        <p:par>
                          <p:cTn id="2946" fill="hold">
                            <p:stCondLst>
                              <p:cond delay="0"/>
                            </p:stCondLst>
                            <p:childTnLst>
                              <p:par>
                                <p:cTn id="29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9" dur="2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3" dur="2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7" dur="2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1" dur="2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5" dur="2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9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1796875 0.0000000 L 0.1796875 0.1430556 L -0.1640625 0.1430556 L -0.1640625 0.1875000 E" pathEditMode="relative">
                                      <p:cBhvr>
                                        <p:cTn id="2932" dur="2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33" presetID="1" presetClass="exit" presetSubtype="0" fill="hold" grpId="2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9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7" presetID="26" presetClass="emph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animScale>
                                      <p:cBhvr>
                                        <p:cTn id="2940" dur="21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2941" presetID="26" presetClass="emph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animScale>
                                      <p:cBhvr>
                                        <p:cTn id="2944" dur="21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3" fill="hold">
                      <p:stCondLst>
                        <p:cond delay="indefinite"/>
                      </p:stCondLst>
                      <p:childTnLst>
                        <p:par>
                          <p:cTn id="2994" fill="hold">
                            <p:stCondLst>
                              <p:cond delay="0"/>
                            </p:stCondLst>
                            <p:childTnLst>
                              <p:par>
                                <p:cTn id="29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0" dur="2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4" dur="2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8" dur="2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2" dur="2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9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7468750 0.0000000 E" pathEditMode="relative">
                                      <p:cBhvr>
                                        <p:cTn id="2972" dur="2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73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-0.7468750 0.0000000 E" pathEditMode="relative">
                                      <p:cBhvr>
                                        <p:cTn id="2976" dur="2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77" presetID="1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9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1" presetID="1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9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5" presetID="26" presetClass="emph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2988" dur="21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2989" presetID="26" presetClass="emph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2992" dur="21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4" fill="hold">
                      <p:stCondLst>
                        <p:cond delay="indefinite"/>
                      </p:stCondLst>
                      <p:childTnLst>
                        <p:par>
                          <p:cTn id="3055" fill="hold">
                            <p:stCondLst>
                              <p:cond delay="0"/>
                            </p:stCondLst>
                            <p:childTnLst>
                              <p:par>
                                <p:cTn id="29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8" dur="2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2" dur="2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6" dur="2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0" dur="2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4" dur="2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8" dur="2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2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2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26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2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3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2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4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0000000 -0.1069444 L 0.7468750 -0.1069444 L 0.7468750 0.0000000 L 0.7468750 -0.1069444 L 0.0000000 -0.1069444 L 0.0000000 0.0000000 E" pathEditMode="relative">
                                      <p:cBhvr>
                                        <p:cTn id="3037" dur="2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38" presetID="1" presetClass="exit" presetSubtype="0" fill="hold" grpId="2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30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2" presetID="26" presetClass="emph" presetSubtype="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animScale>
                                      <p:cBhvr>
                                        <p:cTn id="3045" dur="21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3046" presetID="26" presetClass="emph" presetSubtype="0" fill="hold" grpId="1" nodeType="withEffect">
                                  <p:stCondLst>
                                    <p:cond delay="3100"/>
                                  </p:stCondLst>
                                  <p:childTnLst>
                                    <p:animScale>
                                      <p:cBhvr>
                                        <p:cTn id="3049" dur="21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3050" presetID="26" presetClass="emph" presetSubtype="0" fill="hold" grpId="1" nodeType="withEffect">
                                  <p:stCondLst>
                                    <p:cond delay="3100"/>
                                  </p:stCondLst>
                                  <p:childTnLst>
                                    <p:animScale>
                                      <p:cBhvr>
                                        <p:cTn id="3053" dur="21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15" grpId="0"/>
      <p:bldP spid="16" grpId="0"/>
      <p:bldP spid="17" grpId="0"/>
      <p:bldP spid="18" grpId="0"/>
      <p:bldP spid="19" grpId="0"/>
      <p:bldP spid="19" grpId="1"/>
      <p:bldP spid="19" grpId="2"/>
      <p:bldP spid="6" grpId="0"/>
      <p:bldP spid="8" grpId="0"/>
      <p:bldP spid="27" grpId="0"/>
      <p:bldP spid="10" grpId="0"/>
      <p:bldP spid="11" grpId="0"/>
      <p:bldP spid="12" grpId="0"/>
      <p:bldP spid="13" grpId="0"/>
      <p:bldP spid="14" grpId="0"/>
      <p:bldP spid="13" grpId="1"/>
      <p:bldP spid="14" grpId="1"/>
      <p:bldP spid="13" grpId="2"/>
      <p:bldP spid="14" grpId="2"/>
      <p:bldP spid="7" grpId="0"/>
      <p:bldP spid="9" grpId="0"/>
      <p:bldP spid="28" grpId="0"/>
      <p:bldP spid="20" grpId="0"/>
      <p:bldP spid="21" grpId="0"/>
      <p:bldP spid="22" grpId="0"/>
      <p:bldP spid="23" grpId="0"/>
      <p:bldP spid="24" grpId="0"/>
      <p:bldP spid="10" grpId="1"/>
      <p:bldP spid="11" grpId="1"/>
      <p:bldP spid="12" grpId="1"/>
      <p:bldP spid="25" grpId="0"/>
      <p:bldP spid="25" grpId="1"/>
      <p:bldP spid="25" grpId="2"/>
      <p:bldP spid="5" grpId="0"/>
      <p:bldP spid="6" grpId="1"/>
      <p:bldP spid="8" grpId="1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