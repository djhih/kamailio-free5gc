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5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第一幕：講者可在每次點擊後停下來說明，共 7 次點擊。</a:t>
            </a:r>
          </a:p>
          <a:p>
            <a:r>
              <a:rPr lang="zh-CN" dirty="0"/>
              <a:t>前提：5G 註冊、ims PDU session 和 P-CSCF 探索已完成；這不是 5G-AKA 的動畫。</a:t>
            </a:r>
          </a:p>
          <a:p>
            <a:r>
              <a:rPr lang="zh-CN" dirty="0"/>
              <a:t>1. 小明向 P-CSCF 發 REGISTER，P 加 Path，再轉 I-CSCF。</a:t>
            </a:r>
          </a:p>
          <a:p>
            <a:r>
              <a:rPr lang="zh-CN" dirty="0"/>
              <a:t>2. I-CSCF 以 UAR/UAA 查 HSS，選定 S-CSCF 後把 REGISTER 轉過去。為保持畫面簡潔，此段轉送用對白及 S-CSCF 強調表示。</a:t>
            </a:r>
          </a:p>
          <a:p>
            <a:r>
              <a:rPr lang="zh-CN" dirty="0"/>
              <a:t>3. S-CSCF 用 MAR/MAA 向 HSS 取得 IMS AKA 向量。</a:t>
            </a:r>
          </a:p>
          <a:p>
            <a:r>
              <a:rPr lang="zh-CN" dirty="0"/>
              <a:t>4. S-CSCF 回 401，挑戰中的 nonce 承載 RAND、AUTN；這是正常的認證流程。回程經 I、P。</a:t>
            </a:r>
          </a:p>
          <a:p>
            <a:r>
              <a:rPr lang="zh-CN" dirty="0"/>
              <a:t>5. SIM 驗 AUTN、算 RES，以 RES 產生 AKAv1-MD5 的 Digest response，再放入 Authorization 送第二次 REGISTER；不是裸送 RES。圖省略各跳重傳與 SIM 計算細節。</a:t>
            </a:r>
          </a:p>
          <a:p>
            <a:r>
              <a:rPr lang="zh-CN" dirty="0"/>
              <a:t>6. 認證通過後 SAR/SAA 登記 serving S-CSCF 並取 profile；S-CSCF 保存 IMPU、Contact、Path。</a:t>
            </a:r>
          </a:p>
          <a:p>
            <a:r>
              <a:rPr lang="zh-CN" dirty="0"/>
              <a:t>7. 200 OK 經 I、P 回 UE，P-CSCF 也記錄成功的註冊。小華先完成同樣流程，接著才進入下一幕。</a:t>
            </a:r>
          </a:p>
          <a:p>
            <a:r>
              <a:rPr lang="zh-CN" dirty="0"/>
              <a:t>安全概念：K 只留在 SIM/HSS；HSS 的 XRES 不送到 UE。標準服務邏輯與簡化專案路由有差異。</a:t>
            </a:r>
          </a:p>
          <a:p>
            <a:r>
              <a:rPr lang="zh-CN" dirty="0"/>
              <a:t>依據：原簡報第 7、9、10 頁；kamailio-free5gc/pcscf/kamailio.cfg、icscf/kamailio.cfg、scscf/kamailio.cfg。</a:t>
            </a:r>
          </a:p>
          <a:p>
            <a:r>
              <a:rPr lang="zh-CN" dirty="0"/>
              <a:t>官方參考：https://www.kamailio.org/docs/modules/stable/modules/ims_registrar_pcscf.html</a:t>
            </a:r>
          </a:p>
          <a:p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第二幕：共 6 次點擊。雙方已註冊；在此只教一通成功通話。</a:t>
            </a:r>
          </a:p>
          <a:p>
            <a:r>
              <a:rPr lang="zh-CN" dirty="0"/>
              <a:t>1. 小明發 INVITE，body 的 SDP offer 帶媒體位址、埠及 codec 提案；P-CSCF 依本專案配置送 I-CSCF。</a:t>
            </a:r>
          </a:p>
          <a:p>
            <a:r>
              <a:rPr lang="zh-CN" dirty="0"/>
              <a:t>2. I-CSCF 以 LIR/LIA 查 HSS 的被叫 serving S-CSCF 資料。HSS 查詢是 Diameter Cx，不是 SIP。</a:t>
            </a:r>
          </a:p>
          <a:p>
            <a:r>
              <a:rPr lang="zh-CN" dirty="0"/>
              <a:t>3. I 轉 INVITE 到 S；S 用被叫 IMPU 找 Contact，沿註冊保存的 Path 經被叫 P-CSCF 送小華。</a:t>
            </a:r>
          </a:p>
          <a:p>
            <a:r>
              <a:rPr lang="zh-CN" dirty="0"/>
              <a:t>4. 180 Ringing 回主叫，代表響鈴；省略 100 Trying。</a:t>
            </a:r>
          </a:p>
          <a:p>
            <a:r>
              <a:rPr lang="zh-CN" dirty="0"/>
              <a:t>5. 小華接聽回 200 OK + SDP answer，P-CSCF 此時收齊 offer/answer，觸發下一幕的 N5 預留。</a:t>
            </a:r>
          </a:p>
          <a:p>
            <a:r>
              <a:rPr lang="zh-CN" dirty="0"/>
              <a:t>6. 小明回 ACK。應答沿 Via；ACK 與之後的 BYE 依對話 route set 路由。</a:t>
            </a:r>
          </a:p>
          <a:p>
            <a:r>
              <a:rPr lang="zh-CN" dirty="0"/>
              <a:t>畫面中兩個 P-CSCF 是同一個 Kamailio 程序分別處理主叫、被叫兩個 leg；每端有自己的 PDU session，因此兩端各申請 QoS。</a:t>
            </a:r>
          </a:p>
          <a:p>
            <a:r>
              <a:rPr lang="zh-CN" dirty="0"/>
              <a:t>本圖忠實呈現 PoC 的主叫 P→I→S 路由。標準 IMS 主叫一般先依 Service-Route 到主叫 S-CSCF，再處理被叫側；不要把這個 PoC 當所有營運商網路的完整通話流程。</a:t>
            </a:r>
          </a:p>
          <a:p>
            <a:r>
              <a:rPr lang="zh-CN" dirty="0"/>
              <a:t>省略 183、PRACK、preconditions、AS/TAS 與跨網互通。</a:t>
            </a:r>
          </a:p>
          <a:p>
            <a:r>
              <a:rPr lang="zh-CN" dirty="0"/>
              <a:t>依據：原簡報第 14、23、24 頁；kamailio-free5gc/pcscf/kamailio.cfg request_route 與 INVITE_REPLY；icscf/kamailio.cfg TERMINATING、LIR_REPLY；scscf/kamailio.cfg LOOKUP。</a:t>
            </a:r>
          </a:p>
          <a:p>
            <a:r>
              <a:rPr lang="zh-CN" dirty="0"/>
              <a:t>官方架構參考：https://www.etsi.org/deliver/etsi_ts/123200_123299/123228/18.05.00_60/ts_123228v180500p.pdf</a:t>
            </a:r>
          </a:p>
          <a:p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第三幕：共 3 次點擊；本幕將前一幕的 200 OK 觸發點放大說明。</a:t>
            </a:r>
          </a:p>
          <a:p>
            <a:r>
              <a:rPr lang="zh-CN" dirty="0"/>
              <a:t>1. P-CSCF 在 200 OK 看到 SDP answer，經本專案 AF shim 建 N5 App Session。PCF 以 N7 通知 SMF，SMF 以 N4 修改 UPF 的 PDR/QER。兩個 leg 各申請一次。媒體語音使用 5QI 1；信令仍使用 5QI 5，不是把整個 IMS session 從 5 改成 1。QoS 失敗時本專案仍允許通話。</a:t>
            </a:r>
          </a:p>
          <a:p>
            <a:r>
              <a:rPr lang="zh-CN" dirty="0"/>
              <a:t>2. 此處示意 ACK 後的 RTP 雙向傳送；真實 SIP 可有 early media，本 PoC 不呈現。藍色兩個封包反向移動，代表兩人說話；UPF 內 hairpin 轉到另一個 UE。圖省略 UE 與 UPF 之間的 gNB/N3，RTP 不經 CSCF。本專案沒有 IMS-AGW/SBC，勿泛化成所有部署都沒有媒體錨點。</a:t>
            </a:r>
          </a:p>
          <a:p>
            <a:r>
              <a:rPr lang="zh-CN" dirty="0"/>
              <a:t>3. 小明掛斷，BYE 走既有對話路由，對端回 200 OK；P-CSCF 於 BYE 釋放兩端 QoS App Session，控制链撤除媒體規則。動畫收起 RTP 路徑、強調控制群及 UPF。圖為控制群示意，不意指 BYE 重新作 LIR。通話結束不等於 IMS deregistration；原 IMS 註冊及 ims PDU session 仍可保留。</a:t>
            </a:r>
          </a:p>
          <a:p>
            <a:r>
              <a:rPr lang="zh-CN" dirty="0"/>
              <a:t>本專案只驗證規則存在，未驗證實際 GBR 頻寬保證或限速。</a:t>
            </a:r>
          </a:p>
          <a:p>
            <a:r>
              <a:rPr lang="zh-CN" dirty="0"/>
              <a:t>依據：原簡報第 14–17、23 頁；kamailio-free5gc/pcscf/kamailio.cfg AF_RESERVE、AF_RELEASE；AF shim 與 QoS 測試。</a:t>
            </a:r>
          </a:p>
          <a:p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583DA19-B47C-4C46-9940-C22EF0465641}"/>
              </a:ext>
            </a:extLst>
          </p:cNvPr>
          <p:cNvSpPr txBox="1"/>
          <p:nvPr/>
        </p:nvSpPr>
        <p:spPr>
          <a:xfrm>
            <a:off x="571500" y="323850"/>
            <a:ext cx="11049000" cy="57150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4213D"/>
                </a:solidFill>
                <a:latin typeface="Noto Sans CJK TC"/>
                <a:ea typeface="Noto Sans CJK TC"/>
              </a:rPr>
              <a:t>第一幕｜先報到，電話才找得到我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9BC5E35-8965-494A-BA84-C14085304084}"/>
              </a:ext>
            </a:extLst>
          </p:cNvPr>
          <p:cNvSpPr txBox="1"/>
          <p:nvPr/>
        </p:nvSpPr>
        <p:spPr>
          <a:xfrm>
            <a:off x="571500" y="981075"/>
            <a:ext cx="11049000" cy="3143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5B6575"/>
                </a:solidFill>
                <a:latin typeface="Noto Sans CJK TC"/>
                <a:ea typeface="Noto Sans CJK TC"/>
              </a:rPr>
              <a:t>小明已連上 5G、取得 ims PDU session；現在向「電話公司的總機」報到。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713711A-291D-4247-9A15-C9C00DD9D664}"/>
              </a:ext>
            </a:extLst>
          </p:cNvPr>
          <p:cNvSpPr/>
          <p:nvPr/>
        </p:nvSpPr>
        <p:spPr>
          <a:xfrm>
            <a:off x="457200" y="1562100"/>
            <a:ext cx="1276350" cy="723900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小明 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我想用電話</a:t>
            </a:r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3624F525-0026-45A8-B88B-3ED85EA0D57B}"/>
              </a:ext>
            </a:extLst>
          </p:cNvPr>
          <p:cNvCxnSpPr/>
          <p:nvPr/>
        </p:nvCxnSpPr>
        <p:spPr>
          <a:xfrm>
            <a:off x="1095375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7" name="Shape 7">
            <a:extLst>
              <a:ext uri="{FF2B5EF4-FFF2-40B4-BE49-F238E27FC236}">
                <a16:creationId xmlns:a16="http://schemas.microsoft.com/office/drawing/2014/main" id="{8E5FA64C-CCF8-495D-99BD-FC614F1EDE4C}"/>
              </a:ext>
            </a:extLst>
          </p:cNvPr>
          <p:cNvSpPr/>
          <p:nvPr/>
        </p:nvSpPr>
        <p:spPr>
          <a:xfrm>
            <a:off x="2219325" y="1562100"/>
            <a:ext cx="127635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P-CSCF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門口接待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3F136EA3-2B5D-4316-9416-94A615437777}"/>
              </a:ext>
            </a:extLst>
          </p:cNvPr>
          <p:cNvCxnSpPr/>
          <p:nvPr/>
        </p:nvCxnSpPr>
        <p:spPr>
          <a:xfrm>
            <a:off x="2857500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9" name="Shape 9">
            <a:extLst>
              <a:ext uri="{FF2B5EF4-FFF2-40B4-BE49-F238E27FC236}">
                <a16:creationId xmlns:a16="http://schemas.microsoft.com/office/drawing/2014/main" id="{30233BA3-B58C-463E-93B3-EBD2565BABCD}"/>
              </a:ext>
            </a:extLst>
          </p:cNvPr>
          <p:cNvSpPr/>
          <p:nvPr/>
        </p:nvSpPr>
        <p:spPr>
          <a:xfrm>
            <a:off x="3981450" y="1562100"/>
            <a:ext cx="127635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I-CSCF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總機</a:t>
            </a: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D4EE21CE-A4C9-4D84-B9A5-C2B7055177FB}"/>
              </a:ext>
            </a:extLst>
          </p:cNvPr>
          <p:cNvCxnSpPr/>
          <p:nvPr/>
        </p:nvCxnSpPr>
        <p:spPr>
          <a:xfrm>
            <a:off x="4619625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1" name="Shape 11">
            <a:extLst>
              <a:ext uri="{FF2B5EF4-FFF2-40B4-BE49-F238E27FC236}">
                <a16:creationId xmlns:a16="http://schemas.microsoft.com/office/drawing/2014/main" id="{F69C3413-5724-4102-8ECB-DAB2FD3D15F1}"/>
              </a:ext>
            </a:extLst>
          </p:cNvPr>
          <p:cNvSpPr/>
          <p:nvPr/>
        </p:nvSpPr>
        <p:spPr>
          <a:xfrm>
            <a:off x="5743575" y="1562100"/>
            <a:ext cx="127635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S-CSCF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專屬承辦人</a:t>
            </a:r>
          </a:p>
        </p:txBody>
      </p:sp>
      <p:cxnSp>
        <p:nvCxnSpPr>
          <p:cNvPr id="12" name="Straight Connector 12">
            <a:extLst>
              <a:ext uri="{FF2B5EF4-FFF2-40B4-BE49-F238E27FC236}">
                <a16:creationId xmlns:a16="http://schemas.microsoft.com/office/drawing/2014/main" id="{7B80AC1F-8990-4934-9608-581A0E63CC65}"/>
              </a:ext>
            </a:extLst>
          </p:cNvPr>
          <p:cNvCxnSpPr/>
          <p:nvPr/>
        </p:nvCxnSpPr>
        <p:spPr>
          <a:xfrm>
            <a:off x="6381750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3" name="Shape 13">
            <a:extLst>
              <a:ext uri="{FF2B5EF4-FFF2-40B4-BE49-F238E27FC236}">
                <a16:creationId xmlns:a16="http://schemas.microsoft.com/office/drawing/2014/main" id="{0DB89B97-E3F0-4463-A12F-3232FA5DF136}"/>
              </a:ext>
            </a:extLst>
          </p:cNvPr>
          <p:cNvSpPr/>
          <p:nvPr/>
        </p:nvSpPr>
        <p:spPr>
          <a:xfrm>
            <a:off x="7505700" y="1562100"/>
            <a:ext cx="1276350" cy="723900"/>
          </a:xfrm>
          <a:prstGeom prst="roundRect">
            <a:avLst/>
          </a:prstGeom>
          <a:solidFill>
            <a:srgbClr val="FCEBDD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HSS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客戶資料室</a:t>
            </a:r>
          </a:p>
        </p:txBody>
      </p:sp>
      <p:cxnSp>
        <p:nvCxnSpPr>
          <p:cNvPr id="14" name="Straight Connector 14">
            <a:extLst>
              <a:ext uri="{FF2B5EF4-FFF2-40B4-BE49-F238E27FC236}">
                <a16:creationId xmlns:a16="http://schemas.microsoft.com/office/drawing/2014/main" id="{EAF900F3-E95F-4128-8FFE-0A8B28462B77}"/>
              </a:ext>
            </a:extLst>
          </p:cNvPr>
          <p:cNvCxnSpPr/>
          <p:nvPr/>
        </p:nvCxnSpPr>
        <p:spPr>
          <a:xfrm>
            <a:off x="8143875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5" name="TextBox 15">
            <a:extLst>
              <a:ext uri="{FF2B5EF4-FFF2-40B4-BE49-F238E27FC236}">
                <a16:creationId xmlns:a16="http://schemas.microsoft.com/office/drawing/2014/main" id="{119DB6D8-50D8-49D5-A27A-45314005CDA3}"/>
              </a:ext>
            </a:extLst>
          </p:cNvPr>
          <p:cNvSpPr txBox="1"/>
          <p:nvPr/>
        </p:nvSpPr>
        <p:spPr>
          <a:xfrm>
            <a:off x="9201150" y="1724025"/>
            <a:ext cx="2524125" cy="4000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5B6575"/>
                </a:solidFill>
                <a:latin typeface="Noto Sans CJK TC"/>
                <a:ea typeface="Noto Sans CJK TC"/>
              </a:rPr>
              <a:t>角色對白</a:t>
            </a:r>
          </a:p>
        </p:txBody>
      </p: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A46FDDB6-DD6E-4D05-8D64-BC4598A4370A}"/>
              </a:ext>
            </a:extLst>
          </p:cNvPr>
          <p:cNvCxnSpPr/>
          <p:nvPr/>
        </p:nvCxnSpPr>
        <p:spPr>
          <a:xfrm>
            <a:off x="1095375" y="2781300"/>
            <a:ext cx="352425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17" name="TextBox 17">
            <a:extLst>
              <a:ext uri="{FF2B5EF4-FFF2-40B4-BE49-F238E27FC236}">
                <a16:creationId xmlns:a16="http://schemas.microsoft.com/office/drawing/2014/main" id="{1A4D5F41-579A-4881-80A8-33AD415C831E}"/>
              </a:ext>
            </a:extLst>
          </p:cNvPr>
          <p:cNvSpPr txBox="1"/>
          <p:nvPr/>
        </p:nvSpPr>
        <p:spPr>
          <a:xfrm>
            <a:off x="1209675" y="2514600"/>
            <a:ext cx="33528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REGISTER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2A65515-FCF1-46B1-8C88-B691D971C11D}"/>
              </a:ext>
            </a:extLst>
          </p:cNvPr>
          <p:cNvSpPr txBox="1"/>
          <p:nvPr/>
        </p:nvSpPr>
        <p:spPr>
          <a:xfrm>
            <a:off x="9153525" y="25146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① 小明：我要報到。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接待加 Path，再交給總機。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33C8D71C-9B8C-42EF-81FD-8FC15A98C322}"/>
              </a:ext>
            </a:extLst>
          </p:cNvPr>
          <p:cNvSpPr/>
          <p:nvPr/>
        </p:nvSpPr>
        <p:spPr>
          <a:xfrm>
            <a:off x="1047750" y="273367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0" name="Straight Connector 20">
            <a:extLst>
              <a:ext uri="{FF2B5EF4-FFF2-40B4-BE49-F238E27FC236}">
                <a16:creationId xmlns:a16="http://schemas.microsoft.com/office/drawing/2014/main" id="{3BD46CDD-46B7-4500-A394-324AFD190BFD}"/>
              </a:ext>
            </a:extLst>
          </p:cNvPr>
          <p:cNvCxnSpPr/>
          <p:nvPr/>
        </p:nvCxnSpPr>
        <p:spPr>
          <a:xfrm>
            <a:off x="4619625" y="3267075"/>
            <a:ext cx="352425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1" name="Straight Connector 21">
            <a:extLst>
              <a:ext uri="{FF2B5EF4-FFF2-40B4-BE49-F238E27FC236}">
                <a16:creationId xmlns:a16="http://schemas.microsoft.com/office/drawing/2014/main" id="{4AD9350F-00DC-405D-ACA3-2043D693E66C}"/>
              </a:ext>
            </a:extLst>
          </p:cNvPr>
          <p:cNvCxnSpPr/>
          <p:nvPr/>
        </p:nvCxnSpPr>
        <p:spPr>
          <a:xfrm flipH="1">
            <a:off x="4619625" y="3324225"/>
            <a:ext cx="352425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22" name="TextBox 22">
            <a:extLst>
              <a:ext uri="{FF2B5EF4-FFF2-40B4-BE49-F238E27FC236}">
                <a16:creationId xmlns:a16="http://schemas.microsoft.com/office/drawing/2014/main" id="{B08F9ACE-25A1-44AC-995A-1A8A0A684A11}"/>
              </a:ext>
            </a:extLst>
          </p:cNvPr>
          <p:cNvSpPr txBox="1"/>
          <p:nvPr/>
        </p:nvSpPr>
        <p:spPr>
          <a:xfrm>
            <a:off x="4733925" y="3000375"/>
            <a:ext cx="33528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UAR / UAA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8D2F861-7BD6-4CB0-8DC2-A32A9D5248E6}"/>
              </a:ext>
            </a:extLst>
          </p:cNvPr>
          <p:cNvSpPr txBox="1"/>
          <p:nvPr/>
        </p:nvSpPr>
        <p:spPr>
          <a:xfrm>
            <a:off x="9153525" y="3000375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② 總機：找哪位承辦人？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查完 HSS，轉送 REGISTER。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33BFDF88-C058-4B04-8B1D-DE276D8CD716}"/>
              </a:ext>
            </a:extLst>
          </p:cNvPr>
          <p:cNvSpPr/>
          <p:nvPr/>
        </p:nvSpPr>
        <p:spPr>
          <a:xfrm>
            <a:off x="4572000" y="3219450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5D3F3620-D7D3-4D20-9D38-B54178C6CB3D}"/>
              </a:ext>
            </a:extLst>
          </p:cNvPr>
          <p:cNvCxnSpPr/>
          <p:nvPr/>
        </p:nvCxnSpPr>
        <p:spPr>
          <a:xfrm>
            <a:off x="6381750" y="3752850"/>
            <a:ext cx="1762125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6" name="Straight Connector 26">
            <a:extLst>
              <a:ext uri="{FF2B5EF4-FFF2-40B4-BE49-F238E27FC236}">
                <a16:creationId xmlns:a16="http://schemas.microsoft.com/office/drawing/2014/main" id="{634E1307-3BFD-401B-A8F4-D04068ECEE05}"/>
              </a:ext>
            </a:extLst>
          </p:cNvPr>
          <p:cNvCxnSpPr/>
          <p:nvPr/>
        </p:nvCxnSpPr>
        <p:spPr>
          <a:xfrm flipH="1">
            <a:off x="6381750" y="3810000"/>
            <a:ext cx="1762125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27" name="TextBox 27">
            <a:extLst>
              <a:ext uri="{FF2B5EF4-FFF2-40B4-BE49-F238E27FC236}">
                <a16:creationId xmlns:a16="http://schemas.microsoft.com/office/drawing/2014/main" id="{6DD38D5B-1BD0-465B-AE38-62710386F82E}"/>
              </a:ext>
            </a:extLst>
          </p:cNvPr>
          <p:cNvSpPr txBox="1"/>
          <p:nvPr/>
        </p:nvSpPr>
        <p:spPr>
          <a:xfrm>
            <a:off x="6496050" y="3486150"/>
            <a:ext cx="159067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MAR / MAA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A291BAF9-B757-4943-9894-47FEC36C07D0}"/>
              </a:ext>
            </a:extLst>
          </p:cNvPr>
          <p:cNvSpPr txBox="1"/>
          <p:nvPr/>
        </p:nvSpPr>
        <p:spPr>
          <a:xfrm>
            <a:off x="9153525" y="348615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③ 承辦人：請給認證向量。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HSS 產生題目與驗證資料。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2AA85333-7DE3-4B64-B419-B27F29432F4A}"/>
              </a:ext>
            </a:extLst>
          </p:cNvPr>
          <p:cNvSpPr/>
          <p:nvPr/>
        </p:nvSpPr>
        <p:spPr>
          <a:xfrm>
            <a:off x="6334125" y="370522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0" name="Straight Connector 30">
            <a:extLst>
              <a:ext uri="{FF2B5EF4-FFF2-40B4-BE49-F238E27FC236}">
                <a16:creationId xmlns:a16="http://schemas.microsoft.com/office/drawing/2014/main" id="{C4A5300C-624F-40DD-852E-89845755C22E}"/>
              </a:ext>
            </a:extLst>
          </p:cNvPr>
          <p:cNvCxnSpPr/>
          <p:nvPr/>
        </p:nvCxnSpPr>
        <p:spPr>
          <a:xfrm flipH="1">
            <a:off x="1095375" y="4238625"/>
            <a:ext cx="5286375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31" name="TextBox 31">
            <a:extLst>
              <a:ext uri="{FF2B5EF4-FFF2-40B4-BE49-F238E27FC236}">
                <a16:creationId xmlns:a16="http://schemas.microsoft.com/office/drawing/2014/main" id="{7AEAEDC9-D9DA-4EB1-8F2D-5CDFE308F526}"/>
              </a:ext>
            </a:extLst>
          </p:cNvPr>
          <p:cNvSpPr txBox="1"/>
          <p:nvPr/>
        </p:nvSpPr>
        <p:spPr>
          <a:xfrm>
            <a:off x="1209675" y="3971925"/>
            <a:ext cx="511492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401：RAND + AUTN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7B5AE750-245A-4C85-8D2F-C3D0CD1155F4}"/>
              </a:ext>
            </a:extLst>
          </p:cNvPr>
          <p:cNvSpPr txBox="1"/>
          <p:nvPr/>
        </p:nvSpPr>
        <p:spPr>
          <a:xfrm>
            <a:off x="9153525" y="3971925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④ 承辦人：先證明你是你。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小明的 SIM 也驗證網路。</a:t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E5C42E9C-B3FE-4B14-A038-453E11A4D6B9}"/>
              </a:ext>
            </a:extLst>
          </p:cNvPr>
          <p:cNvSpPr/>
          <p:nvPr/>
        </p:nvSpPr>
        <p:spPr>
          <a:xfrm>
            <a:off x="6334125" y="4191000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4" name="Straight Connector 34">
            <a:extLst>
              <a:ext uri="{FF2B5EF4-FFF2-40B4-BE49-F238E27FC236}">
                <a16:creationId xmlns:a16="http://schemas.microsoft.com/office/drawing/2014/main" id="{74E91118-920C-409F-BCA5-2BFBC0FF869C}"/>
              </a:ext>
            </a:extLst>
          </p:cNvPr>
          <p:cNvCxnSpPr/>
          <p:nvPr/>
        </p:nvCxnSpPr>
        <p:spPr>
          <a:xfrm>
            <a:off x="1095375" y="4724400"/>
            <a:ext cx="5286375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35" name="TextBox 35">
            <a:extLst>
              <a:ext uri="{FF2B5EF4-FFF2-40B4-BE49-F238E27FC236}">
                <a16:creationId xmlns:a16="http://schemas.microsoft.com/office/drawing/2014/main" id="{30316B66-A4A1-41C0-BF44-355B7EDC2CC8}"/>
              </a:ext>
            </a:extLst>
          </p:cNvPr>
          <p:cNvSpPr txBox="1"/>
          <p:nvPr/>
        </p:nvSpPr>
        <p:spPr>
          <a:xfrm>
            <a:off x="1209675" y="4457700"/>
            <a:ext cx="511492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REGISTER + Authorization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C78A9BD0-A368-488B-BBF4-8A8DF8EA2E68}"/>
              </a:ext>
            </a:extLst>
          </p:cNvPr>
          <p:cNvSpPr txBox="1"/>
          <p:nvPr/>
        </p:nvSpPr>
        <p:spPr>
          <a:xfrm>
            <a:off x="9153525" y="44577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⑤ 小明：這是我的回答。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SIM 算 RES，再產生 Digest。</a:t>
            </a:r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52678E2E-975C-4F16-8804-43469AF928CC}"/>
              </a:ext>
            </a:extLst>
          </p:cNvPr>
          <p:cNvSpPr/>
          <p:nvPr/>
        </p:nvSpPr>
        <p:spPr>
          <a:xfrm>
            <a:off x="1047750" y="467677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8" name="Straight Connector 38">
            <a:extLst>
              <a:ext uri="{FF2B5EF4-FFF2-40B4-BE49-F238E27FC236}">
                <a16:creationId xmlns:a16="http://schemas.microsoft.com/office/drawing/2014/main" id="{614E7ED8-6B1C-47B7-A451-C29AF3457A8A}"/>
              </a:ext>
            </a:extLst>
          </p:cNvPr>
          <p:cNvCxnSpPr/>
          <p:nvPr/>
        </p:nvCxnSpPr>
        <p:spPr>
          <a:xfrm>
            <a:off x="6381750" y="5210175"/>
            <a:ext cx="1762125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39" name="Straight Connector 39">
            <a:extLst>
              <a:ext uri="{FF2B5EF4-FFF2-40B4-BE49-F238E27FC236}">
                <a16:creationId xmlns:a16="http://schemas.microsoft.com/office/drawing/2014/main" id="{D2C35E42-51C3-4924-8ECA-78E7A2E1EFF9}"/>
              </a:ext>
            </a:extLst>
          </p:cNvPr>
          <p:cNvCxnSpPr/>
          <p:nvPr/>
        </p:nvCxnSpPr>
        <p:spPr>
          <a:xfrm flipH="1">
            <a:off x="6381750" y="5267325"/>
            <a:ext cx="1762125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40" name="TextBox 40">
            <a:extLst>
              <a:ext uri="{FF2B5EF4-FFF2-40B4-BE49-F238E27FC236}">
                <a16:creationId xmlns:a16="http://schemas.microsoft.com/office/drawing/2014/main" id="{A135BE9D-1807-4B5C-A8C6-673B389A2EEF}"/>
              </a:ext>
            </a:extLst>
          </p:cNvPr>
          <p:cNvSpPr txBox="1"/>
          <p:nvPr/>
        </p:nvSpPr>
        <p:spPr>
          <a:xfrm>
            <a:off x="6496050" y="4943475"/>
            <a:ext cx="159067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SAR / SAA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89B4B8A-BF83-4308-8B81-383569A55A18}"/>
              </a:ext>
            </a:extLst>
          </p:cNvPr>
          <p:cNvSpPr txBox="1"/>
          <p:nvPr/>
        </p:nvSpPr>
        <p:spPr>
          <a:xfrm>
            <a:off x="9153525" y="4943475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⑥ 認證成功，登記承辦人。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取回 profile、記住 Contact。</a:t>
            </a:r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2AC28070-DCB6-4B85-8CF7-4F773FBE2040}"/>
              </a:ext>
            </a:extLst>
          </p:cNvPr>
          <p:cNvSpPr/>
          <p:nvPr/>
        </p:nvSpPr>
        <p:spPr>
          <a:xfrm>
            <a:off x="6334125" y="5162550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43" name="Straight Connector 43">
            <a:extLst>
              <a:ext uri="{FF2B5EF4-FFF2-40B4-BE49-F238E27FC236}">
                <a16:creationId xmlns:a16="http://schemas.microsoft.com/office/drawing/2014/main" id="{B3C97E42-ADDC-47E9-B4E5-20EFE74961BF}"/>
              </a:ext>
            </a:extLst>
          </p:cNvPr>
          <p:cNvCxnSpPr/>
          <p:nvPr/>
        </p:nvCxnSpPr>
        <p:spPr>
          <a:xfrm flipH="1">
            <a:off x="1095375" y="5695950"/>
            <a:ext cx="5286375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44" name="TextBox 44">
            <a:extLst>
              <a:ext uri="{FF2B5EF4-FFF2-40B4-BE49-F238E27FC236}">
                <a16:creationId xmlns:a16="http://schemas.microsoft.com/office/drawing/2014/main" id="{59B0AA11-ED2E-47D0-AA2E-5A9CBCE07BD1}"/>
              </a:ext>
            </a:extLst>
          </p:cNvPr>
          <p:cNvSpPr txBox="1"/>
          <p:nvPr/>
        </p:nvSpPr>
        <p:spPr>
          <a:xfrm>
            <a:off x="1209675" y="5429250"/>
            <a:ext cx="511492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200 OK：註冊完成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37D06596-33D6-4DE2-859F-DA0868E18A31}"/>
              </a:ext>
            </a:extLst>
          </p:cNvPr>
          <p:cNvSpPr txBox="1"/>
          <p:nvPr/>
        </p:nvSpPr>
        <p:spPr>
          <a:xfrm>
            <a:off x="9153525" y="542925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⑦ 承辦人：我找得到你了。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小華也完成同樣的註冊。</a:t>
            </a:r>
          </a:p>
        </p:txBody>
      </p:sp>
      <p:sp>
        <p:nvSpPr>
          <p:cNvPr id="46" name="Shape 46">
            <a:extLst>
              <a:ext uri="{FF2B5EF4-FFF2-40B4-BE49-F238E27FC236}">
                <a16:creationId xmlns:a16="http://schemas.microsoft.com/office/drawing/2014/main" id="{96179CA9-5B9A-4080-998A-A6F4361E045C}"/>
              </a:ext>
            </a:extLst>
          </p:cNvPr>
          <p:cNvSpPr/>
          <p:nvPr/>
        </p:nvSpPr>
        <p:spPr>
          <a:xfrm>
            <a:off x="6334125" y="564832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DC11FFD-84E1-4F0E-BBB7-4BEB2B4E280A}"/>
              </a:ext>
            </a:extLst>
          </p:cNvPr>
          <p:cNvSpPr txBox="1"/>
          <p:nvPr/>
        </p:nvSpPr>
        <p:spPr>
          <a:xfrm>
            <a:off x="571500" y="6343650"/>
            <a:ext cx="11049000" cy="2857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5B6575"/>
                </a:solidFill>
                <a:latin typeface="Noto Sans CJK TC"/>
                <a:ea typeface="Noto Sans CJK TC"/>
              </a:rPr>
              <a:t>逐次點擊 7 次｜橘色：IMS 訊息；Cx 查詢為雙向。SIM 金鑰 K 不上網；SIP 回傳 Digest 證明。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923" fill="hold">
                      <p:stCondLst>
                        <p:cond delay="indefinite"/>
                      </p:stCondLst>
                      <p:childTnLst>
                        <p:par>
                          <p:cTn id="5924" fill="hold">
                            <p:stCondLst>
                              <p:cond delay="0"/>
                            </p:stCondLst>
                            <p:childTnLst>
                              <p:par>
                                <p:cTn id="58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5" dur="2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9" dur="2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03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7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2890625 0.0000000 E" pathEditMode="relative">
                                      <p:cBhvr>
                                        <p:cTn id="5910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11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5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5918" dur="21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5919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5922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64" fill="hold">
                      <p:stCondLst>
                        <p:cond delay="indefinite"/>
                      </p:stCondLst>
                      <p:childTnLst>
                        <p:par>
                          <p:cTn id="5965" fill="hold">
                            <p:stCondLst>
                              <p:cond delay="0"/>
                            </p:stCondLst>
                            <p:childTnLst>
                              <p:par>
                                <p:cTn id="59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28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32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36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40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44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2890625 0.0000000 L 0.2890625 0.0083333 L 0.0000000 0.0083333 E" pathEditMode="relative">
                                      <p:cBhvr>
                                        <p:cTn id="5947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48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2" presetID="26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5955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5956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5959" dur="21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5960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5963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01" fill="hold">
                      <p:stCondLst>
                        <p:cond delay="indefinite"/>
                      </p:stCondLst>
                      <p:childTnLst>
                        <p:par>
                          <p:cTn id="6002" fill="hold">
                            <p:stCondLst>
                              <p:cond delay="0"/>
                            </p:stCondLst>
                            <p:childTnLst>
                              <p:par>
                                <p:cTn id="59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69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3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7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81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5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1445312 0.0000000 L 0.1445312 0.0083333 L 0.0000000 0.0083333 E" pathEditMode="relative">
                                      <p:cBhvr>
                                        <p:cTn id="5988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89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93" presetID="26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5996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5997" presetID="26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6000" dur="21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0" fill="hold">
                      <p:stCondLst>
                        <p:cond delay="indefinite"/>
                      </p:stCondLst>
                      <p:childTnLst>
                        <p:par>
                          <p:cTn id="6031" fill="hold">
                            <p:stCondLst>
                              <p:cond delay="0"/>
                            </p:stCondLst>
                            <p:childTnLst>
                              <p:par>
                                <p:cTn id="60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06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10" dur="2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14" dur="2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8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4335938 0.0000000 E" pathEditMode="relative">
                                      <p:cBhvr>
                                        <p:cTn id="6021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22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0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6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6029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59" fill="hold">
                      <p:stCondLst>
                        <p:cond delay="indefinite"/>
                      </p:stCondLst>
                      <p:childTnLst>
                        <p:par>
                          <p:cTn id="6060" fill="hold">
                            <p:stCondLst>
                              <p:cond delay="0"/>
                            </p:stCondLst>
                            <p:childTnLst>
                              <p:par>
                                <p:cTn id="60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5" dur="2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9" dur="2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43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7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4335938 0.0000000 E" pathEditMode="relative">
                                      <p:cBhvr>
                                        <p:cTn id="6050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51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0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55" presetID="26" presetClass="emph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6058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6" fill="hold">
                      <p:stCondLst>
                        <p:cond delay="indefinite"/>
                      </p:stCondLst>
                      <p:childTnLst>
                        <p:par>
                          <p:cTn id="6097" fill="hold">
                            <p:stCondLst>
                              <p:cond delay="0"/>
                            </p:stCondLst>
                            <p:childTnLst>
                              <p:par>
                                <p:cTn id="60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64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68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2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6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0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1445312 0.0000000 L 0.1445312 0.0083333 L 0.0000000 0.0083333 E" pathEditMode="relative">
                                      <p:cBhvr>
                                        <p:cTn id="6083" dur="1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84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0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8" presetID="26" presetClass="emph" presetSubtype="0" fill="hold" grpId="3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6091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6092" presetID="26" presetClass="emph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6095" dur="21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25" fill="hold">
                      <p:stCondLst>
                        <p:cond delay="indefinite"/>
                      </p:stCondLst>
                      <p:childTnLst>
                        <p:par>
                          <p:cTn id="6126" fill="hold">
                            <p:stCondLst>
                              <p:cond delay="0"/>
                            </p:stCondLst>
                            <p:childTnLst>
                              <p:par>
                                <p:cTn id="60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1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5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9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3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4335938 0.0000000 E" pathEditMode="relative">
                                      <p:cBhvr>
                                        <p:cTn id="6116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17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1" presetID="26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6124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6" grpId="0"/>
      <p:bldP spid="18" grpId="0"/>
      <p:bldP spid="19" grpId="0"/>
      <p:bldP spid="19" grpId="1"/>
      <p:bldP spid="19" grpId="2"/>
      <p:bldP spid="7" grpId="0"/>
      <p:bldP spid="9" grpId="0"/>
      <p:bldP spid="22" grpId="0"/>
      <p:bldP spid="20" grpId="0"/>
      <p:bldP spid="21" grpId="0"/>
      <p:bldP spid="23" grpId="0"/>
      <p:bldP spid="24" grpId="0"/>
      <p:bldP spid="24" grpId="1"/>
      <p:bldP spid="24" grpId="2"/>
      <p:bldP spid="9" grpId="1"/>
      <p:bldP spid="13" grpId="0"/>
      <p:bldP spid="11" grpId="0"/>
      <p:bldP spid="27" grpId="0"/>
      <p:bldP spid="25" grpId="0"/>
      <p:bldP spid="26" grpId="0"/>
      <p:bldP spid="28" grpId="0"/>
      <p:bldP spid="29" grpId="0"/>
      <p:bldP spid="29" grpId="1"/>
      <p:bldP spid="29" grpId="2"/>
      <p:bldP spid="11" grpId="1"/>
      <p:bldP spid="13" grpId="1"/>
      <p:bldP spid="31" grpId="0"/>
      <p:bldP spid="30" grpId="0"/>
      <p:bldP spid="32" grpId="0"/>
      <p:bldP spid="33" grpId="0"/>
      <p:bldP spid="33" grpId="1"/>
      <p:bldP spid="33" grpId="2"/>
      <p:bldP spid="5" grpId="0"/>
      <p:bldP spid="35" grpId="0"/>
      <p:bldP spid="34" grpId="0"/>
      <p:bldP spid="36" grpId="0"/>
      <p:bldP spid="37" grpId="0"/>
      <p:bldP spid="37" grpId="1"/>
      <p:bldP spid="37" grpId="2"/>
      <p:bldP spid="11" grpId="2"/>
      <p:bldP spid="40" grpId="0"/>
      <p:bldP spid="38" grpId="0"/>
      <p:bldP spid="39" grpId="0"/>
      <p:bldP spid="41" grpId="0"/>
      <p:bldP spid="42" grpId="0"/>
      <p:bldP spid="42" grpId="1"/>
      <p:bldP spid="42" grpId="2"/>
      <p:bldP spid="11" grpId="3"/>
      <p:bldP spid="13" grpId="2"/>
      <p:bldP spid="44" grpId="0"/>
      <p:bldP spid="43" grpId="0"/>
      <p:bldP spid="45" grpId="0"/>
      <p:bldP spid="46" grpId="0"/>
      <p:bldP spid="46" grpId="1"/>
      <p:bldP spid="46" grpId="2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ACAD389-8865-421B-BCB8-1AE6244FA126}"/>
              </a:ext>
            </a:extLst>
          </p:cNvPr>
          <p:cNvSpPr txBox="1"/>
          <p:nvPr/>
        </p:nvSpPr>
        <p:spPr>
          <a:xfrm>
            <a:off x="571500" y="323850"/>
            <a:ext cx="11049000" cy="57150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4213D"/>
                </a:solidFill>
                <a:latin typeface="Noto Sans CJK TC"/>
                <a:ea typeface="Noto Sans CJK TC"/>
              </a:rPr>
              <a:t>第二幕｜小明撥號，總機找到小華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B70C51-38BB-4FDB-B513-F614E89A37AE}"/>
              </a:ext>
            </a:extLst>
          </p:cNvPr>
          <p:cNvSpPr txBox="1"/>
          <p:nvPr/>
        </p:nvSpPr>
        <p:spPr>
          <a:xfrm>
            <a:off x="571500" y="981075"/>
            <a:ext cx="11049000" cy="3143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5B6575"/>
                </a:solidFill>
                <a:latin typeface="Noto Sans CJK TC"/>
                <a:ea typeface="Noto Sans CJK TC"/>
              </a:rPr>
              <a:t>雙方都已註冊。小明按下撥號鍵，SIP 請總機把電話送到小華。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25C66C5-14DD-48C9-8F27-AC1159FE76E9}"/>
              </a:ext>
            </a:extLst>
          </p:cNvPr>
          <p:cNvSpPr/>
          <p:nvPr/>
        </p:nvSpPr>
        <p:spPr>
          <a:xfrm>
            <a:off x="361950" y="1562100"/>
            <a:ext cx="1181100" cy="723900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小明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主叫 UE</a:t>
            </a:r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C44510BA-500F-45AF-A90A-B5E1758713AE}"/>
              </a:ext>
            </a:extLst>
          </p:cNvPr>
          <p:cNvCxnSpPr/>
          <p:nvPr/>
        </p:nvCxnSpPr>
        <p:spPr>
          <a:xfrm>
            <a:off x="952500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7" name="Shape 7">
            <a:extLst>
              <a:ext uri="{FF2B5EF4-FFF2-40B4-BE49-F238E27FC236}">
                <a16:creationId xmlns:a16="http://schemas.microsoft.com/office/drawing/2014/main" id="{9D38C1D5-E67F-4D27-A226-0D97A7633EEE}"/>
              </a:ext>
            </a:extLst>
          </p:cNvPr>
          <p:cNvSpPr/>
          <p:nvPr/>
        </p:nvSpPr>
        <p:spPr>
          <a:xfrm>
            <a:off x="1885950" y="1562100"/>
            <a:ext cx="118110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P-CSCF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主叫側接待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1098F30B-1985-48D1-99E4-B764D912E843}"/>
              </a:ext>
            </a:extLst>
          </p:cNvPr>
          <p:cNvCxnSpPr/>
          <p:nvPr/>
        </p:nvCxnSpPr>
        <p:spPr>
          <a:xfrm>
            <a:off x="2476500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9" name="Shape 9">
            <a:extLst>
              <a:ext uri="{FF2B5EF4-FFF2-40B4-BE49-F238E27FC236}">
                <a16:creationId xmlns:a16="http://schemas.microsoft.com/office/drawing/2014/main" id="{79075A3C-219C-4069-9A7B-68DC3557541F}"/>
              </a:ext>
            </a:extLst>
          </p:cNvPr>
          <p:cNvSpPr/>
          <p:nvPr/>
        </p:nvSpPr>
        <p:spPr>
          <a:xfrm>
            <a:off x="3409950" y="1562100"/>
            <a:ext cx="118110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I-CSCF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總機</a:t>
            </a: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4F738A74-03B0-4A38-BAF3-567458B5645A}"/>
              </a:ext>
            </a:extLst>
          </p:cNvPr>
          <p:cNvCxnSpPr/>
          <p:nvPr/>
        </p:nvCxnSpPr>
        <p:spPr>
          <a:xfrm>
            <a:off x="4000500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1" name="Shape 11">
            <a:extLst>
              <a:ext uri="{FF2B5EF4-FFF2-40B4-BE49-F238E27FC236}">
                <a16:creationId xmlns:a16="http://schemas.microsoft.com/office/drawing/2014/main" id="{FA118326-989B-4861-B8A7-0C475124C77D}"/>
              </a:ext>
            </a:extLst>
          </p:cNvPr>
          <p:cNvSpPr/>
          <p:nvPr/>
        </p:nvSpPr>
        <p:spPr>
          <a:xfrm>
            <a:off x="4933950" y="1562100"/>
            <a:ext cx="118110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S-CSCF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被叫承辦人</a:t>
            </a:r>
          </a:p>
        </p:txBody>
      </p:sp>
      <p:cxnSp>
        <p:nvCxnSpPr>
          <p:cNvPr id="12" name="Straight Connector 12">
            <a:extLst>
              <a:ext uri="{FF2B5EF4-FFF2-40B4-BE49-F238E27FC236}">
                <a16:creationId xmlns:a16="http://schemas.microsoft.com/office/drawing/2014/main" id="{B2D79145-0A25-419E-9046-FF6FDAB244C1}"/>
              </a:ext>
            </a:extLst>
          </p:cNvPr>
          <p:cNvCxnSpPr/>
          <p:nvPr/>
        </p:nvCxnSpPr>
        <p:spPr>
          <a:xfrm>
            <a:off x="5524500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3" name="Shape 13">
            <a:extLst>
              <a:ext uri="{FF2B5EF4-FFF2-40B4-BE49-F238E27FC236}">
                <a16:creationId xmlns:a16="http://schemas.microsoft.com/office/drawing/2014/main" id="{E6C826DA-1DDE-425E-AEFB-B5C8CA706524}"/>
              </a:ext>
            </a:extLst>
          </p:cNvPr>
          <p:cNvSpPr/>
          <p:nvPr/>
        </p:nvSpPr>
        <p:spPr>
          <a:xfrm>
            <a:off x="6457950" y="1562100"/>
            <a:ext cx="118110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P-CSCF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被叫側接待</a:t>
            </a:r>
          </a:p>
        </p:txBody>
      </p:sp>
      <p:cxnSp>
        <p:nvCxnSpPr>
          <p:cNvPr id="14" name="Straight Connector 14">
            <a:extLst>
              <a:ext uri="{FF2B5EF4-FFF2-40B4-BE49-F238E27FC236}">
                <a16:creationId xmlns:a16="http://schemas.microsoft.com/office/drawing/2014/main" id="{AFD93C33-9756-4F7C-B646-794BA160C9FB}"/>
              </a:ext>
            </a:extLst>
          </p:cNvPr>
          <p:cNvCxnSpPr/>
          <p:nvPr/>
        </p:nvCxnSpPr>
        <p:spPr>
          <a:xfrm>
            <a:off x="7048500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5" name="Shape 15">
            <a:extLst>
              <a:ext uri="{FF2B5EF4-FFF2-40B4-BE49-F238E27FC236}">
                <a16:creationId xmlns:a16="http://schemas.microsoft.com/office/drawing/2014/main" id="{9EF30FAA-8F7E-47BE-92AA-83BEC8C9CD12}"/>
              </a:ext>
            </a:extLst>
          </p:cNvPr>
          <p:cNvSpPr/>
          <p:nvPr/>
        </p:nvSpPr>
        <p:spPr>
          <a:xfrm>
            <a:off x="7981950" y="1562100"/>
            <a:ext cx="1181100" cy="723900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小華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被叫 UE</a:t>
            </a:r>
          </a:p>
        </p:txBody>
      </p: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870A9537-422B-46A4-B801-2231FCBE4723}"/>
              </a:ext>
            </a:extLst>
          </p:cNvPr>
          <p:cNvCxnSpPr/>
          <p:nvPr/>
        </p:nvCxnSpPr>
        <p:spPr>
          <a:xfrm>
            <a:off x="8572500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7" name="Shape 17">
            <a:extLst>
              <a:ext uri="{FF2B5EF4-FFF2-40B4-BE49-F238E27FC236}">
                <a16:creationId xmlns:a16="http://schemas.microsoft.com/office/drawing/2014/main" id="{7718F410-6195-4ED4-82F3-6982630FE38D}"/>
              </a:ext>
            </a:extLst>
          </p:cNvPr>
          <p:cNvSpPr/>
          <p:nvPr/>
        </p:nvSpPr>
        <p:spPr>
          <a:xfrm>
            <a:off x="9620250" y="1562100"/>
            <a:ext cx="1905000" cy="723900"/>
          </a:xfrm>
          <a:prstGeom prst="roundRect">
            <a:avLst/>
          </a:prstGeom>
          <a:solidFill>
            <a:srgbClr val="FCEBDD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HSS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知道承辦人在哪</a:t>
            </a:r>
          </a:p>
        </p:txBody>
      </p:sp>
      <p:cxnSp>
        <p:nvCxnSpPr>
          <p:cNvPr id="18" name="Straight Connector 18">
            <a:extLst>
              <a:ext uri="{FF2B5EF4-FFF2-40B4-BE49-F238E27FC236}">
                <a16:creationId xmlns:a16="http://schemas.microsoft.com/office/drawing/2014/main" id="{BD77B87D-F246-40DB-8AB5-B24B4A985289}"/>
              </a:ext>
            </a:extLst>
          </p:cNvPr>
          <p:cNvCxnSpPr/>
          <p:nvPr/>
        </p:nvCxnSpPr>
        <p:spPr>
          <a:xfrm>
            <a:off x="952500" y="2857500"/>
            <a:ext cx="304800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19" name="TextBox 19">
            <a:extLst>
              <a:ext uri="{FF2B5EF4-FFF2-40B4-BE49-F238E27FC236}">
                <a16:creationId xmlns:a16="http://schemas.microsoft.com/office/drawing/2014/main" id="{8CD72E11-F7ED-4657-A2F1-AAE3A030A804}"/>
              </a:ext>
            </a:extLst>
          </p:cNvPr>
          <p:cNvSpPr txBox="1"/>
          <p:nvPr/>
        </p:nvSpPr>
        <p:spPr>
          <a:xfrm>
            <a:off x="1066800" y="2590800"/>
            <a:ext cx="2876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INVITE + SDP offer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F51AACD-2A5C-488A-A497-CC78A259CA1A}"/>
              </a:ext>
            </a:extLst>
          </p:cNvPr>
          <p:cNvSpPr txBox="1"/>
          <p:nvPr/>
        </p:nvSpPr>
        <p:spPr>
          <a:xfrm>
            <a:off x="9153525" y="25908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① 小明：請幫我找小華。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SDP 說明我的媒體位址。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EF1EBDC1-B147-47B4-9F59-4E787C33D25B}"/>
              </a:ext>
            </a:extLst>
          </p:cNvPr>
          <p:cNvSpPr/>
          <p:nvPr/>
        </p:nvSpPr>
        <p:spPr>
          <a:xfrm>
            <a:off x="904875" y="280987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2" name="Straight Connector 22">
            <a:extLst>
              <a:ext uri="{FF2B5EF4-FFF2-40B4-BE49-F238E27FC236}">
                <a16:creationId xmlns:a16="http://schemas.microsoft.com/office/drawing/2014/main" id="{DD744DDC-3FBC-4DD7-9AAB-E739862F5D61}"/>
              </a:ext>
            </a:extLst>
          </p:cNvPr>
          <p:cNvCxnSpPr/>
          <p:nvPr/>
        </p:nvCxnSpPr>
        <p:spPr>
          <a:xfrm>
            <a:off x="4000500" y="3429000"/>
            <a:ext cx="657225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3" name="Straight Connector 23">
            <a:extLst>
              <a:ext uri="{FF2B5EF4-FFF2-40B4-BE49-F238E27FC236}">
                <a16:creationId xmlns:a16="http://schemas.microsoft.com/office/drawing/2014/main" id="{E5148F75-8925-49E6-8E84-F863ADF7A46C}"/>
              </a:ext>
            </a:extLst>
          </p:cNvPr>
          <p:cNvCxnSpPr/>
          <p:nvPr/>
        </p:nvCxnSpPr>
        <p:spPr>
          <a:xfrm flipH="1">
            <a:off x="4000500" y="3486150"/>
            <a:ext cx="657225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24" name="TextBox 24">
            <a:extLst>
              <a:ext uri="{FF2B5EF4-FFF2-40B4-BE49-F238E27FC236}">
                <a16:creationId xmlns:a16="http://schemas.microsoft.com/office/drawing/2014/main" id="{645D221D-EA38-4669-A509-39C93B1FED0D}"/>
              </a:ext>
            </a:extLst>
          </p:cNvPr>
          <p:cNvSpPr txBox="1"/>
          <p:nvPr/>
        </p:nvSpPr>
        <p:spPr>
          <a:xfrm>
            <a:off x="4143375" y="3162300"/>
            <a:ext cx="45720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LIR / LIA：小華在哪台 S-CSCF？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5B91861-A2EE-45A4-87BD-6D53820C6963}"/>
              </a:ext>
            </a:extLst>
          </p:cNvPr>
          <p:cNvSpPr txBox="1"/>
          <p:nvPr/>
        </p:nvSpPr>
        <p:spPr>
          <a:xfrm>
            <a:off x="9344025" y="2324100"/>
            <a:ext cx="24003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② HSS：找這台 S-CSCF。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B83DD2BC-D5E6-42A8-8910-D3B70CB3C46B}"/>
              </a:ext>
            </a:extLst>
          </p:cNvPr>
          <p:cNvSpPr/>
          <p:nvPr/>
        </p:nvSpPr>
        <p:spPr>
          <a:xfrm>
            <a:off x="3952875" y="338137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7" name="Straight Connector 27">
            <a:extLst>
              <a:ext uri="{FF2B5EF4-FFF2-40B4-BE49-F238E27FC236}">
                <a16:creationId xmlns:a16="http://schemas.microsoft.com/office/drawing/2014/main" id="{914431F6-CB34-4D03-BA3C-0A16B508A9F2}"/>
              </a:ext>
            </a:extLst>
          </p:cNvPr>
          <p:cNvCxnSpPr/>
          <p:nvPr/>
        </p:nvCxnSpPr>
        <p:spPr>
          <a:xfrm>
            <a:off x="4000500" y="4000500"/>
            <a:ext cx="457200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28" name="TextBox 28">
            <a:extLst>
              <a:ext uri="{FF2B5EF4-FFF2-40B4-BE49-F238E27FC236}">
                <a16:creationId xmlns:a16="http://schemas.microsoft.com/office/drawing/2014/main" id="{737EE431-3FBC-4B03-BD86-44D40D6AC770}"/>
              </a:ext>
            </a:extLst>
          </p:cNvPr>
          <p:cNvSpPr txBox="1"/>
          <p:nvPr/>
        </p:nvSpPr>
        <p:spPr>
          <a:xfrm>
            <a:off x="4114800" y="3733800"/>
            <a:ext cx="4400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INVITE → S-CSCF → Path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F7D716C-1C5B-4333-89DA-E0B110C50E8B}"/>
              </a:ext>
            </a:extLst>
          </p:cNvPr>
          <p:cNvSpPr txBox="1"/>
          <p:nvPr/>
        </p:nvSpPr>
        <p:spPr>
          <a:xfrm>
            <a:off x="9153525" y="37338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③ 承辦人：我有她的地址。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沿 Path 經接待送到小華。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287E7E68-4B06-4E67-B0CA-BC1AED7783F9}"/>
              </a:ext>
            </a:extLst>
          </p:cNvPr>
          <p:cNvSpPr/>
          <p:nvPr/>
        </p:nvSpPr>
        <p:spPr>
          <a:xfrm>
            <a:off x="3952875" y="395287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1" name="Straight Connector 31">
            <a:extLst>
              <a:ext uri="{FF2B5EF4-FFF2-40B4-BE49-F238E27FC236}">
                <a16:creationId xmlns:a16="http://schemas.microsoft.com/office/drawing/2014/main" id="{7744BF2E-4092-46F1-9ABB-1AA035FF0B3D}"/>
              </a:ext>
            </a:extLst>
          </p:cNvPr>
          <p:cNvCxnSpPr/>
          <p:nvPr/>
        </p:nvCxnSpPr>
        <p:spPr>
          <a:xfrm flipH="1">
            <a:off x="952500" y="4572000"/>
            <a:ext cx="762000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32" name="TextBox 32">
            <a:extLst>
              <a:ext uri="{FF2B5EF4-FFF2-40B4-BE49-F238E27FC236}">
                <a16:creationId xmlns:a16="http://schemas.microsoft.com/office/drawing/2014/main" id="{733E47BE-F033-4442-8E5D-D626776360E9}"/>
              </a:ext>
            </a:extLst>
          </p:cNvPr>
          <p:cNvSpPr txBox="1"/>
          <p:nvPr/>
        </p:nvSpPr>
        <p:spPr>
          <a:xfrm>
            <a:off x="1066800" y="4305300"/>
            <a:ext cx="7448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180 Ringing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D5E8926-75EE-4156-9D68-5C092F1214B7}"/>
              </a:ext>
            </a:extLst>
          </p:cNvPr>
          <p:cNvSpPr txBox="1"/>
          <p:nvPr/>
        </p:nvSpPr>
        <p:spPr>
          <a:xfrm>
            <a:off x="9153525" y="43053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④ 小華的手機開始響鈴。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小明得知對方正在響鈴。</a:t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262A2E7C-053B-430F-B3CB-325642805DE8}"/>
              </a:ext>
            </a:extLst>
          </p:cNvPr>
          <p:cNvSpPr/>
          <p:nvPr/>
        </p:nvSpPr>
        <p:spPr>
          <a:xfrm>
            <a:off x="8524875" y="452437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5" name="Straight Connector 35">
            <a:extLst>
              <a:ext uri="{FF2B5EF4-FFF2-40B4-BE49-F238E27FC236}">
                <a16:creationId xmlns:a16="http://schemas.microsoft.com/office/drawing/2014/main" id="{5C77D2A8-6658-4312-A17B-3519AF82DC61}"/>
              </a:ext>
            </a:extLst>
          </p:cNvPr>
          <p:cNvCxnSpPr/>
          <p:nvPr/>
        </p:nvCxnSpPr>
        <p:spPr>
          <a:xfrm flipH="1">
            <a:off x="952500" y="5143500"/>
            <a:ext cx="762000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36" name="TextBox 36">
            <a:extLst>
              <a:ext uri="{FF2B5EF4-FFF2-40B4-BE49-F238E27FC236}">
                <a16:creationId xmlns:a16="http://schemas.microsoft.com/office/drawing/2014/main" id="{ECA60C18-8588-42EC-B880-1F7CF2E19D32}"/>
              </a:ext>
            </a:extLst>
          </p:cNvPr>
          <p:cNvSpPr txBox="1"/>
          <p:nvPr/>
        </p:nvSpPr>
        <p:spPr>
          <a:xfrm>
            <a:off x="1066800" y="4876800"/>
            <a:ext cx="7448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200 OK + SDP answer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BB7E52B0-5930-4917-A5C6-BD30009DF23D}"/>
              </a:ext>
            </a:extLst>
          </p:cNvPr>
          <p:cNvSpPr txBox="1"/>
          <p:nvPr/>
        </p:nvSpPr>
        <p:spPr>
          <a:xfrm>
            <a:off x="9153525" y="48768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⑤ 小華：喂，我接聽了。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雙方媒體位址、codec 到齊。</a:t>
            </a: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6887E46D-E92F-4E1E-B9DD-09B91C712C59}"/>
              </a:ext>
            </a:extLst>
          </p:cNvPr>
          <p:cNvSpPr/>
          <p:nvPr/>
        </p:nvSpPr>
        <p:spPr>
          <a:xfrm>
            <a:off x="8524875" y="509587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9" name="Straight Connector 39">
            <a:extLst>
              <a:ext uri="{FF2B5EF4-FFF2-40B4-BE49-F238E27FC236}">
                <a16:creationId xmlns:a16="http://schemas.microsoft.com/office/drawing/2014/main" id="{71C62102-F57B-46AA-B7AB-FC14C76E6B64}"/>
              </a:ext>
            </a:extLst>
          </p:cNvPr>
          <p:cNvCxnSpPr/>
          <p:nvPr/>
        </p:nvCxnSpPr>
        <p:spPr>
          <a:xfrm>
            <a:off x="952500" y="5715000"/>
            <a:ext cx="762000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40" name="TextBox 40">
            <a:extLst>
              <a:ext uri="{FF2B5EF4-FFF2-40B4-BE49-F238E27FC236}">
                <a16:creationId xmlns:a16="http://schemas.microsoft.com/office/drawing/2014/main" id="{17D14D28-3A8E-4BE3-B9C9-3523FDF09569}"/>
              </a:ext>
            </a:extLst>
          </p:cNvPr>
          <p:cNvSpPr txBox="1"/>
          <p:nvPr/>
        </p:nvSpPr>
        <p:spPr>
          <a:xfrm>
            <a:off x="1066800" y="5448300"/>
            <a:ext cx="7448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ACK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F7B4199B-F005-4111-9B7A-B22EADD5E4E7}"/>
              </a:ext>
            </a:extLst>
          </p:cNvPr>
          <p:cNvSpPr txBox="1"/>
          <p:nvPr/>
        </p:nvSpPr>
        <p:spPr>
          <a:xfrm>
            <a:off x="9153525" y="54483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⑥ 小明：收到，開始說話。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通話已建立。</a:t>
            </a:r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CFD37E39-4CD1-4832-BD3A-A24D763DECC8}"/>
              </a:ext>
            </a:extLst>
          </p:cNvPr>
          <p:cNvSpPr/>
          <p:nvPr/>
        </p:nvSpPr>
        <p:spPr>
          <a:xfrm>
            <a:off x="904875" y="566737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484B8A87-4D4D-4909-8226-854B8D6BEACF}"/>
              </a:ext>
            </a:extLst>
          </p:cNvPr>
          <p:cNvSpPr txBox="1"/>
          <p:nvPr/>
        </p:nvSpPr>
        <p:spPr>
          <a:xfrm>
            <a:off x="571500" y="6257925"/>
            <a:ext cx="110490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5B6575"/>
                </a:solidFill>
                <a:latin typeface="Noto Sans CJK TC"/>
                <a:ea typeface="Noto Sans CJK TC"/>
              </a:rPr>
              <a:t>逐次點擊 6 次｜兩個 P 是本專案同一程序的兩個 leg。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5B6575"/>
                </a:solidFill>
                <a:latin typeface="Noto Sans CJK TC"/>
                <a:ea typeface="Noto Sans CJK TC"/>
              </a:rPr>
              <a:t>本頁依 PoC 路由；標準主叫先經 Service-Route 到主叫 S-CSCF。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02" fill="hold">
                      <p:stCondLst>
                        <p:cond delay="indefinite"/>
                      </p:stCondLst>
                      <p:childTnLst>
                        <p:par>
                          <p:cTn id="4203" fill="hold">
                            <p:stCondLst>
                              <p:cond delay="0"/>
                            </p:stCondLst>
                            <p:childTnLst>
                              <p:par>
                                <p:cTn id="4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4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8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2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6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2500000 0.0000000 E" pathEditMode="relative">
                                      <p:cBhvr>
                                        <p:cTn id="4189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90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4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197" dur="21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198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201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9" fill="hold">
                      <p:stCondLst>
                        <p:cond delay="indefinite"/>
                      </p:stCondLst>
                      <p:childTnLst>
                        <p:par>
                          <p:cTn id="4240" fill="hold">
                            <p:stCondLst>
                              <p:cond delay="0"/>
                            </p:stCondLst>
                            <p:childTnLst>
                              <p:par>
                                <p:cTn id="42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07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1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5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9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23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5390625 0.0000000 L 0.5390625 0.0083333 L 0.0000000 0.0083333 E" pathEditMode="relative">
                                      <p:cBhvr>
                                        <p:cTn id="4226" dur="1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27" presetID="1" presetClass="exit" presetSubtype="0" fill="hold" grpId="2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1" presetID="26" presetClass="emph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4234" dur="21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235" presetID="26" presetClass="emph" presetSubtype="0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4238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6" fill="hold">
                      <p:stCondLst>
                        <p:cond delay="indefinite"/>
                      </p:stCondLst>
                      <p:childTnLst>
                        <p:par>
                          <p:cTn id="4277" fill="hold">
                            <p:stCondLst>
                              <p:cond delay="0"/>
                            </p:stCondLst>
                            <p:childTnLst>
                              <p:par>
                                <p:cTn id="42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4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8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2" dur="2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6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3750000 0.0000000 E" pathEditMode="relative">
                                      <p:cBhvr>
                                        <p:cTn id="4259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60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4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267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268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271" dur="21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272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275" dur="21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9" fill="hold">
                      <p:stCondLst>
                        <p:cond delay="indefinite"/>
                      </p:stCondLst>
                      <p:childTnLst>
                        <p:par>
                          <p:cTn id="4310" fill="hold">
                            <p:stCondLst>
                              <p:cond delay="0"/>
                            </p:stCondLst>
                            <p:childTnLst>
                              <p:par>
                                <p:cTn id="42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1" dur="2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5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9" dur="2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3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6250000 0.0000000 E" pathEditMode="relative">
                                      <p:cBhvr>
                                        <p:cTn id="4296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97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1" presetID="26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304" dur="21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305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308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8" fill="hold">
                      <p:stCondLst>
                        <p:cond delay="indefinite"/>
                      </p:stCondLst>
                      <p:childTnLst>
                        <p:par>
                          <p:cTn id="4339" fill="hold">
                            <p:stCondLst>
                              <p:cond delay="0"/>
                            </p:stCondLst>
                            <p:childTnLst>
                              <p:par>
                                <p:cTn id="43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4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8" dur="2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2" dur="2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6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6250000 0.0000000 E" pathEditMode="relative">
                                      <p:cBhvr>
                                        <p:cTn id="4329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30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4" presetID="26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337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7" fill="hold">
                      <p:stCondLst>
                        <p:cond delay="indefinite"/>
                      </p:stCondLst>
                      <p:childTnLst>
                        <p:par>
                          <p:cTn id="4368" fill="hold">
                            <p:stCondLst>
                              <p:cond delay="0"/>
                            </p:stCondLst>
                            <p:childTnLst>
                              <p:par>
                                <p:cTn id="43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3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7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1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5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6250000 0.0000000 E" pathEditMode="relative">
                                      <p:cBhvr>
                                        <p:cTn id="4358" dur="1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59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3" presetID="26" presetClass="emph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366" dur="21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8" grpId="0"/>
      <p:bldP spid="20" grpId="0"/>
      <p:bldP spid="21" grpId="0"/>
      <p:bldP spid="21" grpId="1"/>
      <p:bldP spid="21" grpId="2"/>
      <p:bldP spid="7" grpId="0"/>
      <p:bldP spid="9" grpId="0"/>
      <p:bldP spid="24" grpId="0"/>
      <p:bldP spid="22" grpId="0"/>
      <p:bldP spid="23" grpId="0"/>
      <p:bldP spid="25" grpId="0"/>
      <p:bldP spid="26" grpId="0"/>
      <p:bldP spid="26" grpId="1"/>
      <p:bldP spid="26" grpId="2"/>
      <p:bldP spid="17" grpId="0"/>
      <p:bldP spid="9" grpId="1"/>
      <p:bldP spid="28" grpId="0"/>
      <p:bldP spid="27" grpId="0"/>
      <p:bldP spid="29" grpId="0"/>
      <p:bldP spid="30" grpId="0"/>
      <p:bldP spid="30" grpId="1"/>
      <p:bldP spid="30" grpId="2"/>
      <p:bldP spid="11" grpId="0"/>
      <p:bldP spid="13" grpId="0"/>
      <p:bldP spid="15" grpId="0"/>
      <p:bldP spid="32" grpId="0"/>
      <p:bldP spid="31" grpId="0"/>
      <p:bldP spid="33" grpId="0"/>
      <p:bldP spid="34" grpId="0"/>
      <p:bldP spid="34" grpId="1"/>
      <p:bldP spid="34" grpId="2"/>
      <p:bldP spid="15" grpId="1"/>
      <p:bldP spid="5" grpId="0"/>
      <p:bldP spid="36" grpId="0"/>
      <p:bldP spid="35" grpId="0"/>
      <p:bldP spid="37" grpId="0"/>
      <p:bldP spid="38" grpId="0"/>
      <p:bldP spid="38" grpId="1"/>
      <p:bldP spid="38" grpId="2"/>
      <p:bldP spid="5" grpId="1"/>
      <p:bldP spid="40" grpId="0"/>
      <p:bldP spid="39" grpId="0"/>
      <p:bldP spid="41" grpId="0"/>
      <p:bldP spid="42" grpId="0"/>
      <p:bldP spid="42" grpId="1"/>
      <p:bldP spid="42" grpId="2"/>
      <p:bldP spid="15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FDFD4DB-8E06-49D1-9908-318806B49240}"/>
              </a:ext>
            </a:extLst>
          </p:cNvPr>
          <p:cNvSpPr txBox="1"/>
          <p:nvPr/>
        </p:nvSpPr>
        <p:spPr>
          <a:xfrm>
            <a:off x="571500" y="323850"/>
            <a:ext cx="11049000" cy="57150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4213D"/>
                </a:solidFill>
                <a:latin typeface="Noto Sans CJK TC"/>
                <a:ea typeface="Noto Sans CJK TC"/>
              </a:rPr>
              <a:t>第三幕｜接通後，聲音走自己的路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D9D73D2-58D8-49D5-BC32-663D94BEDC29}"/>
              </a:ext>
            </a:extLst>
          </p:cNvPr>
          <p:cNvSpPr txBox="1"/>
          <p:nvPr/>
        </p:nvSpPr>
        <p:spPr>
          <a:xfrm>
            <a:off x="571500" y="981075"/>
            <a:ext cx="11049000" cy="3143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5B6575"/>
                </a:solidFill>
                <a:latin typeface="Noto Sans CJK TC"/>
                <a:ea typeface="Noto Sans CJK TC"/>
              </a:rPr>
              <a:t>P-CSCF 看到 200 OK 的 SDP answer 後申請 QoS；接著示意 ACK 後的雙向語音。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A794A34-F06D-4982-B567-BDADEF3812C7}"/>
              </a:ext>
            </a:extLst>
          </p:cNvPr>
          <p:cNvSpPr/>
          <p:nvPr/>
        </p:nvSpPr>
        <p:spPr>
          <a:xfrm>
            <a:off x="4095750" y="1571625"/>
            <a:ext cx="4000500" cy="838200"/>
          </a:xfrm>
          <a:prstGeom prst="roundRect">
            <a:avLst/>
          </a:prstGeom>
          <a:solidFill>
            <a:srgbClr val="FCEBDD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E8742A"/>
                </a:solidFill>
                <a:latin typeface="Noto Sans CJK TC"/>
                <a:ea typeface="Noto Sans CJK TC"/>
              </a:rPr>
              <a:t>P / I / S-CSCF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14213D"/>
                </a:solidFill>
                <a:latin typeface="Noto Sans CJK TC"/>
                <a:ea typeface="Noto Sans CJK TC"/>
              </a:rPr>
              <a:t>通話控制：接通、掛斷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DAE6C75-DFBA-41E9-8165-F09A8CCE89CB}"/>
              </a:ext>
            </a:extLst>
          </p:cNvPr>
          <p:cNvSpPr/>
          <p:nvPr/>
        </p:nvSpPr>
        <p:spPr>
          <a:xfrm>
            <a:off x="8934450" y="1571625"/>
            <a:ext cx="2705100" cy="857250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AF shim → PCF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N5 → N7 / SMF → N4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為兩端各裝一份語音規則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8BEF0D53-B4A6-4597-85A0-070EF0A644BD}"/>
              </a:ext>
            </a:extLst>
          </p:cNvPr>
          <p:cNvSpPr/>
          <p:nvPr/>
        </p:nvSpPr>
        <p:spPr>
          <a:xfrm>
            <a:off x="685800" y="3286125"/>
            <a:ext cx="1714500" cy="9239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877B5"/>
                </a:solidFill>
                <a:latin typeface="Noto Sans CJK TC"/>
                <a:ea typeface="Noto Sans CJK TC"/>
              </a:rPr>
              <a:t>小明 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「喂，聽得到嗎？」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B9544BD-33A7-4EDB-AAC7-110C90EFED98}"/>
              </a:ext>
            </a:extLst>
          </p:cNvPr>
          <p:cNvSpPr/>
          <p:nvPr/>
        </p:nvSpPr>
        <p:spPr>
          <a:xfrm>
            <a:off x="5238750" y="3286125"/>
            <a:ext cx="1714500" cy="9239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877B5"/>
                </a:solidFill>
                <a:latin typeface="Noto Sans CJK TC"/>
                <a:ea typeface="Noto Sans CJK TC"/>
              </a:rPr>
              <a:t>UPF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轉送真正的語音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2076D78-8BE2-4900-9D73-316F0AEBA932}"/>
              </a:ext>
            </a:extLst>
          </p:cNvPr>
          <p:cNvSpPr/>
          <p:nvPr/>
        </p:nvSpPr>
        <p:spPr>
          <a:xfrm>
            <a:off x="9791700" y="3286125"/>
            <a:ext cx="1714500" cy="9239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877B5"/>
                </a:solidFill>
                <a:latin typeface="Noto Sans CJK TC"/>
                <a:ea typeface="Noto Sans CJK TC"/>
              </a:rPr>
              <a:t>小華 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「聽到了！」</a:t>
            </a: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4759A4C5-9119-46BB-985D-25063D21F7E3}"/>
              </a:ext>
            </a:extLst>
          </p:cNvPr>
          <p:cNvCxnSpPr/>
          <p:nvPr/>
        </p:nvCxnSpPr>
        <p:spPr>
          <a:xfrm>
            <a:off x="1543050" y="4438650"/>
            <a:ext cx="9105900" cy="9525"/>
          </a:xfrm>
          <a:prstGeom prst="straightConnector1">
            <a:avLst/>
          </a:prstGeom>
          <a:ln w="20320" cap="flat">
            <a:solidFill>
              <a:srgbClr val="2877B5"/>
            </a:solidFill>
            <a:tailEnd type="triangle" w="med" len="med"/>
          </a:ln>
        </p:spPr>
      </p:cxnSp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B5483B4B-36EC-47F8-8C94-93BF5C38EA83}"/>
              </a:ext>
            </a:extLst>
          </p:cNvPr>
          <p:cNvCxnSpPr/>
          <p:nvPr/>
        </p:nvCxnSpPr>
        <p:spPr>
          <a:xfrm flipH="1">
            <a:off x="1543050" y="4676775"/>
            <a:ext cx="9105900" cy="9525"/>
          </a:xfrm>
          <a:prstGeom prst="straightConnector1">
            <a:avLst/>
          </a:prstGeom>
          <a:ln w="20320" cap="flat">
            <a:solidFill>
              <a:srgbClr val="2877B5"/>
            </a:solidFill>
            <a:tailEnd type="triangle" w="med" len="med"/>
          </a:ln>
        </p:spPr>
      </p:cxnSp>
      <p:sp>
        <p:nvSpPr>
          <p:cNvPr id="12" name="TextBox 12">
            <a:extLst>
              <a:ext uri="{FF2B5EF4-FFF2-40B4-BE49-F238E27FC236}">
                <a16:creationId xmlns:a16="http://schemas.microsoft.com/office/drawing/2014/main" id="{BAF7C231-811E-43AE-ADBC-F1BCDF396D35}"/>
              </a:ext>
            </a:extLst>
          </p:cNvPr>
          <p:cNvSpPr txBox="1"/>
          <p:nvPr/>
        </p:nvSpPr>
        <p:spPr>
          <a:xfrm>
            <a:off x="2667000" y="4219575"/>
            <a:ext cx="6858000" cy="209550"/>
          </a:xfrm>
        </p:spPr>
        <p:txBody>
          <a:bodyPr wrap="square" rtlCol="0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877B5"/>
                </a:solidFill>
                <a:latin typeface="Noto Sans CJK TC"/>
                <a:ea typeface="Noto Sans CJK TC"/>
              </a:rPr>
              <a:t>RTP 語音：小明 ⇄ UPF ⇄ 小華（CSCF 不轉送聲音）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313F1848-2B16-43F8-BD66-DFA3E99FB13D}"/>
              </a:ext>
            </a:extLst>
          </p:cNvPr>
          <p:cNvSpPr/>
          <p:nvPr/>
        </p:nvSpPr>
        <p:spPr>
          <a:xfrm>
            <a:off x="1495425" y="4391025"/>
            <a:ext cx="95250" cy="95250"/>
          </a:xfrm>
          <a:prstGeom prst="ellipse">
            <a:avLst/>
          </a:prstGeom>
          <a:solidFill>
            <a:srgbClr val="2877B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9C6F9CDA-38DE-43C2-ACEC-CCE89B96B7E4}"/>
              </a:ext>
            </a:extLst>
          </p:cNvPr>
          <p:cNvSpPr/>
          <p:nvPr/>
        </p:nvSpPr>
        <p:spPr>
          <a:xfrm>
            <a:off x="10601325" y="4629150"/>
            <a:ext cx="95250" cy="95250"/>
          </a:xfrm>
          <a:prstGeom prst="ellipse">
            <a:avLst/>
          </a:prstGeom>
          <a:solidFill>
            <a:srgbClr val="2877B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59712E0D-E840-4166-90BC-FE99A9EB6CD4}"/>
              </a:ext>
            </a:extLst>
          </p:cNvPr>
          <p:cNvCxnSpPr/>
          <p:nvPr/>
        </p:nvCxnSpPr>
        <p:spPr>
          <a:xfrm>
            <a:off x="8096250" y="2000250"/>
            <a:ext cx="685800" cy="9525"/>
          </a:xfrm>
          <a:prstGeom prst="straightConnector1">
            <a:avLst/>
          </a:prstGeom>
          <a:ln w="20320" cap="flat">
            <a:solidFill>
              <a:srgbClr val="2877B5"/>
            </a:solidFill>
            <a:tailEnd type="triangle" w="med" len="med"/>
          </a:ln>
        </p:spPr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A7EE07C8-A0AB-4291-86FB-12BE4911B53F}"/>
              </a:ext>
            </a:extLst>
          </p:cNvPr>
          <p:cNvCxnSpPr/>
          <p:nvPr/>
        </p:nvCxnSpPr>
        <p:spPr>
          <a:xfrm>
            <a:off x="10287000" y="2762250"/>
            <a:ext cx="9525" cy="219075"/>
          </a:xfrm>
          <a:prstGeom prst="line">
            <a:avLst/>
          </a:prstGeom>
          <a:ln w="20320" cap="flat">
            <a:solidFill>
              <a:srgbClr val="2877B5"/>
            </a:solidFill>
          </a:ln>
        </p:spPr>
      </p:cxnSp>
      <p:cxnSp>
        <p:nvCxnSpPr>
          <p:cNvPr id="17" name="Straight Connector 17">
            <a:extLst>
              <a:ext uri="{FF2B5EF4-FFF2-40B4-BE49-F238E27FC236}">
                <a16:creationId xmlns:a16="http://schemas.microsoft.com/office/drawing/2014/main" id="{F43F44BB-FF0F-415F-86F4-7D566D5E73C2}"/>
              </a:ext>
            </a:extLst>
          </p:cNvPr>
          <p:cNvCxnSpPr/>
          <p:nvPr/>
        </p:nvCxnSpPr>
        <p:spPr>
          <a:xfrm>
            <a:off x="6096000" y="2981325"/>
            <a:ext cx="4191000" cy="9525"/>
          </a:xfrm>
          <a:prstGeom prst="line">
            <a:avLst/>
          </a:prstGeom>
          <a:ln w="20320" cap="flat">
            <a:solidFill>
              <a:srgbClr val="2877B5"/>
            </a:solidFill>
          </a:ln>
        </p:spPr>
      </p:cxnSp>
      <p:cxnSp>
        <p:nvCxnSpPr>
          <p:cNvPr id="18" name="Straight Connector 18">
            <a:extLst>
              <a:ext uri="{FF2B5EF4-FFF2-40B4-BE49-F238E27FC236}">
                <a16:creationId xmlns:a16="http://schemas.microsoft.com/office/drawing/2014/main" id="{C83AAA03-9F4A-41C6-985E-9ED7ECB37C90}"/>
              </a:ext>
            </a:extLst>
          </p:cNvPr>
          <p:cNvCxnSpPr/>
          <p:nvPr/>
        </p:nvCxnSpPr>
        <p:spPr>
          <a:xfrm>
            <a:off x="6096000" y="2981325"/>
            <a:ext cx="9525" cy="247650"/>
          </a:xfrm>
          <a:prstGeom prst="straightConnector1">
            <a:avLst/>
          </a:prstGeom>
          <a:ln w="20320" cap="flat">
            <a:solidFill>
              <a:srgbClr val="2877B5"/>
            </a:solidFill>
            <a:tailEnd type="triangle" w="med" len="med"/>
          </a:ln>
        </p:spPr>
      </p:cxnSp>
      <p:sp>
        <p:nvSpPr>
          <p:cNvPr id="19" name="Shape 19">
            <a:extLst>
              <a:ext uri="{FF2B5EF4-FFF2-40B4-BE49-F238E27FC236}">
                <a16:creationId xmlns:a16="http://schemas.microsoft.com/office/drawing/2014/main" id="{2867F9C6-B92A-47B4-A134-7D0C9086B142}"/>
              </a:ext>
            </a:extLst>
          </p:cNvPr>
          <p:cNvSpPr/>
          <p:nvPr/>
        </p:nvSpPr>
        <p:spPr>
          <a:xfrm>
            <a:off x="8048625" y="1952625"/>
            <a:ext cx="95250" cy="95250"/>
          </a:xfrm>
          <a:prstGeom prst="ellipse">
            <a:avLst/>
          </a:prstGeom>
          <a:solidFill>
            <a:srgbClr val="2877B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0" name="Straight Connector 20">
            <a:extLst>
              <a:ext uri="{FF2B5EF4-FFF2-40B4-BE49-F238E27FC236}">
                <a16:creationId xmlns:a16="http://schemas.microsoft.com/office/drawing/2014/main" id="{A32A1BEF-3FBC-47F7-B541-16EB6C5E1260}"/>
              </a:ext>
            </a:extLst>
          </p:cNvPr>
          <p:cNvCxnSpPr/>
          <p:nvPr/>
        </p:nvCxnSpPr>
        <p:spPr>
          <a:xfrm>
            <a:off x="1543050" y="2552700"/>
            <a:ext cx="9525" cy="619125"/>
          </a:xfrm>
          <a:prstGeom prst="line">
            <a:avLst/>
          </a:prstGeom>
          <a:ln w="20320" cap="flat">
            <a:solidFill>
              <a:srgbClr val="E8742A"/>
            </a:solidFill>
          </a:ln>
        </p:spPr>
      </p:cxnSp>
      <p:cxnSp>
        <p:nvCxnSpPr>
          <p:cNvPr id="21" name="Straight Connector 21">
            <a:extLst>
              <a:ext uri="{FF2B5EF4-FFF2-40B4-BE49-F238E27FC236}">
                <a16:creationId xmlns:a16="http://schemas.microsoft.com/office/drawing/2014/main" id="{7B1610ED-88CB-4479-BC93-E455521D9A3D}"/>
              </a:ext>
            </a:extLst>
          </p:cNvPr>
          <p:cNvCxnSpPr/>
          <p:nvPr/>
        </p:nvCxnSpPr>
        <p:spPr>
          <a:xfrm>
            <a:off x="1543050" y="2552700"/>
            <a:ext cx="910590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2" name="Straight Connector 22">
            <a:extLst>
              <a:ext uri="{FF2B5EF4-FFF2-40B4-BE49-F238E27FC236}">
                <a16:creationId xmlns:a16="http://schemas.microsoft.com/office/drawing/2014/main" id="{7ADCE702-0B52-47D8-AC2F-D91894231362}"/>
              </a:ext>
            </a:extLst>
          </p:cNvPr>
          <p:cNvCxnSpPr/>
          <p:nvPr/>
        </p:nvCxnSpPr>
        <p:spPr>
          <a:xfrm>
            <a:off x="10648950" y="2552700"/>
            <a:ext cx="9525" cy="6191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3" name="Straight Connector 23">
            <a:extLst>
              <a:ext uri="{FF2B5EF4-FFF2-40B4-BE49-F238E27FC236}">
                <a16:creationId xmlns:a16="http://schemas.microsoft.com/office/drawing/2014/main" id="{11DE698F-386D-4D49-A542-DF0E9D20D359}"/>
              </a:ext>
            </a:extLst>
          </p:cNvPr>
          <p:cNvCxnSpPr/>
          <p:nvPr/>
        </p:nvCxnSpPr>
        <p:spPr>
          <a:xfrm>
            <a:off x="6096000" y="2409825"/>
            <a:ext cx="9525" cy="142875"/>
          </a:xfrm>
          <a:prstGeom prst="line">
            <a:avLst/>
          </a:prstGeom>
          <a:ln w="20320" cap="flat">
            <a:solidFill>
              <a:srgbClr val="E8742A"/>
            </a:solidFill>
          </a:ln>
        </p:spPr>
      </p:cxnSp>
      <p:sp>
        <p:nvSpPr>
          <p:cNvPr id="24" name="TextBox 24">
            <a:extLst>
              <a:ext uri="{FF2B5EF4-FFF2-40B4-BE49-F238E27FC236}">
                <a16:creationId xmlns:a16="http://schemas.microsoft.com/office/drawing/2014/main" id="{326051E3-5842-4992-B3EA-85FA64447529}"/>
              </a:ext>
            </a:extLst>
          </p:cNvPr>
          <p:cNvSpPr txBox="1"/>
          <p:nvPr/>
        </p:nvSpPr>
        <p:spPr>
          <a:xfrm>
            <a:off x="4048125" y="2619375"/>
            <a:ext cx="4476750" cy="257175"/>
          </a:xfrm>
        </p:spPr>
        <p:txBody>
          <a:bodyPr wrap="square" rtlCol="0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BYE / 200 OK：仍經既有的 SIP 路徑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0B3746C4-385D-4499-BB17-0A8DC6A30855}"/>
              </a:ext>
            </a:extLst>
          </p:cNvPr>
          <p:cNvSpPr/>
          <p:nvPr/>
        </p:nvSpPr>
        <p:spPr>
          <a:xfrm>
            <a:off x="1495425" y="3124200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AAF3E36A-DF39-4A3B-A969-3E1918DF2BB0}"/>
              </a:ext>
            </a:extLst>
          </p:cNvPr>
          <p:cNvSpPr/>
          <p:nvPr/>
        </p:nvSpPr>
        <p:spPr>
          <a:xfrm>
            <a:off x="571500" y="5105400"/>
            <a:ext cx="3495675" cy="981075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① 接聽：向 5GC 申請 QoS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P-CSCF 讀 SDP，經 AF shim 送 N5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媒體用 5QI 1，信令維持 5QI 5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563744BA-324A-4A26-96CB-EBAB57E7C42B}"/>
              </a:ext>
            </a:extLst>
          </p:cNvPr>
          <p:cNvSpPr/>
          <p:nvPr/>
        </p:nvSpPr>
        <p:spPr>
          <a:xfrm>
            <a:off x="4352925" y="5105400"/>
            <a:ext cx="3495675" cy="981075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② 說話：RTP 雙向傳送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本專案在 UPF 內轉給另一個 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IMS 管通話，UPF 搬語音封包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1187B631-1605-431E-A67D-75C67CD786E2}"/>
              </a:ext>
            </a:extLst>
          </p:cNvPr>
          <p:cNvSpPr/>
          <p:nvPr/>
        </p:nvSpPr>
        <p:spPr>
          <a:xfrm>
            <a:off x="8134350" y="5105400"/>
            <a:ext cx="3495675" cy="981075"/>
          </a:xfrm>
          <a:prstGeom prst="roundRect">
            <a:avLst/>
          </a:prstGeom>
          <a:solidFill>
            <a:srgbClr val="FCEBDD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③ 掛斷：BYE 並釋放 QoS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結束通話，釋放兩端媒體預留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IMS 註冊與 PDU session 仍保留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101EFD1-2F1B-4AA4-B2EF-3AAF36547CDB}"/>
              </a:ext>
            </a:extLst>
          </p:cNvPr>
          <p:cNvSpPr txBox="1"/>
          <p:nvPr/>
        </p:nvSpPr>
        <p:spPr>
          <a:xfrm>
            <a:off x="571500" y="6343650"/>
            <a:ext cx="11049000" cy="2857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5B6575"/>
                </a:solidFill>
                <a:latin typeface="Noto Sans CJK TC"/>
                <a:ea typeface="Noto Sans CJK TC"/>
              </a:rPr>
              <a:t>逐次點擊 3 次｜省略 gNB／N3；本 PoC 驗證 QoS 規則存在，未驗證 GBR 實際限速。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49" fill="hold">
                      <p:stCondLst>
                        <p:cond delay="indefinite"/>
                      </p:stCondLst>
                      <p:childTnLst>
                        <p:par>
                          <p:cTn id="2650" fill="hold">
                            <p:stCondLst>
                              <p:cond delay="0"/>
                            </p:stCondLst>
                            <p:childTnLst>
                              <p:par>
                                <p:cTn id="26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3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7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1" dur="2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5" dur="2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9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3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1796875 0.0000000 L 0.1796875 0.1430556 L -0.1640625 0.1430556 L -0.1640625 0.1791667 E" pathEditMode="relative">
                                      <p:cBhvr>
                                        <p:cTn id="2636" dur="2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37" presetID="1" presetClass="exit" presetSubtype="0" fill="hold" grpId="2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1" presetID="26" presetClass="emph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Scale>
                                      <p:cBhvr>
                                        <p:cTn id="2644" dur="21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645" presetID="26" presetClass="emph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Scale>
                                      <p:cBhvr>
                                        <p:cTn id="2648" dur="21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7" fill="hold">
                      <p:stCondLst>
                        <p:cond delay="indefinite"/>
                      </p:stCondLst>
                      <p:childTnLst>
                        <p:par>
                          <p:cTn id="2698" fill="hold">
                            <p:stCondLst>
                              <p:cond delay="0"/>
                            </p:stCondLst>
                            <p:childTnLst>
                              <p:par>
                                <p:cTn id="26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4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8" dur="2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2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6" dur="2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3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7468750 0.0000000 E" pathEditMode="relative">
                                      <p:cBhvr>
                                        <p:cTn id="2676" dur="2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77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7468750 0.0000000 E" pathEditMode="relative">
                                      <p:cBhvr>
                                        <p:cTn id="2680" dur="2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81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5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9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2692" dur="21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693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2696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8" fill="hold">
                      <p:stCondLst>
                        <p:cond delay="indefinite"/>
                      </p:stCondLst>
                      <p:childTnLst>
                        <p:par>
                          <p:cTn id="2759" fill="hold">
                            <p:stCondLst>
                              <p:cond delay="0"/>
                            </p:stCondLst>
                            <p:childTnLst>
                              <p:par>
                                <p:cTn id="26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2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6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0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4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8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2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4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8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0000000 -0.0902778 L 0.7468750 -0.0902778 L 0.7468750 0.0000000 L 0.7468750 -0.0902778 L 0.0000000 -0.0902778 L 0.0000000 0.0000000 E" pathEditMode="relative">
                                      <p:cBhvr>
                                        <p:cTn id="2741" dur="2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42" presetID="1" presetClass="exit" presetSubtype="0" fill="hold" grpId="2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2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6" presetID="26" presetClass="emph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animScale>
                                      <p:cBhvr>
                                        <p:cTn id="2749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750" presetID="26" presetClass="emph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animScale>
                                      <p:cBhvr>
                                        <p:cTn id="2753" dur="21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754" presetID="26" presetClass="emph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animScale>
                                      <p:cBhvr>
                                        <p:cTn id="2757" dur="21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5" grpId="0"/>
      <p:bldP spid="16" grpId="0"/>
      <p:bldP spid="17" grpId="0"/>
      <p:bldP spid="18" grpId="0"/>
      <p:bldP spid="19" grpId="0"/>
      <p:bldP spid="19" grpId="1"/>
      <p:bldP spid="19" grpId="2"/>
      <p:bldP spid="6" grpId="0"/>
      <p:bldP spid="8" grpId="0"/>
      <p:bldP spid="27" grpId="0"/>
      <p:bldP spid="10" grpId="0"/>
      <p:bldP spid="11" grpId="0"/>
      <p:bldP spid="12" grpId="0"/>
      <p:bldP spid="13" grpId="0"/>
      <p:bldP spid="14" grpId="0"/>
      <p:bldP spid="13" grpId="1"/>
      <p:bldP spid="14" grpId="1"/>
      <p:bldP spid="13" grpId="2"/>
      <p:bldP spid="14" grpId="2"/>
      <p:bldP spid="7" grpId="0"/>
      <p:bldP spid="9" grpId="0"/>
      <p:bldP spid="28" grpId="0"/>
      <p:bldP spid="20" grpId="0"/>
      <p:bldP spid="21" grpId="0"/>
      <p:bldP spid="22" grpId="0"/>
      <p:bldP spid="23" grpId="0"/>
      <p:bldP spid="24" grpId="0"/>
      <p:bldP spid="10" grpId="1"/>
      <p:bldP spid="11" grpId="1"/>
      <p:bldP spid="12" grpId="1"/>
      <p:bldP spid="25" grpId="0"/>
      <p:bldP spid="25" grpId="1"/>
      <p:bldP spid="25" grpId="2"/>
      <p:bldP spid="5" grpId="0"/>
      <p:bldP spid="6" grpId="1"/>
      <p:bldP spid="8" grpId="1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