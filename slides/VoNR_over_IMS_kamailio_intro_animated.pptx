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1" r:id="rId27"/>
    <p:sldId id="282" r:id="rId28"/>
    <p:sldId id="283" r:id="rId29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4549A94-C4E5-4090-9B60-680A91783FA8}"/>
              </a:ext>
            </a:extLst>
          </p:cNvPr>
          <p:cNvSpPr/>
          <p:nvPr/>
        </p:nvSpPr>
        <p:spPr>
          <a:xfrm>
            <a:off x="7315200" y="0"/>
            <a:ext cx="4876800" cy="6858000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5AEF035-14B9-4175-A8AC-168DB6D9D991}"/>
              </a:ext>
            </a:extLst>
          </p:cNvPr>
          <p:cNvSpPr txBox="1"/>
          <p:nvPr/>
        </p:nvSpPr>
        <p:spPr>
          <a:xfrm>
            <a:off x="762000" y="1047750"/>
            <a:ext cx="5905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C9D3E0"/>
                </a:solidFill>
              </a:rPr>
              <a:t>5G 語音入門 · 2026-10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A58DA97-EC18-4EA9-86F1-2D59718DAE3B}"/>
              </a:ext>
            </a:extLst>
          </p:cNvPr>
          <p:cNvSpPr txBox="1"/>
          <p:nvPr/>
        </p:nvSpPr>
        <p:spPr>
          <a:xfrm>
            <a:off x="762000" y="1905000"/>
            <a:ext cx="62865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05000"/>
              </a:lnSpc>
            </a:pPr>
            <a:r>
              <a:rPr sz="5400" b="1">
                <a:solidFill>
                  <a:srgbClr val="FFFFFF"/>
                </a:solidFill>
              </a:rPr>
              <a:t>VoNR over IMS</a:t>
            </a:r>
          </a:p>
          <a:p>
            <a:pPr>
              <a:lnSpc>
                <a:spcPct val="105000"/>
              </a:lnSpc>
            </a:pPr>
            <a:r>
              <a:rPr sz="5400" b="1">
                <a:solidFill>
                  <a:srgbClr val="E8742A"/>
                </a:solidFill>
              </a:rPr>
              <a:t>× Kamailio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C9CD7DF-6BAC-4308-A23C-DA866742ADA5}"/>
              </a:ext>
            </a:extLst>
          </p:cNvPr>
          <p:cNvSpPr txBox="1"/>
          <p:nvPr/>
        </p:nvSpPr>
        <p:spPr>
          <a:xfrm>
            <a:off x="762000" y="4191000"/>
            <a:ext cx="6096000" cy="4191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>
                <a:solidFill>
                  <a:srgbClr val="FFFFFF"/>
                </a:solidFill>
              </a:rPr>
              <a:t>用 free5gc + Kamailio 跑一通 5G 語音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C2C7F4-DB52-4648-A71B-C3D1A424A5C4}"/>
              </a:ext>
            </a:extLst>
          </p:cNvPr>
          <p:cNvSpPr txBox="1"/>
          <p:nvPr/>
        </p:nvSpPr>
        <p:spPr>
          <a:xfrm>
            <a:off x="762000" y="4857750"/>
            <a:ext cx="6096000" cy="666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C9D3E0"/>
                </a:solidFill>
              </a:rPr>
              <a:t>IMS 基礎、kamailio-free5gc 的做法、重建計畫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A4ABFC9-9803-4948-8543-2EFE429AD360}"/>
              </a:ext>
            </a:extLst>
          </p:cNvPr>
          <p:cNvSpPr txBox="1"/>
          <p:nvPr/>
        </p:nvSpPr>
        <p:spPr>
          <a:xfrm>
            <a:off x="7924800" y="1047750"/>
            <a:ext cx="38100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0B1B2E"/>
                </a:solidFill>
              </a:rPr>
              <a:t>專案組成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A8E38CA-2C29-4064-911B-78C2861F6E9A}"/>
              </a:ext>
            </a:extLst>
          </p:cNvPr>
          <p:cNvSpPr/>
          <p:nvPr/>
        </p:nvSpPr>
        <p:spPr>
          <a:xfrm>
            <a:off x="7924800" y="15240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free5gc 4.2.3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5G Core（AMF / SMF / UPF / PCF …）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A2BE93D-C9AE-46A6-A793-F79857148665}"/>
              </a:ext>
            </a:extLst>
          </p:cNvPr>
          <p:cNvSpPr/>
          <p:nvPr/>
        </p:nvSpPr>
        <p:spPr>
          <a:xfrm>
            <a:off x="7924800" y="26289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Kamailio 6.1.4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P-CSCF / I-CSCF / S-CSCF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BC357FD-78C3-4166-8E0B-6601B1ACAFFC}"/>
              </a:ext>
            </a:extLst>
          </p:cNvPr>
          <p:cNvSpPr/>
          <p:nvPr/>
        </p:nvSpPr>
        <p:spPr>
          <a:xfrm>
            <a:off x="7924800" y="37338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E8742A"/>
                </a:solidFill>
              </a:rPr>
              <a:t>  PyHSS 2.0.0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IMS 用戶資料庫（Cx / Diameter）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631EA2E4-9858-41E7-AE1C-E860CC0A6872}"/>
              </a:ext>
            </a:extLst>
          </p:cNvPr>
          <p:cNvSpPr/>
          <p:nvPr/>
        </p:nvSpPr>
        <p:spPr>
          <a:xfrm>
            <a:off x="7924800" y="4838700"/>
            <a:ext cx="3657600" cy="9144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l"/>
            <a:r>
              <a:rPr sz="2200" b="1">
                <a:solidFill>
                  <a:srgbClr val="0F4C81"/>
                </a:solidFill>
              </a:rPr>
              <a:t>  free-ran-ue 2.5.0</a:t>
            </a:r>
          </a:p>
          <a:p>
            <a:pPr algn="l"/>
            <a:r>
              <a:rPr sz="1300">
                <a:solidFill>
                  <a:srgbClr val="5B6575"/>
                </a:solidFill>
              </a:rPr>
              <a:t>  模擬 gNB + UE，UE 內跑 SIPp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45AC70C-DDE4-4A7D-9830-C15E774C3C6F}"/>
              </a:ext>
            </a:extLst>
          </p:cNvPr>
          <p:cNvSpPr/>
          <p:nvPr/>
        </p:nvSpPr>
        <p:spPr>
          <a:xfrm>
            <a:off x="762000" y="1619250"/>
            <a:ext cx="5143500" cy="3810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0C3473A-057A-4797-AFF5-CB2F4EE8F607}"/>
              </a:ext>
            </a:extLst>
          </p:cNvPr>
          <p:cNvSpPr/>
          <p:nvPr/>
        </p:nvSpPr>
        <p:spPr>
          <a:xfrm>
            <a:off x="6286500" y="1619250"/>
            <a:ext cx="5143500" cy="3810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B0279A3-13F8-4086-ACF4-45DDBDF4A588}"/>
              </a:ext>
            </a:extLst>
          </p:cNvPr>
          <p:cNvSpPr/>
          <p:nvPr/>
        </p:nvSpPr>
        <p:spPr>
          <a:xfrm>
            <a:off x="5829300" y="3276600"/>
            <a:ext cx="533400" cy="4953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747D47C-9563-48E4-9C84-BA60D49EC830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5GC 只管連線，不懂打電話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A2200A9-B184-4920-AA98-4839EB6A9577}"/>
              </a:ext>
            </a:extLst>
          </p:cNvPr>
          <p:cNvSpPr txBox="1"/>
          <p:nvPr/>
        </p:nvSpPr>
        <p:spPr>
          <a:xfrm>
            <a:off x="10668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0F4C81"/>
                </a:solidFill>
              </a:rPr>
              <a:t>5GC 做的事：連線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C0681BE-181E-40D1-957D-69BF2B6D5207}"/>
              </a:ext>
            </a:extLst>
          </p:cNvPr>
          <p:cNvSpPr txBox="1"/>
          <p:nvPr/>
        </p:nvSpPr>
        <p:spPr>
          <a:xfrm>
            <a:off x="10668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認證能不能上網（5G-AKA）</a:t>
            </a:r>
            <a:br/>
            <a:r>
              <a:rPr sz="1300">
                <a:solidFill>
                  <a:srgbClr val="5B6575"/>
                </a:solidFill>
              </a:rPr>
              <a:t>AMF / AUSF / UDM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建立 PDU session、分配 IP</a:t>
            </a:r>
            <a:br/>
            <a:r>
              <a:rPr sz="1300">
                <a:solidFill>
                  <a:srgbClr val="5B6575"/>
                </a:solidFill>
              </a:rPr>
              <a:t>SMF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轉送封包</a:t>
            </a:r>
            <a:br/>
            <a:r>
              <a:rPr sz="1300">
                <a:solidFill>
                  <a:srgbClr val="5B6575"/>
                </a:solidFill>
              </a:rPr>
              <a:t>UPF</a:t>
            </a:r>
          </a:p>
          <a:p>
            <a:r>
              <a:rPr sz="1600" b="1">
                <a:solidFill>
                  <a:srgbClr val="14213D"/>
                </a:solidFill>
              </a:rPr>
              <a:t>決定 QoS 政策</a:t>
            </a:r>
            <a:br/>
            <a:r>
              <a:rPr sz="1300">
                <a:solidFill>
                  <a:srgbClr val="5B6575"/>
                </a:solidFill>
              </a:rPr>
              <a:t>PCF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1BF7EC-77A4-44B8-894D-545DB4BC9958}"/>
              </a:ext>
            </a:extLst>
          </p:cNvPr>
          <p:cNvSpPr txBox="1"/>
          <p:nvPr/>
        </p:nvSpPr>
        <p:spPr>
          <a:xfrm>
            <a:off x="6591300" y="1866900"/>
            <a:ext cx="4572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200" b="1">
                <a:solidFill>
                  <a:srgbClr val="E8742A"/>
                </a:solidFill>
              </a:rPr>
              <a:t>打電話還缺：服務 → IMS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626D808-FCCA-41B6-A154-0AB0C6D95C9A}"/>
              </a:ext>
            </a:extLst>
          </p:cNvPr>
          <p:cNvSpPr txBox="1"/>
          <p:nvPr/>
        </p:nvSpPr>
        <p:spPr>
          <a:xfrm>
            <a:off x="6591300" y="2438400"/>
            <a:ext cx="45720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定址</a:t>
            </a:r>
            <a:br/>
            <a:r>
              <a:rPr sz="1300">
                <a:solidFill>
                  <a:srgbClr val="5B6575"/>
                </a:solidFill>
              </a:rPr>
              <a:t>這個號碼現在在哪個 IP？（註冊）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服務認證</a:t>
            </a:r>
            <a:br/>
            <a:r>
              <a:rPr sz="1300">
                <a:solidFill>
                  <a:srgbClr val="5B6575"/>
                </a:solidFill>
              </a:rPr>
              <a:t>有沒有權限用通話服務？（IMS AKA）</a:t>
            </a:r>
          </a:p>
          <a:p>
            <a:pPr>
              <a:spcAft>
                <a:spcPts val="1200"/>
              </a:spcAft>
            </a:pPr>
            <a:r>
              <a:rPr sz="1600" b="1">
                <a:solidFill>
                  <a:srgbClr val="14213D"/>
                </a:solidFill>
              </a:rPr>
              <a:t>通話控制</a:t>
            </a:r>
            <a:br/>
            <a:r>
              <a:rPr sz="1300">
                <a:solidFill>
                  <a:srgbClr val="5B6575"/>
                </a:solidFill>
              </a:rPr>
              <a:t>響鈴、接聽、掛斷、轉接、保留</a:t>
            </a:r>
          </a:p>
          <a:p>
            <a:r>
              <a:rPr sz="1600" b="1">
                <a:solidFill>
                  <a:srgbClr val="14213D"/>
                </a:solidFill>
              </a:rPr>
              <a:t>向網路要語音 QoS</a:t>
            </a:r>
            <a:br/>
            <a:r>
              <a:rPr sz="1300">
                <a:solidFill>
                  <a:srgbClr val="5B6575"/>
                </a:solidFill>
              </a:rPr>
              <a:t>低延遲、保證頻寬（GBR）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FA308FD-D44B-4754-84FF-9B38EAD670B1}"/>
              </a:ext>
            </a:extLst>
          </p:cNvPr>
          <p:cNvSpPr txBox="1"/>
          <p:nvPr/>
        </p:nvSpPr>
        <p:spPr>
          <a:xfrm>
            <a:off x="762000" y="5753100"/>
            <a:ext cx="106680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 b="1">
                <a:solidFill>
                  <a:srgbClr val="14213D"/>
                </a:solidFill>
              </a:rPr>
              <a:t>VoLTE、VoNR 背後都是 IMS；</a:t>
            </a:r>
            <a:r>
              <a:rPr sz="1600">
                <a:solidFill>
                  <a:srgbClr val="5B6575"/>
                </a:solidFill>
              </a:rPr>
              <a:t>對 5GC 來說，它只是 N6 後面的一台 server。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35AEC76-89E3-43F1-9049-3A4B7C9D51DD}"/>
              </a:ext>
            </a:extLst>
          </p:cNvPr>
          <p:cNvSpPr/>
          <p:nvPr/>
        </p:nvSpPr>
        <p:spPr>
          <a:xfrm>
            <a:off x="6286500" y="666750"/>
            <a:ext cx="5334000" cy="1619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32C6134-6B0A-427F-AF22-2479A1850C8C}"/>
              </a:ext>
            </a:extLst>
          </p:cNvPr>
          <p:cNvSpPr/>
          <p:nvPr/>
        </p:nvSpPr>
        <p:spPr>
          <a:xfrm>
            <a:off x="6286500" y="2495550"/>
            <a:ext cx="5334000" cy="18097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D05532E-ED49-4836-B108-6B8DC0E40F48}"/>
              </a:ext>
            </a:extLst>
          </p:cNvPr>
          <p:cNvSpPr/>
          <p:nvPr/>
        </p:nvSpPr>
        <p:spPr>
          <a:xfrm>
            <a:off x="6286500" y="4514850"/>
            <a:ext cx="5334000" cy="18097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68A8948-7819-4E46-8C4D-F6B37C914EEA}"/>
              </a:ext>
            </a:extLst>
          </p:cNvPr>
          <p:cNvSpPr txBox="1"/>
          <p:nvPr/>
        </p:nvSpPr>
        <p:spPr>
          <a:xfrm>
            <a:off x="6553200" y="857250"/>
            <a:ext cx="48006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4213D"/>
                </a:solidFill>
              </a:rPr>
              <a:t>服務層 Application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5B6575"/>
                </a:solidFill>
              </a:rPr>
              <a:t>TAS 補充服務、語音信箱、會議</a:t>
            </a:r>
          </a:p>
          <a:p>
            <a:r>
              <a:rPr sz="1300" b="1">
                <a:solidFill>
                  <a:srgbClr val="E8742A"/>
                </a:solidFill>
              </a:rPr>
              <a:t>本專案沒有這一層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1B59283-E917-4ECD-B386-AE2FF7BBBB83}"/>
              </a:ext>
            </a:extLst>
          </p:cNvPr>
          <p:cNvSpPr txBox="1"/>
          <p:nvPr/>
        </p:nvSpPr>
        <p:spPr>
          <a:xfrm>
            <a:off x="6553200" y="2686050"/>
            <a:ext cx="4800600" cy="1428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控制層 Session Control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P / I / S-CSCF：SIP 註冊與路由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</a:rPr>
              <a:t>HSS：IMS 用戶資料庫</a:t>
            </a:r>
          </a:p>
          <a:p>
            <a:r>
              <a:rPr sz="1300" b="1">
                <a:solidFill>
                  <a:srgbClr val="0B1B2E"/>
                </a:solidFill>
              </a:rPr>
              <a:t>本專案：3 個 Kamailio + PyHSS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10F17E73-8471-4A53-AD91-7B8A639CC715}"/>
              </a:ext>
            </a:extLst>
          </p:cNvPr>
          <p:cNvSpPr txBox="1"/>
          <p:nvPr/>
        </p:nvSpPr>
        <p:spPr>
          <a:xfrm>
            <a:off x="6553200" y="4686300"/>
            <a:ext cx="48006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接取層 Access：只負責把封包送到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EB4C0C1-9072-46FC-8A24-5567B0CAA0B2}"/>
              </a:ext>
            </a:extLst>
          </p:cNvPr>
          <p:cNvSpPr/>
          <p:nvPr/>
        </p:nvSpPr>
        <p:spPr>
          <a:xfrm>
            <a:off x="6553200" y="5257800"/>
            <a:ext cx="1524000" cy="838200"/>
          </a:xfrm>
          <a:prstGeom prst="roundRect">
            <a:avLst/>
          </a:prstGeom>
          <a:solidFill>
            <a:srgbClr val="FFFFFF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5G NR + 5GC</a:t>
            </a:r>
          </a:p>
          <a:p>
            <a:pPr algn="ctr"/>
            <a:r>
              <a:rPr sz="1200">
                <a:solidFill>
                  <a:srgbClr val="E8742A"/>
                </a:solidFill>
              </a:rPr>
              <a:t>VoNR · 本專案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4D051E-1442-4E71-B32F-23A2BC696044}"/>
              </a:ext>
            </a:extLst>
          </p:cNvPr>
          <p:cNvSpPr/>
          <p:nvPr/>
        </p:nvSpPr>
        <p:spPr>
          <a:xfrm>
            <a:off x="81915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LTE + EPC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VoLTE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D31F6BA0-153E-4502-B75D-F407A8F1D569}"/>
              </a:ext>
            </a:extLst>
          </p:cNvPr>
          <p:cNvSpPr/>
          <p:nvPr/>
        </p:nvSpPr>
        <p:spPr>
          <a:xfrm>
            <a:off x="9829800" y="5257800"/>
            <a:ext cx="1524000" cy="8382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Wi-Fi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VoWiFi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14601C9-48A5-4653-B728-F8780D13F7CE}"/>
              </a:ext>
            </a:extLst>
          </p:cNvPr>
          <p:cNvSpPr txBox="1"/>
          <p:nvPr/>
        </p:nvSpPr>
        <p:spPr>
          <a:xfrm>
            <a:off x="571500" y="571500"/>
            <a:ext cx="53340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200" b="1">
                <a:solidFill>
                  <a:srgbClr val="14213D"/>
                </a:solidFill>
              </a:rPr>
              <a:t>IMS 是什麼？營運商自己的通話平台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4C949AF-ECF3-4BF9-A35D-CA7A0C14B156}"/>
              </a:ext>
            </a:extLst>
          </p:cNvPr>
          <p:cNvSpPr txBox="1"/>
          <p:nvPr/>
        </p:nvSpPr>
        <p:spPr>
          <a:xfrm>
            <a:off x="571500" y="1809750"/>
            <a:ext cx="53340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IMS = IP Multimedia Subsystem</a:t>
            </a:r>
            <a:r>
              <a:rPr sz="1400">
                <a:solidFill>
                  <a:srgbClr val="5B6575"/>
                </a:solidFill>
              </a:rPr>
              <a:t>（IP 多媒體子系統）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5D8A19B-25BD-4642-B0B8-760A349152FD}"/>
              </a:ext>
            </a:extLst>
          </p:cNvPr>
          <p:cNvSpPr txBox="1"/>
          <p:nvPr/>
        </p:nvSpPr>
        <p:spPr>
          <a:xfrm>
            <a:off x="571500" y="2381250"/>
            <a:ext cx="5334000" cy="219075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3GPP 定義、以 SIP 為核心的通話服務平台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與接取無關：同一套 IMS 服務 VoLTE、VoNR、VoWiFi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手機撥號器打的電話，在 4G／5G 上就是 IMS 的 SIP 通話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890DB234-50CC-494C-8E44-7ADAF4EAB33D}"/>
              </a:ext>
            </a:extLst>
          </p:cNvPr>
          <p:cNvSpPr/>
          <p:nvPr/>
        </p:nvSpPr>
        <p:spPr>
          <a:xfrm>
            <a:off x="571500" y="4953000"/>
            <a:ext cx="5334000" cy="1371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比喻</a:t>
            </a: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4213D"/>
                </a:solidFill>
              </a:rPr>
              <a:t>   5GC 是公路，IMS 是電話公司的總機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9E6F3CA-5B7E-43BD-A09E-80A99B765D2B}"/>
              </a:ext>
            </a:extLst>
          </p:cNvPr>
          <p:cNvSpPr/>
          <p:nvPr/>
        </p:nvSpPr>
        <p:spPr>
          <a:xfrm>
            <a:off x="2857500" y="1333500"/>
            <a:ext cx="409575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A047B9F-577B-4F3B-B069-70EED43BBEA9}"/>
              </a:ext>
            </a:extLst>
          </p:cNvPr>
          <p:cNvSpPr/>
          <p:nvPr/>
        </p:nvSpPr>
        <p:spPr>
          <a:xfrm>
            <a:off x="7143750" y="1333500"/>
            <a:ext cx="4381500" cy="41910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8E2B93F-587E-45CE-A522-C250C0AACB39}"/>
              </a:ext>
            </a:extLst>
          </p:cNvPr>
          <p:cNvSpPr/>
          <p:nvPr/>
        </p:nvSpPr>
        <p:spPr>
          <a:xfrm>
            <a:off x="666750" y="26098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6528DF6-9BAB-4003-BB7A-EE3F7F6341C3}"/>
              </a:ext>
            </a:extLst>
          </p:cNvPr>
          <p:cNvSpPr/>
          <p:nvPr/>
        </p:nvSpPr>
        <p:spPr>
          <a:xfrm>
            <a:off x="666750" y="33337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5333877-7B94-4FE9-BF55-FC5DB6979D70}"/>
              </a:ext>
            </a:extLst>
          </p:cNvPr>
          <p:cNvSpPr/>
          <p:nvPr/>
        </p:nvSpPr>
        <p:spPr>
          <a:xfrm>
            <a:off x="666750" y="40576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3DFE625-E3A8-47DD-8F77-61921F752167}"/>
              </a:ext>
            </a:extLst>
          </p:cNvPr>
          <p:cNvSpPr/>
          <p:nvPr/>
        </p:nvSpPr>
        <p:spPr>
          <a:xfrm>
            <a:off x="666750" y="4781550"/>
            <a:ext cx="1085850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BDE0246-2B03-4660-AD07-097879912F59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為什麼不直接用 LINE 打就好？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86D90C4-D0DE-4EBF-96BD-DA4B00AD65FB}"/>
              </a:ext>
            </a:extLst>
          </p:cNvPr>
          <p:cNvSpPr txBox="1"/>
          <p:nvPr/>
        </p:nvSpPr>
        <p:spPr>
          <a:xfrm>
            <a:off x="3086100" y="1524000"/>
            <a:ext cx="371475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5B6575"/>
                </a:solidFill>
              </a:rPr>
              <a:t>OTT 通話（LINE、WhatsApp）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BD1DB4D-A42E-41CC-90E6-D7952C7302AE}"/>
              </a:ext>
            </a:extLst>
          </p:cNvPr>
          <p:cNvSpPr txBox="1"/>
          <p:nvPr/>
        </p:nvSpPr>
        <p:spPr>
          <a:xfrm>
            <a:off x="7372350" y="1524000"/>
            <a:ext cx="4000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 b="1">
                <a:solidFill>
                  <a:srgbClr val="E8742A"/>
                </a:solidFill>
              </a:rPr>
              <a:t>營運商 IMS 通話（VoNR）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3E28181-D670-4B6D-B513-99B5A8FCC73E}"/>
              </a:ext>
            </a:extLst>
          </p:cNvPr>
          <p:cNvSpPr txBox="1"/>
          <p:nvPr/>
        </p:nvSpPr>
        <p:spPr>
          <a:xfrm>
            <a:off x="666750" y="2057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網路品質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60A64F8-50F8-4143-A6CB-210CC5C7E264}"/>
              </a:ext>
            </a:extLst>
          </p:cNvPr>
          <p:cNvSpPr txBox="1"/>
          <p:nvPr/>
        </p:nvSpPr>
        <p:spPr>
          <a:xfrm>
            <a:off x="3086100" y="2000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一般數據，跟下載搶頻寬（5QI 9）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ADB8175-C9C4-452D-9A2A-99147FE12DFF}"/>
              </a:ext>
            </a:extLst>
          </p:cNvPr>
          <p:cNvSpPr txBox="1"/>
          <p:nvPr/>
        </p:nvSpPr>
        <p:spPr>
          <a:xfrm>
            <a:off x="7372350" y="2000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保證頻寬的語音通道（5QI 1）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B99D981-8C92-454C-A8AD-804B28C51A50}"/>
              </a:ext>
            </a:extLst>
          </p:cNvPr>
          <p:cNvSpPr txBox="1"/>
          <p:nvPr/>
        </p:nvSpPr>
        <p:spPr>
          <a:xfrm>
            <a:off x="666750" y="28194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怎麼認證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C7DA5B21-FDC7-4F16-AB4C-CB073D5FCDCD}"/>
              </a:ext>
            </a:extLst>
          </p:cNvPr>
          <p:cNvSpPr txBox="1"/>
          <p:nvPr/>
        </p:nvSpPr>
        <p:spPr>
          <a:xfrm>
            <a:off x="3086100" y="27622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App 帳號密碼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612CF87-2CBB-4410-A366-8E6CBB26989A}"/>
              </a:ext>
            </a:extLst>
          </p:cNvPr>
          <p:cNvSpPr txBox="1"/>
          <p:nvPr/>
        </p:nvSpPr>
        <p:spPr>
          <a:xfrm>
            <a:off x="7372350" y="27622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SIM 卡金鑰（IMS AKA）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176E513A-5F74-431E-9E79-76F41504D274}"/>
              </a:ext>
            </a:extLst>
          </p:cNvPr>
          <p:cNvSpPr txBox="1"/>
          <p:nvPr/>
        </p:nvSpPr>
        <p:spPr>
          <a:xfrm>
            <a:off x="666750" y="35433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能打給誰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809C862-A52B-4960-B7EB-411D4475FDFB}"/>
              </a:ext>
            </a:extLst>
          </p:cNvPr>
          <p:cNvSpPr txBox="1"/>
          <p:nvPr/>
        </p:nvSpPr>
        <p:spPr>
          <a:xfrm>
            <a:off x="3086100" y="34861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只限同 App 使用者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D43FE266-1725-498A-B3ED-9CE81C797D02}"/>
              </a:ext>
            </a:extLst>
          </p:cNvPr>
          <p:cNvSpPr txBox="1"/>
          <p:nvPr/>
        </p:nvSpPr>
        <p:spPr>
          <a:xfrm>
            <a:off x="7372350" y="34861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任何電話號碼，可漫遊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6092410-3AF3-4484-9F52-5DDFD8C80154}"/>
              </a:ext>
            </a:extLst>
          </p:cNvPr>
          <p:cNvSpPr txBox="1"/>
          <p:nvPr/>
        </p:nvSpPr>
        <p:spPr>
          <a:xfrm>
            <a:off x="666750" y="42672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緊急電話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71E7CDE2-04D2-464A-B635-D0CB9EEEFABC}"/>
              </a:ext>
            </a:extLst>
          </p:cNvPr>
          <p:cNvSpPr txBox="1"/>
          <p:nvPr/>
        </p:nvSpPr>
        <p:spPr>
          <a:xfrm>
            <a:off x="3086100" y="42100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不支援 112／119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95AAE34A-CA12-42C7-98FE-1DAF760ADEDF}"/>
              </a:ext>
            </a:extLst>
          </p:cNvPr>
          <p:cNvSpPr txBox="1"/>
          <p:nvPr/>
        </p:nvSpPr>
        <p:spPr>
          <a:xfrm>
            <a:off x="7372350" y="42100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支援且優先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CB8270A-06D3-4534-9860-AAA066EDC4D6}"/>
              </a:ext>
            </a:extLst>
          </p:cNvPr>
          <p:cNvSpPr txBox="1"/>
          <p:nvPr/>
        </p:nvSpPr>
        <p:spPr>
          <a:xfrm>
            <a:off x="666750" y="4991100"/>
            <a:ext cx="200025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 b="1">
                <a:solidFill>
                  <a:srgbClr val="14213D"/>
                </a:solidFill>
              </a:rPr>
              <a:t>使用方式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6A8F687A-2ECE-463B-BF85-F4307843B6FC}"/>
              </a:ext>
            </a:extLst>
          </p:cNvPr>
          <p:cNvSpPr txBox="1"/>
          <p:nvPr/>
        </p:nvSpPr>
        <p:spPr>
          <a:xfrm>
            <a:off x="3086100" y="4933950"/>
            <a:ext cx="371475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另裝 App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7CAE02F-CC5D-427E-BE71-387148B9E143}"/>
              </a:ext>
            </a:extLst>
          </p:cNvPr>
          <p:cNvSpPr txBox="1"/>
          <p:nvPr/>
        </p:nvSpPr>
        <p:spPr>
          <a:xfrm>
            <a:off x="7372350" y="4933950"/>
            <a:ext cx="40005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14213D"/>
                </a:solidFill>
              </a:rPr>
              <a:t>內建撥號器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D27548F-8345-4607-884D-3DFE394B5AF4}"/>
              </a:ext>
            </a:extLst>
          </p:cNvPr>
          <p:cNvSpPr txBox="1"/>
          <p:nvPr/>
        </p:nvSpPr>
        <p:spPr>
          <a:xfrm>
            <a:off x="666750" y="5810250"/>
            <a:ext cx="10858500" cy="476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E8742A"/>
                </a:solidFill>
              </a:rPr>
              <a:t>關鍵差別：</a:t>
            </a:r>
            <a:r>
              <a:rPr sz="1800">
                <a:solidFill>
                  <a:srgbClr val="14213D"/>
                </a:solidFill>
              </a:rPr>
              <a:t>網路知道這是通話，才能特別照顧它。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C5424FC7-7690-4CA6-8B11-1D1FD0D39124}"/>
              </a:ext>
            </a:extLst>
          </p:cNvPr>
          <p:cNvSpPr/>
          <p:nvPr/>
        </p:nvSpPr>
        <p:spPr>
          <a:xfrm>
            <a:off x="7620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9C2D16F-B3CB-4908-BEDB-2F4E8F26EE73}"/>
              </a:ext>
            </a:extLst>
          </p:cNvPr>
          <p:cNvSpPr/>
          <p:nvPr/>
        </p:nvSpPr>
        <p:spPr>
          <a:xfrm>
            <a:off x="4419600" y="1676400"/>
            <a:ext cx="33528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65E7419-96C5-45AA-B92E-F5A5E27191B1}"/>
              </a:ext>
            </a:extLst>
          </p:cNvPr>
          <p:cNvSpPr/>
          <p:nvPr/>
        </p:nvSpPr>
        <p:spPr>
          <a:xfrm>
            <a:off x="8077200" y="1676400"/>
            <a:ext cx="3352800" cy="37147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3A79E9C-57D9-4E9A-948E-4ACD4599A3A4}"/>
              </a:ext>
            </a:extLst>
          </p:cNvPr>
          <p:cNvSpPr txBox="1"/>
          <p:nvPr/>
        </p:nvSpPr>
        <p:spPr>
          <a:xfrm>
            <a:off x="762000" y="53340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SIP 談、SDP 描述、RTP 傳聲音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24CF69-6ABD-4CA1-A44E-B06D2A85C59D}"/>
              </a:ext>
            </a:extLst>
          </p:cNvPr>
          <p:cNvSpPr txBox="1"/>
          <p:nvPr/>
        </p:nvSpPr>
        <p:spPr>
          <a:xfrm>
            <a:off x="762000" y="1162050"/>
            <a:ext cx="106680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信令走 proxy，聲音兩端直送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EEFD3F-833B-49BC-A49A-D7FAB3F1D205}"/>
              </a:ext>
            </a:extLst>
          </p:cNvPr>
          <p:cNvSpPr txBox="1"/>
          <p:nvPr/>
        </p:nvSpPr>
        <p:spPr>
          <a:xfrm>
            <a:off x="10287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SIP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信令：誰打給誰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RFC 3261，純文字，長得像 HTTP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REGISTER、INVITE、ACK、BYE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經 P / I / S-CSCF 轉送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B310957-0B36-42AA-9402-5CBB5D80E7F6}"/>
              </a:ext>
            </a:extLst>
          </p:cNvPr>
          <p:cNvSpPr txBox="1"/>
          <p:nvPr/>
        </p:nvSpPr>
        <p:spPr>
          <a:xfrm>
            <a:off x="4686300" y="1943100"/>
            <a:ext cx="2857500" cy="164084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SDP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5B6575"/>
                </a:solidFill>
              </a:rPr>
              <a:t>Session Description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媒體描述：聲音送哪</a:t>
            </a:r>
          </a:p>
          <a:p>
            <a:r>
              <a:rPr sz="1400">
                <a:solidFill>
                  <a:srgbClr val="14213D"/>
                </a:solidFill>
              </a:rPr>
              <a:t>放在 SIP body，offer 與 answer 各一份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08B513C-348B-4956-9281-CF3C6EF5D306}"/>
              </a:ext>
            </a:extLst>
          </p:cNvPr>
          <p:cNvSpPr/>
          <p:nvPr/>
        </p:nvSpPr>
        <p:spPr>
          <a:xfrm>
            <a:off x="4686300" y="3619500"/>
            <a:ext cx="2819400" cy="1428750"/>
          </a:xfrm>
          <a:prstGeom prst="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c=IN IP4 10.62.0.1</a:t>
            </a:r>
          </a:p>
          <a:p>
            <a:pPr algn="l">
              <a:spcAft>
                <a:spcPts val="800"/>
              </a:spcAft>
            </a:pPr>
            <a:r>
              <a:rPr sz="1200">
                <a:solidFill>
                  <a:srgbClr val="5B6575"/>
                </a:solidFill>
              </a:rPr>
              <a:t>    ← 聲音送到這個 IP</a:t>
            </a:r>
          </a:p>
          <a:p>
            <a:pPr algn="l"/>
            <a:r>
              <a:rPr sz="1300">
                <a:solidFill>
                  <a:srgbClr val="14213D"/>
                </a:solidFill>
                <a:latin typeface="DejaVu Sans Mono"/>
                <a:ea typeface="DejaVu Sans Mono"/>
              </a:rPr>
              <a:t>  m=audio 6000 RTP/AVP 0</a:t>
            </a:r>
          </a:p>
          <a:p>
            <a:pPr algn="l"/>
            <a:r>
              <a:rPr sz="1200">
                <a:solidFill>
                  <a:srgbClr val="5B6575"/>
                </a:solidFill>
              </a:rPr>
              <a:t>    ← port，codec 0 = PCMU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3D8072A-2F15-4814-A7A8-0FB6CB4611CC}"/>
              </a:ext>
            </a:extLst>
          </p:cNvPr>
          <p:cNvSpPr txBox="1"/>
          <p:nvPr/>
        </p:nvSpPr>
        <p:spPr>
          <a:xfrm>
            <a:off x="8343900" y="1943100"/>
            <a:ext cx="2857500" cy="3238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RTP</a:t>
            </a:r>
          </a:p>
          <a:p>
            <a:pPr>
              <a:spcAft>
                <a:spcPts val="600"/>
              </a:spcAft>
            </a:pPr>
            <a:r>
              <a:rPr sz="1300" i="1">
                <a:solidFill>
                  <a:srgbClr val="C9D3E0"/>
                </a:solidFill>
              </a:rPr>
              <a:t>Real-time Transport Protocol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E8742A"/>
                </a:solidFill>
              </a:rPr>
              <a:t>真正的語音封包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接通後兩端直接互送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400">
                <a:solidFill>
                  <a:srgbClr val="C9D3E0"/>
                </a:solidFill>
              </a:rPr>
              <a:t>不經過任何 CSCF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C9D3E0"/>
                </a:solidFill>
              </a:rPr>
              <a:t>本專案在 UPF 內轉給對方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F5ECBB6-BEAC-4293-BD00-42A881AFCE3E}"/>
              </a:ext>
            </a:extLst>
          </p:cNvPr>
          <p:cNvSpPr/>
          <p:nvPr/>
        </p:nvSpPr>
        <p:spPr>
          <a:xfrm>
            <a:off x="5715000" y="571500"/>
            <a:ext cx="5905500" cy="3143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FA71BA3-EC96-41A3-8CCF-E7BA2CFCC62F}"/>
              </a:ext>
            </a:extLst>
          </p:cNvPr>
          <p:cNvSpPr txBox="1"/>
          <p:nvPr/>
        </p:nvSpPr>
        <p:spPr>
          <a:xfrm>
            <a:off x="5943600" y="800100"/>
            <a:ext cx="55245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E8742A"/>
                </a:solidFill>
                <a:latin typeface="DejaVu Sans Mono"/>
                <a:ea typeface="DejaVu Sans Mono"/>
              </a:rPr>
              <a:t>① INVITE sip:208930000000002@ims.mnc093.mcc208.3gppnetwork.org SIP/2.0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② Via: SIP/2.0/UDP 10.62.0.1:5060;branch=z9hG4bK...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③ From: &lt;sip:208930000000001@ims...&gt;;tag=abc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To: &lt;sip:208930000000002@ims...&gt;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Call-ID: 12345@10.62.0.1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CSeq: 1 INVITE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④ Contact: &lt;sip:208930000000001@10.62.0.1:5060&gt;</a:t>
            </a:r>
          </a:p>
          <a:p>
            <a:pPr>
              <a:spcAft>
                <a:spcPts val="1800"/>
              </a:spcAft>
            </a:pPr>
            <a:r>
              <a:rPr sz="1200">
                <a:solidFill>
                  <a:srgbClr val="FFFFFF"/>
                </a:solidFill>
                <a:latin typeface="DejaVu Sans Mono"/>
                <a:ea typeface="DejaVu Sans Mono"/>
              </a:rPr>
              <a:t>   Content-Type: application/sdp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⑤ v=0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c=IN IP4 10.62.0.1        ← 聲音送到這個 IP</a:t>
            </a:r>
          </a:p>
          <a:p>
            <a:r>
              <a:rPr sz="1200">
                <a:solidFill>
                  <a:srgbClr val="C9D3E0"/>
                </a:solidFill>
                <a:latin typeface="DejaVu Sans Mono"/>
                <a:ea typeface="DejaVu Sans Mono"/>
              </a:rPr>
              <a:t>   m=audio 6000 RTP/AVP 0    ← port 6000，PCMU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65E5384-DD6F-463F-8786-D2C42F4C334C}"/>
              </a:ext>
            </a:extLst>
          </p:cNvPr>
          <p:cNvSpPr/>
          <p:nvPr/>
        </p:nvSpPr>
        <p:spPr>
          <a:xfrm>
            <a:off x="5715000" y="3905250"/>
            <a:ext cx="5905500" cy="1676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8742A"/>
                </a:solidFill>
              </a:rPr>
              <a:t>   IMS 版 SIP（TS 24.229）多了什麼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Path / Service-Route：之後要經過的 proxy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P-Asserted-Identity：網路擔保的來電身分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14213D"/>
                </a:solidFill>
              </a:rPr>
              <a:t>   • P-Visited-Network-ID：漫遊政策用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   • Authorization：AKA 答案（HTTP Digest 格式）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FA6E672-A37C-42EF-B040-D1CE4BD8AD3F}"/>
              </a:ext>
            </a:extLst>
          </p:cNvPr>
          <p:cNvSpPr txBox="1"/>
          <p:nvPr/>
        </p:nvSpPr>
        <p:spPr>
          <a:xfrm>
            <a:off x="571500" y="533400"/>
            <a:ext cx="485775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拆開一則 SIP INVITE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EF6990C-C096-4E53-BE80-1C9C8B2B51C8}"/>
              </a:ext>
            </a:extLst>
          </p:cNvPr>
          <p:cNvSpPr txBox="1"/>
          <p:nvPr/>
        </p:nvSpPr>
        <p:spPr>
          <a:xfrm>
            <a:off x="571500" y="1295400"/>
            <a:ext cx="4857750" cy="4286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① Request line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動作＋對象（被叫的 IMPU），像 HTTP 的 GET 網址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② Via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回程路徑，每過一個 proxy 疊一層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③ From / To / Call-ID / CSeq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誰打給誰、是哪一通電話、這是第幾則訊息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4213D"/>
                </a:solidFill>
              </a:rPr>
              <a:t>④ Contact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之後找我的位址；註冊時 S-CSCF 記的就是它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⑤ 空行之後是 SDP body</a:t>
            </a:r>
          </a:p>
          <a:p>
            <a:r>
              <a:rPr sz="1400">
                <a:solidFill>
                  <a:srgbClr val="14213D"/>
                </a:solidFill>
              </a:rPr>
              <a:t>聲音的 IP、port、codec；P-CSCF 讀它來要 QoS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559E6DB-C78E-4CD8-904F-D2779446FCD0}"/>
              </a:ext>
            </a:extLst>
          </p:cNvPr>
          <p:cNvSpPr/>
          <p:nvPr/>
        </p:nvSpPr>
        <p:spPr>
          <a:xfrm>
            <a:off x="5715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100 Trying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處理中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7F54B426-B8F5-4F8B-8B7E-DDFF4A1C221F}"/>
              </a:ext>
            </a:extLst>
          </p:cNvPr>
          <p:cNvSpPr/>
          <p:nvPr/>
        </p:nvSpPr>
        <p:spPr>
          <a:xfrm>
            <a:off x="27813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180 Ringing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響鈴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64F50BC1-A04B-4A92-8CB3-D8A0D33087A6}"/>
              </a:ext>
            </a:extLst>
          </p:cNvPr>
          <p:cNvSpPr/>
          <p:nvPr/>
        </p:nvSpPr>
        <p:spPr>
          <a:xfrm>
            <a:off x="4991100" y="5810250"/>
            <a:ext cx="2057400" cy="5905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200 OK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接聽＋SDP answer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2BEB3D4-F906-4646-B1D1-A4A27F3AC55E}"/>
              </a:ext>
            </a:extLst>
          </p:cNvPr>
          <p:cNvSpPr/>
          <p:nvPr/>
        </p:nvSpPr>
        <p:spPr>
          <a:xfrm>
            <a:off x="7200900" y="5810250"/>
            <a:ext cx="20574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401 Unauthorized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要先認證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1192B47-20D0-4B3B-AAD1-0819CBCE49DC}"/>
              </a:ext>
            </a:extLst>
          </p:cNvPr>
          <p:cNvSpPr/>
          <p:nvPr/>
        </p:nvSpPr>
        <p:spPr>
          <a:xfrm>
            <a:off x="9410700" y="5810250"/>
            <a:ext cx="22098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14213D"/>
                </a:solidFill>
              </a:rPr>
              <a:t>404 Not Found</a:t>
            </a:r>
          </a:p>
          <a:p>
            <a:pPr algn="ctr"/>
            <a:r>
              <a:rPr sz="1200">
                <a:solidFill>
                  <a:srgbClr val="5B6575"/>
                </a:solidFill>
              </a:rPr>
              <a:t>找不到人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08D5180-0D18-453B-8692-BB92A415AA83}"/>
              </a:ext>
            </a:extLst>
          </p:cNvPr>
          <p:cNvSpPr/>
          <p:nvPr/>
        </p:nvSpPr>
        <p:spPr>
          <a:xfrm>
            <a:off x="7620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4EC9172-3DC3-4A64-9F18-FCF63EC96D91}"/>
              </a:ext>
            </a:extLst>
          </p:cNvPr>
          <p:cNvSpPr/>
          <p:nvPr/>
        </p:nvSpPr>
        <p:spPr>
          <a:xfrm>
            <a:off x="6210300" y="14287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2EE0776-150F-4F6C-99D7-36FB04C2E0BF}"/>
              </a:ext>
            </a:extLst>
          </p:cNvPr>
          <p:cNvSpPr/>
          <p:nvPr/>
        </p:nvSpPr>
        <p:spPr>
          <a:xfrm>
            <a:off x="762000" y="3676650"/>
            <a:ext cx="52197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CE1B7C3-E170-4550-93A4-F79BD101C322}"/>
              </a:ext>
            </a:extLst>
          </p:cNvPr>
          <p:cNvSpPr/>
          <p:nvPr/>
        </p:nvSpPr>
        <p:spPr>
          <a:xfrm>
            <a:off x="6210300" y="3676650"/>
            <a:ext cx="5219700" cy="20574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CB83C4E-8878-48F0-8F0A-BFA40857D26B}"/>
              </a:ext>
            </a:extLst>
          </p:cNvPr>
          <p:cNvSpPr txBox="1"/>
          <p:nvPr/>
        </p:nvSpPr>
        <p:spPr>
          <a:xfrm>
            <a:off x="762000" y="476250"/>
            <a:ext cx="106680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核心：三種 CSCF + HSS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D86FD66-F986-47B0-8414-4494CC594091}"/>
              </a:ext>
            </a:extLst>
          </p:cNvPr>
          <p:cNvSpPr txBox="1"/>
          <p:nvPr/>
        </p:nvSpPr>
        <p:spPr>
          <a:xfrm>
            <a:off x="10287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P-CSCF</a:t>
            </a:r>
            <a:r>
              <a:rPr sz="1600">
                <a:solidFill>
                  <a:srgbClr val="5B6575"/>
                </a:solidFill>
              </a:rPr>
              <a:t>   門口接待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UE 的唯一入口（Gm）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註冊時加 Path，讓來電也繞回自己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扮演 AF，依 SDP 向 PCF 要 QoS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51DB20-CEAC-4839-A04D-D0392F540434}"/>
              </a:ext>
            </a:extLst>
          </p:cNvPr>
          <p:cNvSpPr txBox="1"/>
          <p:nvPr/>
        </p:nvSpPr>
        <p:spPr>
          <a:xfrm>
            <a:off x="6477000" y="16192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I-CSCF</a:t>
            </a:r>
            <a:r>
              <a:rPr sz="1600">
                <a:solidFill>
                  <a:srgbClr val="5B6575"/>
                </a:solidFill>
              </a:rPr>
              <a:t>   總機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網路入口，不存狀態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UAR：該由哪台 S-CSCF 服務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LIR：被叫在哪台 S-CSCF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1EEE4DB-5259-45B3-9EA1-78ADD02EDF02}"/>
              </a:ext>
            </a:extLst>
          </p:cNvPr>
          <p:cNvSpPr txBox="1"/>
          <p:nvPr/>
        </p:nvSpPr>
        <p:spPr>
          <a:xfrm>
            <a:off x="10287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S-CSCF</a:t>
            </a:r>
            <a:r>
              <a:rPr sz="1600">
                <a:solidFill>
                  <a:srgbClr val="5B6575"/>
                </a:solidFill>
              </a:rPr>
              <a:t>   專屬承辦人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MAR → 401 → IMS AKA 認證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SAR 登記並取回 profile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來電沿 Path 送回 P-CSCF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26B68D-E0CD-4B25-AEFF-BC1EA807648B}"/>
              </a:ext>
            </a:extLst>
          </p:cNvPr>
          <p:cNvSpPr txBox="1"/>
          <p:nvPr/>
        </p:nvSpPr>
        <p:spPr>
          <a:xfrm>
            <a:off x="6477000" y="3867150"/>
            <a:ext cx="4724400" cy="1714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E8742A"/>
                </a:solidFill>
              </a:rPr>
              <a:t>HSS</a:t>
            </a:r>
            <a:r>
              <a:rPr sz="1600">
                <a:solidFill>
                  <a:srgbClr val="5B6575"/>
                </a:solidFill>
              </a:rPr>
              <a:t>   客戶資料室（PyHSS）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IMPI / IMPU 身分、金鑰、user profile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>
                <a:solidFill>
                  <a:srgbClr val="14213D"/>
                </a:solidFill>
              </a:rPr>
              <a:t>CSCF 經 Cx（Diameter）查詢</a:t>
            </a:r>
          </a:p>
          <a:p>
            <a:pPr marL="228600" indent="-228600">
              <a:buChar char="•"/>
            </a:pPr>
            <a:r>
              <a:rPr sz="1500">
                <a:solidFill>
                  <a:srgbClr val="14213D"/>
                </a:solidFill>
              </a:rPr>
              <a:t>與 UDR 分開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9A2641F-EBDB-4FFB-A683-91B6142C7B85}"/>
              </a:ext>
            </a:extLst>
          </p:cNvPr>
          <p:cNvSpPr txBox="1"/>
          <p:nvPr/>
        </p:nvSpPr>
        <p:spPr>
          <a:xfrm>
            <a:off x="762000" y="6000750"/>
            <a:ext cx="106680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三個 CSCF 都是 Kamailio，只差在模組與 kamailio.cfg。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7D91A97-E522-4022-BC5A-46E22F35ABEC}"/>
              </a:ext>
            </a:extLst>
          </p:cNvPr>
          <p:cNvSpPr/>
          <p:nvPr/>
        </p:nvSpPr>
        <p:spPr>
          <a:xfrm>
            <a:off x="6086475" y="2038350"/>
            <a:ext cx="19050" cy="3810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9D3BE4EE-9F36-4914-B0F7-E5C56F83A8EF}"/>
              </a:ext>
            </a:extLst>
          </p:cNvPr>
          <p:cNvSpPr/>
          <p:nvPr/>
        </p:nvSpPr>
        <p:spPr>
          <a:xfrm>
            <a:off x="2343150" y="2419350"/>
            <a:ext cx="7505700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734EF8C-AF52-46ED-BF4D-CCD1BA75B557}"/>
              </a:ext>
            </a:extLst>
          </p:cNvPr>
          <p:cNvSpPr/>
          <p:nvPr/>
        </p:nvSpPr>
        <p:spPr>
          <a:xfrm>
            <a:off x="234315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EE12D37-269F-4071-A5B4-836802F896C9}"/>
              </a:ext>
            </a:extLst>
          </p:cNvPr>
          <p:cNvSpPr/>
          <p:nvPr/>
        </p:nvSpPr>
        <p:spPr>
          <a:xfrm>
            <a:off x="6086475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ED868F5-764F-4185-8E30-E6E46AAD35CA}"/>
              </a:ext>
            </a:extLst>
          </p:cNvPr>
          <p:cNvSpPr/>
          <p:nvPr/>
        </p:nvSpPr>
        <p:spPr>
          <a:xfrm>
            <a:off x="9829800" y="2419350"/>
            <a:ext cx="19050" cy="285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D92A9AD-C599-4C77-9DC5-DC060FE34264}"/>
              </a:ext>
            </a:extLst>
          </p:cNvPr>
          <p:cNvSpPr/>
          <p:nvPr/>
        </p:nvSpPr>
        <p:spPr>
          <a:xfrm>
            <a:off x="3714750" y="1181100"/>
            <a:ext cx="4762500" cy="857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IMSI  208930000000001</a:t>
            </a:r>
          </a:p>
          <a:p>
            <a:pPr algn="ctr"/>
            <a:r>
              <a:rPr sz="1300">
                <a:solidFill>
                  <a:srgbClr val="C9D3E0"/>
                </a:solidFill>
              </a:rPr>
              <a:t>MCC 208 + MNC 93 + 用戶編號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A45D1FA-4EB7-4C10-956F-59E2DDD17E30}"/>
              </a:ext>
            </a:extLst>
          </p:cNvPr>
          <p:cNvSpPr/>
          <p:nvPr/>
        </p:nvSpPr>
        <p:spPr>
          <a:xfrm>
            <a:off x="666750" y="2705100"/>
            <a:ext cx="33528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ED665F9-3EBA-4E11-A206-DCA3C119CAC3}"/>
              </a:ext>
            </a:extLst>
          </p:cNvPr>
          <p:cNvSpPr/>
          <p:nvPr/>
        </p:nvSpPr>
        <p:spPr>
          <a:xfrm>
            <a:off x="441960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A6B766A-7076-4677-8AD5-437D6A5B2A1F}"/>
              </a:ext>
            </a:extLst>
          </p:cNvPr>
          <p:cNvSpPr/>
          <p:nvPr/>
        </p:nvSpPr>
        <p:spPr>
          <a:xfrm>
            <a:off x="8172450" y="2705100"/>
            <a:ext cx="33528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E791C6-0781-4EF4-BC5B-B0D71C8AA9F2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一個 IMSI，三種身分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36286A4B-5EF8-4DB5-9155-1CB71524C030}"/>
              </a:ext>
            </a:extLst>
          </p:cNvPr>
          <p:cNvSpPr txBox="1"/>
          <p:nvPr/>
        </p:nvSpPr>
        <p:spPr>
          <a:xfrm>
            <a:off x="8953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0F4C81"/>
                </a:solidFill>
              </a:rPr>
              <a:t>SUPI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5G 核心網的身分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0F4C81"/>
                </a:solidFill>
                <a:latin typeface="DejaVu Sans Mono"/>
                <a:ea typeface="DejaVu Sans Mono"/>
              </a:rPr>
              <a:t>imsi-208930000000001</a:t>
            </a:r>
          </a:p>
          <a:p>
            <a:r>
              <a:rPr sz="1400">
                <a:solidFill>
                  <a:srgbClr val="5B6575"/>
                </a:solidFill>
              </a:rPr>
              <a:t>存在 UDR，5G 註冊用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1C5128-3FC4-4ACF-AC46-ACCDA7081E5B}"/>
              </a:ext>
            </a:extLst>
          </p:cNvPr>
          <p:cNvSpPr txBox="1"/>
          <p:nvPr/>
        </p:nvSpPr>
        <p:spPr>
          <a:xfrm>
            <a:off x="464820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IMPI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私有身分 ≈ 帳號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綁認證金鑰，只有 HSS、S-CSCF 看得到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4EBFC13-C246-4B89-AAAB-52565998EC4C}"/>
              </a:ext>
            </a:extLst>
          </p:cNvPr>
          <p:cNvSpPr txBox="1"/>
          <p:nvPr/>
        </p:nvSpPr>
        <p:spPr>
          <a:xfrm>
            <a:off x="8401050" y="2895600"/>
            <a:ext cx="2895600" cy="2381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E8742A"/>
                </a:solidFill>
              </a:rPr>
              <a:t>IMPU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14213D"/>
                </a:solidFill>
              </a:rPr>
              <a:t>IMS 公開身分 ≈ 電話號碼</a:t>
            </a:r>
          </a:p>
          <a:p>
            <a:pPr>
              <a:spcAft>
                <a:spcPts val="1000"/>
              </a:spcAft>
            </a:pPr>
            <a:r>
              <a:rPr sz="1200">
                <a:solidFill>
                  <a:srgbClr val="E8742A"/>
                </a:solidFill>
                <a:latin typeface="DejaVu Sans Mono"/>
                <a:ea typeface="DejaVu Sans Mono"/>
              </a:rPr>
              <a:t>sip:208930000000001@ims.mnc093.mcc208.3gppnetwork.org</a:t>
            </a:r>
          </a:p>
          <a:p>
            <a:r>
              <a:rPr sz="1400">
                <a:solidFill>
                  <a:srgbClr val="5B6575"/>
                </a:solidFill>
              </a:rPr>
              <a:t>別人撥的號碼，可以有多個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41AD405-0641-4269-9278-4AA1E8CB5346}"/>
              </a:ext>
            </a:extLst>
          </p:cNvPr>
          <p:cNvSpPr txBox="1"/>
          <p:nvPr/>
        </p:nvSpPr>
        <p:spPr>
          <a:xfrm>
            <a:off x="666750" y="5676900"/>
            <a:ext cx="10858500" cy="762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無 ISIM 時依 TS 23.003 從 IMSI 推導（MNC 補成三位：mnc093）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UDR 與 PyHSS 各存一份金鑰、SQN 各自計數，所以要認證兩次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E474C0B-E272-4613-9171-7FD853BC7477}"/>
              </a:ext>
            </a:extLst>
          </p:cNvPr>
          <p:cNvSpPr/>
          <p:nvPr/>
        </p:nvSpPr>
        <p:spPr>
          <a:xfrm>
            <a:off x="1695450" y="2124075"/>
            <a:ext cx="88011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E36986D-05DC-4E99-AD49-F1F09D1005D5}"/>
              </a:ext>
            </a:extLst>
          </p:cNvPr>
          <p:cNvSpPr/>
          <p:nvPr/>
        </p:nvSpPr>
        <p:spPr>
          <a:xfrm>
            <a:off x="1428750" y="1876425"/>
            <a:ext cx="533400" cy="533400"/>
          </a:xfrm>
          <a:prstGeom prst="ellipse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3280589-184C-4867-9825-B4C5264EB926}"/>
              </a:ext>
            </a:extLst>
          </p:cNvPr>
          <p:cNvSpPr/>
          <p:nvPr/>
        </p:nvSpPr>
        <p:spPr>
          <a:xfrm>
            <a:off x="3629025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EF38B3-42A5-4D7E-AD70-A5BAA5A74377}"/>
              </a:ext>
            </a:extLst>
          </p:cNvPr>
          <p:cNvSpPr/>
          <p:nvPr/>
        </p:nvSpPr>
        <p:spPr>
          <a:xfrm>
            <a:off x="582930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85AD942-EAA0-4772-BD15-2F588A2B1B0A}"/>
              </a:ext>
            </a:extLst>
          </p:cNvPr>
          <p:cNvSpPr/>
          <p:nvPr/>
        </p:nvSpPr>
        <p:spPr>
          <a:xfrm>
            <a:off x="8029575" y="1876425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CE66DF4-19E2-46E4-A932-368D799C09BD}"/>
              </a:ext>
            </a:extLst>
          </p:cNvPr>
          <p:cNvSpPr/>
          <p:nvPr/>
        </p:nvSpPr>
        <p:spPr>
          <a:xfrm>
            <a:off x="10229850" y="1876425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CFD5AF3-86E1-44C1-A618-ADB3B1C0F692}"/>
              </a:ext>
            </a:extLst>
          </p:cNvPr>
          <p:cNvSpPr/>
          <p:nvPr/>
        </p:nvSpPr>
        <p:spPr>
          <a:xfrm>
            <a:off x="666750" y="2667000"/>
            <a:ext cx="2057400" cy="27622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C7E783C-EE88-4614-B165-84DE0FB21F77}"/>
              </a:ext>
            </a:extLst>
          </p:cNvPr>
          <p:cNvSpPr/>
          <p:nvPr/>
        </p:nvSpPr>
        <p:spPr>
          <a:xfrm>
            <a:off x="2867025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9466B64-578D-4EF5-A5C2-C391C747167F}"/>
              </a:ext>
            </a:extLst>
          </p:cNvPr>
          <p:cNvSpPr/>
          <p:nvPr/>
        </p:nvSpPr>
        <p:spPr>
          <a:xfrm>
            <a:off x="5067300" y="2667000"/>
            <a:ext cx="2057400" cy="2762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36F6212C-C893-4995-B994-C3304A59A361}"/>
              </a:ext>
            </a:extLst>
          </p:cNvPr>
          <p:cNvSpPr/>
          <p:nvPr/>
        </p:nvSpPr>
        <p:spPr>
          <a:xfrm>
            <a:off x="7267575" y="2667000"/>
            <a:ext cx="20574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BB8AC9E-78C4-43F4-8912-BEA95A74CE7F}"/>
              </a:ext>
            </a:extLst>
          </p:cNvPr>
          <p:cNvSpPr/>
          <p:nvPr/>
        </p:nvSpPr>
        <p:spPr>
          <a:xfrm>
            <a:off x="9467850" y="2667000"/>
            <a:ext cx="20574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BEB2D6E-6C3E-4616-9A93-9B27FFB95FCD}"/>
              </a:ext>
            </a:extLst>
          </p:cNvPr>
          <p:cNvSpPr txBox="1"/>
          <p:nvPr/>
        </p:nvSpPr>
        <p:spPr>
          <a:xfrm>
            <a:off x="666750" y="4762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IMS AKA：用 SIM 卡證明你是你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84CF85-31D0-47F4-BDE3-A01C1244CDCF}"/>
              </a:ext>
            </a:extLst>
          </p:cNvPr>
          <p:cNvSpPr txBox="1"/>
          <p:nvPr/>
        </p:nvSpPr>
        <p:spPr>
          <a:xfrm>
            <a:off x="666750" y="11049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5B6575"/>
                </a:solidFill>
              </a:rPr>
              <a:t>像考試：只傳題目和答案，金鑰不上網；手機也會驗證網路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0E6399B6-70C9-4D49-ADE0-55A3DEAD4F82}"/>
              </a:ext>
            </a:extLst>
          </p:cNvPr>
          <p:cNvSpPr txBox="1"/>
          <p:nvPr/>
        </p:nvSpPr>
        <p:spPr>
          <a:xfrm>
            <a:off x="8382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</a:rPr>
              <a:t>前提：共享祕密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C9D3E0"/>
                </a:solidFill>
              </a:rPr>
              <a:t>SIM 與 HSS 存同一把金鑰 K</a:t>
            </a:r>
          </a:p>
          <a:p>
            <a:r>
              <a:rPr sz="1300" b="1">
                <a:solidFill>
                  <a:srgbClr val="E8742A"/>
                </a:solidFill>
              </a:rPr>
              <a:t>K 不上網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4219CAF-EB6E-49F3-9974-BA4ED9766C66}"/>
              </a:ext>
            </a:extLst>
          </p:cNvPr>
          <p:cNvSpPr txBox="1"/>
          <p:nvPr/>
        </p:nvSpPr>
        <p:spPr>
          <a:xfrm>
            <a:off x="303847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出題（MAR）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S-CSCF 向 HSS 要向量：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RAND 隨機題目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300">
                <a:solidFill>
                  <a:srgbClr val="14213D"/>
                </a:solidFill>
              </a:rPr>
              <a:t>AUTN 網路的證明</a:t>
            </a:r>
          </a:p>
          <a:p>
            <a:pPr marL="228600" indent="-228600">
              <a:buChar char="•"/>
            </a:pPr>
            <a:r>
              <a:rPr sz="1300">
                <a:solidFill>
                  <a:srgbClr val="14213D"/>
                </a:solidFill>
              </a:rPr>
              <a:t>XRES 標準答案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B603F46-7CF6-4EA5-8A23-579B831DD0DC}"/>
              </a:ext>
            </a:extLst>
          </p:cNvPr>
          <p:cNvSpPr txBox="1"/>
          <p:nvPr/>
        </p:nvSpPr>
        <p:spPr>
          <a:xfrm>
            <a:off x="523875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4213D"/>
                </a:solidFill>
              </a:rPr>
              <a:t>發題（401）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401 帶 RAND + AUTN</a:t>
            </a:r>
          </a:p>
          <a:p>
            <a:r>
              <a:rPr sz="1300">
                <a:solidFill>
                  <a:srgbClr val="5B6575"/>
                </a:solidFill>
              </a:rPr>
              <a:t>XRES 不送出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399790D9-D527-4287-8DF0-C9E8D28296EF}"/>
              </a:ext>
            </a:extLst>
          </p:cNvPr>
          <p:cNvSpPr txBox="1"/>
          <p:nvPr/>
        </p:nvSpPr>
        <p:spPr>
          <a:xfrm>
            <a:off x="7439025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F4C81"/>
                </a:solidFill>
              </a:rPr>
              <a:t>作答（UE）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SIM 驗 AUTN，假網路就拒絕</a:t>
            </a:r>
          </a:p>
          <a:p>
            <a:r>
              <a:rPr sz="1300">
                <a:solidFill>
                  <a:srgbClr val="14213D"/>
                </a:solidFill>
              </a:rPr>
              <a:t>再算出答案 RES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A1A8C6C-A8C6-4633-A175-30C366541D8D}"/>
              </a:ext>
            </a:extLst>
          </p:cNvPr>
          <p:cNvSpPr txBox="1"/>
          <p:nvPr/>
        </p:nvSpPr>
        <p:spPr>
          <a:xfrm>
            <a:off x="9639300" y="2838450"/>
            <a:ext cx="1714500" cy="2476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E8742A"/>
                </a:solidFill>
              </a:rPr>
              <a:t>對答案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REGISTER 帶 RES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4213D"/>
                </a:solidFill>
              </a:rPr>
              <a:t>S-CSCF 比對 RES = XRES</a:t>
            </a:r>
          </a:p>
          <a:p>
            <a:r>
              <a:rPr sz="1300" b="1">
                <a:solidFill>
                  <a:srgbClr val="14213D"/>
                </a:solidFill>
              </a:rPr>
              <a:t>通過 → SAR → 200 OK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4A454B2D-FBCA-4C03-9736-F79D91EB739F}"/>
              </a:ext>
            </a:extLst>
          </p:cNvPr>
          <p:cNvSpPr txBox="1"/>
          <p:nvPr/>
        </p:nvSpPr>
        <p:spPr>
          <a:xfrm>
            <a:off x="666750" y="5715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400" b="1">
                <a:solidFill>
                  <a:srgbClr val="14213D"/>
                </a:solidFill>
              </a:rPr>
              <a:t>技術名詞：</a:t>
            </a:r>
            <a:r>
              <a:rPr sz="1400">
                <a:solidFill>
                  <a:srgbClr val="5B6575"/>
                </a:solidFill>
              </a:rPr>
              <a:t>Milenage；SIP 中稱 AKAv1-MD5。SQN 不同步時 UE 回 AUTS，觸發重新同步。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AD6FB31-DEEB-4BD1-835D-8BD6EDE0BE43}"/>
              </a:ext>
            </a:extLst>
          </p:cNvPr>
          <p:cNvSpPr/>
          <p:nvPr/>
        </p:nvSpPr>
        <p:spPr>
          <a:xfrm>
            <a:off x="4000500" y="1123950"/>
            <a:ext cx="7620000" cy="2114550"/>
          </a:xfrm>
          <a:prstGeom prst="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A84C569-58E1-46E4-AAAE-C3689004700D}"/>
              </a:ext>
            </a:extLst>
          </p:cNvPr>
          <p:cNvSpPr/>
          <p:nvPr/>
        </p:nvSpPr>
        <p:spPr>
          <a:xfrm>
            <a:off x="4000500" y="3448050"/>
            <a:ext cx="7620000" cy="1905000"/>
          </a:xfrm>
          <a:prstGeom prst="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6AE6C83-7020-4CFC-8601-6184D7EAB147}"/>
              </a:ext>
            </a:extLst>
          </p:cNvPr>
          <p:cNvSpPr/>
          <p:nvPr/>
        </p:nvSpPr>
        <p:spPr>
          <a:xfrm>
            <a:off x="4467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67D1F3A-A4B9-459D-835E-6DCE258524D8}"/>
              </a:ext>
            </a:extLst>
          </p:cNvPr>
          <p:cNvSpPr/>
          <p:nvPr/>
        </p:nvSpPr>
        <p:spPr>
          <a:xfrm>
            <a:off x="6181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635A96F-CB83-49B3-8C29-2CDBD8299F95}"/>
              </a:ext>
            </a:extLst>
          </p:cNvPr>
          <p:cNvSpPr/>
          <p:nvPr/>
        </p:nvSpPr>
        <p:spPr>
          <a:xfrm>
            <a:off x="78962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944CFFE-3D4F-48E7-A440-092930505A2C}"/>
              </a:ext>
            </a:extLst>
          </p:cNvPr>
          <p:cNvSpPr/>
          <p:nvPr/>
        </p:nvSpPr>
        <p:spPr>
          <a:xfrm>
            <a:off x="9610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C610732-9E69-468D-B4A8-87C293498E04}"/>
              </a:ext>
            </a:extLst>
          </p:cNvPr>
          <p:cNvSpPr/>
          <p:nvPr/>
        </p:nvSpPr>
        <p:spPr>
          <a:xfrm>
            <a:off x="11134725" y="952500"/>
            <a:ext cx="19050" cy="49530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5B4C786-22E1-4B9F-82E6-A0D1D948BFB1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AD237EC0-C0BB-4BF3-AF7F-5021A0708BD5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008ABE92-B157-4184-9901-EB85872F46CC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2FB8B5B4-5540-45C6-A877-356FDC9C2CA9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EB85DB6-1684-420E-BE2E-5CF1C8185BA4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HSS</a:t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F6AD6B7-DD4D-4994-B9D4-E9307FE0A188}"/>
              </a:ext>
            </a:extLst>
          </p:cNvPr>
          <p:cNvCxnSpPr/>
          <p:nvPr/>
        </p:nvCxnSpPr>
        <p:spPr>
          <a:xfrm>
            <a:off x="4476750" y="1428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9BD74E6E-C28F-428C-BD3C-BDF39247C152}"/>
              </a:ext>
            </a:extLst>
          </p:cNvPr>
          <p:cNvCxnSpPr/>
          <p:nvPr/>
        </p:nvCxnSpPr>
        <p:spPr>
          <a:xfrm>
            <a:off x="6191250" y="1762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4EE9AA7A-38EE-4FEE-AD58-2C694F46B844}"/>
              </a:ext>
            </a:extLst>
          </p:cNvPr>
          <p:cNvCxnSpPr/>
          <p:nvPr/>
        </p:nvCxnSpPr>
        <p:spPr>
          <a:xfrm>
            <a:off x="7905750" y="2095500"/>
            <a:ext cx="32385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D1275B71-4A71-449E-A8C8-257AE1484491}"/>
              </a:ext>
            </a:extLst>
          </p:cNvPr>
          <p:cNvCxnSpPr/>
          <p:nvPr/>
        </p:nvCxnSpPr>
        <p:spPr>
          <a:xfrm>
            <a:off x="7905750" y="2428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0D845647-0322-4C0F-BDBA-83728445C2A1}"/>
              </a:ext>
            </a:extLst>
          </p:cNvPr>
          <p:cNvCxnSpPr/>
          <p:nvPr/>
        </p:nvCxnSpPr>
        <p:spPr>
          <a:xfrm>
            <a:off x="9620250" y="276225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B9544032-A4D7-4A29-9238-783E68C7C5AD}"/>
              </a:ext>
            </a:extLst>
          </p:cNvPr>
          <p:cNvCxnSpPr/>
          <p:nvPr/>
        </p:nvCxnSpPr>
        <p:spPr>
          <a:xfrm flipH="1">
            <a:off x="4476750" y="3124200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C6ED4D7E-4BF4-4051-9D92-1A385F084E0C}"/>
              </a:ext>
            </a:extLst>
          </p:cNvPr>
          <p:cNvCxnSpPr/>
          <p:nvPr/>
        </p:nvCxnSpPr>
        <p:spPr>
          <a:xfrm>
            <a:off x="4476750" y="37623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FC73D876-ACDF-438A-AB1E-D5FE3CAB4A07}"/>
              </a:ext>
            </a:extLst>
          </p:cNvPr>
          <p:cNvCxnSpPr/>
          <p:nvPr/>
        </p:nvCxnSpPr>
        <p:spPr>
          <a:xfrm>
            <a:off x="6191250" y="409575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FF01959B-6EFD-4F9D-9314-C525D12BF4C0}"/>
              </a:ext>
            </a:extLst>
          </p:cNvPr>
          <p:cNvCxnSpPr/>
          <p:nvPr/>
        </p:nvCxnSpPr>
        <p:spPr>
          <a:xfrm>
            <a:off x="7905750" y="4429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24" name="Straight Connector 24">
            <a:extLst>
              <a:ext uri="{FF2B5EF4-FFF2-40B4-BE49-F238E27FC236}">
                <a16:creationId xmlns:a16="http://schemas.microsoft.com/office/drawing/2014/main" id="{AB309EDA-3B0E-4380-AF4E-84EDA2BC9725}"/>
              </a:ext>
            </a:extLst>
          </p:cNvPr>
          <p:cNvCxnSpPr/>
          <p:nvPr/>
        </p:nvCxnSpPr>
        <p:spPr>
          <a:xfrm>
            <a:off x="9620250" y="4762500"/>
            <a:ext cx="1524000" cy="9525"/>
          </a:xfrm>
          <a:prstGeom prst="straightConnector1">
            <a:avLst/>
          </a:prstGeom>
          <a:ln w="19050" cap="flat">
            <a:solidFill>
              <a:srgbClr val="0F4C81"/>
            </a:solidFill>
            <a:tailEnd type="triangle" w="med" len="med"/>
          </a:ln>
        </p:spPr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9751A15A-95DA-4FCC-9254-884F376BC3F0}"/>
              </a:ext>
            </a:extLst>
          </p:cNvPr>
          <p:cNvCxnSpPr/>
          <p:nvPr/>
        </p:nvCxnSpPr>
        <p:spPr>
          <a:xfrm flipH="1">
            <a:off x="4476750" y="5191125"/>
            <a:ext cx="5143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6" name="Shape 26">
            <a:extLst>
              <a:ext uri="{FF2B5EF4-FFF2-40B4-BE49-F238E27FC236}">
                <a16:creationId xmlns:a16="http://schemas.microsoft.com/office/drawing/2014/main" id="{D3DED22C-831A-46F7-BA76-172D0528AAE1}"/>
              </a:ext>
            </a:extLst>
          </p:cNvPr>
          <p:cNvSpPr/>
          <p:nvPr/>
        </p:nvSpPr>
        <p:spPr>
          <a:xfrm>
            <a:off x="5334000" y="5448300"/>
            <a:ext cx="2095500" cy="38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200">
                <a:solidFill>
                  <a:srgbClr val="14213D"/>
                </a:solidFill>
              </a:rPr>
              <a:t>記下 IMPU ↔ contact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D7980008-368B-45AA-A25F-398E6E50E467}"/>
              </a:ext>
            </a:extLst>
          </p:cNvPr>
          <p:cNvSpPr txBox="1"/>
          <p:nvPr/>
        </p:nvSpPr>
        <p:spPr>
          <a:xfrm>
            <a:off x="4533900" y="1200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REGISTER（無憑證）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32FD23A-5393-40CA-A955-B15D3CF440CC}"/>
              </a:ext>
            </a:extLst>
          </p:cNvPr>
          <p:cNvSpPr txBox="1"/>
          <p:nvPr/>
        </p:nvSpPr>
        <p:spPr>
          <a:xfrm>
            <a:off x="6248400" y="1533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 + Path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00B5910-ADBA-411A-8265-307E2AF8E3F3}"/>
              </a:ext>
            </a:extLst>
          </p:cNvPr>
          <p:cNvSpPr txBox="1"/>
          <p:nvPr/>
        </p:nvSpPr>
        <p:spPr>
          <a:xfrm>
            <a:off x="7962900" y="1866900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UAR / UAA：該給哪台 S-CSCF？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DC025BBD-B5D4-4BC7-BAD8-92D572605A88}"/>
              </a:ext>
            </a:extLst>
          </p:cNvPr>
          <p:cNvSpPr txBox="1"/>
          <p:nvPr/>
        </p:nvSpPr>
        <p:spPr>
          <a:xfrm>
            <a:off x="7962900" y="2200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694BF9E4-53FA-4C3B-B701-8C031C263446}"/>
              </a:ext>
            </a:extLst>
          </p:cNvPr>
          <p:cNvSpPr txBox="1"/>
          <p:nvPr/>
        </p:nvSpPr>
        <p:spPr>
          <a:xfrm>
            <a:off x="9658350" y="253365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MAR / MAA 向量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2E0519CF-2942-448F-BDF8-9F67283E70D0}"/>
              </a:ext>
            </a:extLst>
          </p:cNvPr>
          <p:cNvSpPr txBox="1"/>
          <p:nvPr/>
        </p:nvSpPr>
        <p:spPr>
          <a:xfrm>
            <a:off x="4533900" y="2876550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401 Unauthorized（RAND, AUTN）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E79FB21-25B7-4F71-8685-95E7F5D2F8B1}"/>
              </a:ext>
            </a:extLst>
          </p:cNvPr>
          <p:cNvSpPr txBox="1"/>
          <p:nvPr/>
        </p:nvSpPr>
        <p:spPr>
          <a:xfrm>
            <a:off x="4533900" y="35337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REGISTER（帶 RES）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318A3FF-5EF6-460A-A797-37865570C530}"/>
              </a:ext>
            </a:extLst>
          </p:cNvPr>
          <p:cNvSpPr txBox="1"/>
          <p:nvPr/>
        </p:nvSpPr>
        <p:spPr>
          <a:xfrm>
            <a:off x="6248400" y="386715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7025F6BD-BD6E-44F6-8C9A-F8C3AF328266}"/>
              </a:ext>
            </a:extLst>
          </p:cNvPr>
          <p:cNvSpPr txBox="1"/>
          <p:nvPr/>
        </p:nvSpPr>
        <p:spPr>
          <a:xfrm>
            <a:off x="7962900" y="4200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REGISTER（不必再 UAR）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7CBC42D-48FD-4CC8-B7FC-5D8B69A23E57}"/>
              </a:ext>
            </a:extLst>
          </p:cNvPr>
          <p:cNvSpPr txBox="1"/>
          <p:nvPr/>
        </p:nvSpPr>
        <p:spPr>
          <a:xfrm>
            <a:off x="9658350" y="4533900"/>
            <a:ext cx="14287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SAR / SAA profile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60A3003E-6225-4E55-8F63-F92E05FB2ED5}"/>
              </a:ext>
            </a:extLst>
          </p:cNvPr>
          <p:cNvSpPr txBox="1"/>
          <p:nvPr/>
        </p:nvSpPr>
        <p:spPr>
          <a:xfrm>
            <a:off x="4533900" y="4943475"/>
            <a:ext cx="5048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OK：註冊完成</a:t>
            </a:r>
          </a:p>
        </p:txBody>
      </p:sp>
      <p:sp>
        <p:nvSpPr>
          <p:cNvPr id="38" name="TextBox 38">
            <a:extLst>
              <a:ext uri="{FF2B5EF4-FFF2-40B4-BE49-F238E27FC236}">
                <a16:creationId xmlns:a16="http://schemas.microsoft.com/office/drawing/2014/main" id="{D5950158-2207-4A5D-8C2A-35634D7459D0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IMS 註冊的訊息階梯</a:t>
            </a:r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DF6FE64C-5D35-47C8-BE41-4D2C77FAA354}"/>
              </a:ext>
            </a:extLst>
          </p:cNvPr>
          <p:cNvSpPr txBox="1"/>
          <p:nvPr/>
        </p:nvSpPr>
        <p:spPr>
          <a:xfrm>
            <a:off x="476250" y="1714500"/>
            <a:ext cx="3238500" cy="457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藍底：第 1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不帶憑證，只為換到 401 題目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橘底：第 2 回合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帶 RES 再送；對了就 SAR 登記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14213D"/>
                </a:solidFill>
              </a:rPr>
              <a:t>Path 為什麼重要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來電靠它繞回 P-CSCF；少了它，被叫端無法要 QoS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96CDAFD-0496-4B66-9258-2D5BE027BF96}"/>
              </a:ext>
            </a:extLst>
          </p:cNvPr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CBA349D-9B8C-4C22-9970-F48B8AB0EF78}"/>
              </a:ext>
            </a:extLst>
          </p:cNvPr>
          <p:cNvSpPr txBox="1"/>
          <p:nvPr/>
        </p:nvSpPr>
        <p:spPr>
          <a:xfrm>
            <a:off x="571500" y="1428750"/>
            <a:ext cx="3048000" cy="2857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0DB72BE-1033-44DF-A74E-2641DEAC2ADE}"/>
              </a:ext>
            </a:extLst>
          </p:cNvPr>
          <p:cNvSpPr txBox="1"/>
          <p:nvPr/>
        </p:nvSpPr>
        <p:spPr>
          <a:xfrm>
            <a:off x="571500" y="4381500"/>
            <a:ext cx="30480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FFFFFF"/>
                </a:solidFill>
              </a:rPr>
              <a:t>5GC 與 IMS 只有 3 個接點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650132C-07D1-4816-869A-3A142BDA4C51}"/>
              </a:ext>
            </a:extLst>
          </p:cNvPr>
          <p:cNvSpPr/>
          <p:nvPr/>
        </p:nvSpPr>
        <p:spPr>
          <a:xfrm>
            <a:off x="4572000" y="76200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N6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BD1F6D-3B91-4447-B3BD-349C691CE6A7}"/>
              </a:ext>
            </a:extLst>
          </p:cNvPr>
          <p:cNvSpPr txBox="1"/>
          <p:nvPr/>
        </p:nvSpPr>
        <p:spPr>
          <a:xfrm>
            <a:off x="6000750" y="76200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資料面：SIP 與 RTP 都走 PDU session</a:t>
            </a:r>
          </a:p>
          <a:p>
            <a:r>
              <a:rPr sz="1400">
                <a:solidFill>
                  <a:srgbClr val="5B6575"/>
                </a:solidFill>
              </a:rPr>
              <a:t>ims DNN 經 UPF 到 P-CSCF；不做 NAT，PCF 靠 UE IP 綁定 session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A73023B-BD39-4435-886D-BFC862AF8209}"/>
              </a:ext>
            </a:extLst>
          </p:cNvPr>
          <p:cNvSpPr/>
          <p:nvPr/>
        </p:nvSpPr>
        <p:spPr>
          <a:xfrm>
            <a:off x="4572000" y="2247900"/>
            <a:ext cx="695325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21C1B7B-A604-489B-BA8D-839A156DB0B2}"/>
              </a:ext>
            </a:extLst>
          </p:cNvPr>
          <p:cNvSpPr/>
          <p:nvPr/>
        </p:nvSpPr>
        <p:spPr>
          <a:xfrm>
            <a:off x="4572000" y="257175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PCO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3A69891-75D0-4D6A-9AD2-5594A1B7F660}"/>
              </a:ext>
            </a:extLst>
          </p:cNvPr>
          <p:cNvSpPr txBox="1"/>
          <p:nvPr/>
        </p:nvSpPr>
        <p:spPr>
          <a:xfrm>
            <a:off x="6000750" y="257175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探索：SMF 告訴 UE 「P-CSCF 在哪」</a:t>
            </a:r>
          </a:p>
          <a:p>
            <a:r>
              <a:rPr sz="1400">
                <a:solidFill>
                  <a:srgbClr val="5B6575"/>
                </a:solidFill>
              </a:rPr>
              <a:t>UE 建 PDU session 時要求，SMF 在 Accept 回傳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6BEDC064-D862-476B-B803-D9D66DA35278}"/>
              </a:ext>
            </a:extLst>
          </p:cNvPr>
          <p:cNvSpPr/>
          <p:nvPr/>
        </p:nvSpPr>
        <p:spPr>
          <a:xfrm>
            <a:off x="4572000" y="4057650"/>
            <a:ext cx="6953250" cy="9525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B6E505E-05C8-4A80-B7DD-1FC6C42D3778}"/>
              </a:ext>
            </a:extLst>
          </p:cNvPr>
          <p:cNvSpPr/>
          <p:nvPr/>
        </p:nvSpPr>
        <p:spPr>
          <a:xfrm>
            <a:off x="4572000" y="4381500"/>
            <a:ext cx="1143000" cy="5334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8AAF09C-B1A8-4265-A839-87C73EA345CB}"/>
              </a:ext>
            </a:extLst>
          </p:cNvPr>
          <p:cNvSpPr txBox="1"/>
          <p:nvPr/>
        </p:nvSpPr>
        <p:spPr>
          <a:xfrm>
            <a:off x="6000750" y="4381500"/>
            <a:ext cx="5524500" cy="1238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4213D"/>
                </a:solidFill>
              </a:rPr>
              <a:t>控制面：P-CSCF 以 AF 身分向 PCF 要 QoS</a:t>
            </a:r>
          </a:p>
          <a:p>
            <a:r>
              <a:rPr sz="1400">
                <a:solidFill>
                  <a:srgbClr val="5B6575"/>
                </a:solidFill>
              </a:rPr>
              <a:t>語音 flow 從 5QI 5 升到 5QI 1（GBR）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BA52C696-97E9-460E-9493-CADDC1C2CB16}"/>
              </a:ext>
            </a:extLst>
          </p:cNvPr>
          <p:cNvSpPr txBox="1"/>
          <p:nvPr/>
        </p:nvSpPr>
        <p:spPr>
          <a:xfrm>
            <a:off x="4572000" y="6000750"/>
            <a:ext cx="695325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>
                <a:solidFill>
                  <a:srgbClr val="5B6575"/>
                </a:solidFill>
              </a:rPr>
              <a:t>其餘各自獨立：UDR 與 HSS 無介面，各自認證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C2C0B5A-90F7-4527-96CB-0B8BA6E4686F}"/>
              </a:ext>
            </a:extLst>
          </p:cNvPr>
          <p:cNvSpPr/>
          <p:nvPr/>
        </p:nvSpPr>
        <p:spPr>
          <a:xfrm>
            <a:off x="4476750" y="762000"/>
            <a:ext cx="3333750" cy="5524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EEE0C0E-1BAD-4A78-AD04-F53632AF6241}"/>
              </a:ext>
            </a:extLst>
          </p:cNvPr>
          <p:cNvSpPr/>
          <p:nvPr/>
        </p:nvSpPr>
        <p:spPr>
          <a:xfrm>
            <a:off x="8191500" y="762000"/>
            <a:ext cx="3524250" cy="5524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7A0B488-17A1-4D70-8EDF-C469EF86D611}"/>
              </a:ext>
            </a:extLst>
          </p:cNvPr>
          <p:cNvSpPr txBox="1"/>
          <p:nvPr/>
        </p:nvSpPr>
        <p:spPr>
          <a:xfrm>
            <a:off x="4667250" y="914400"/>
            <a:ext cx="29527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0F4C81"/>
                </a:solidFill>
              </a:rPr>
              <a:t>corenet（5GC）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B9B8B62-88C1-41C8-AF17-01EB40B463CA}"/>
              </a:ext>
            </a:extLst>
          </p:cNvPr>
          <p:cNvSpPr txBox="1"/>
          <p:nvPr/>
        </p:nvSpPr>
        <p:spPr>
          <a:xfrm>
            <a:off x="8382000" y="914400"/>
            <a:ext cx="314325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300" b="1">
                <a:solidFill>
                  <a:srgbClr val="E8742A"/>
                </a:solidFill>
              </a:rPr>
              <a:t>dnnet（IMS）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93A34CA-109C-429C-9C04-8700DE9D537C}"/>
              </a:ext>
            </a:extLst>
          </p:cNvPr>
          <p:cNvSpPr/>
          <p:nvPr/>
        </p:nvSpPr>
        <p:spPr>
          <a:xfrm>
            <a:off x="5467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7A15F09-DF0C-4AB7-A918-E778EADB7214}"/>
              </a:ext>
            </a:extLst>
          </p:cNvPr>
          <p:cNvSpPr/>
          <p:nvPr/>
        </p:nvSpPr>
        <p:spPr>
          <a:xfrm>
            <a:off x="6096000" y="3105150"/>
            <a:ext cx="119062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84A298B1-0E75-4780-97DB-46B2C762CDB9}"/>
              </a:ext>
            </a:extLst>
          </p:cNvPr>
          <p:cNvCxnSpPr/>
          <p:nvPr/>
        </p:nvCxnSpPr>
        <p:spPr>
          <a:xfrm flipV="1">
            <a:off x="6096000" y="3371850"/>
            <a:ext cx="1524000" cy="1771650"/>
          </a:xfrm>
          <a:prstGeom prst="line">
            <a:avLst/>
          </a:prstGeom>
          <a:ln w="19050" cap="flat">
            <a:solidFill>
              <a:srgbClr val="14213D"/>
            </a:solidFill>
          </a:ln>
        </p:spPr>
      </p:cxnSp>
      <p:sp>
        <p:nvSpPr>
          <p:cNvPr id="10" name="Shape 10">
            <a:extLst>
              <a:ext uri="{FF2B5EF4-FFF2-40B4-BE49-F238E27FC236}">
                <a16:creationId xmlns:a16="http://schemas.microsoft.com/office/drawing/2014/main" id="{8B4C37EE-8C70-4D84-9DFB-DD9F66682B28}"/>
              </a:ext>
            </a:extLst>
          </p:cNvPr>
          <p:cNvSpPr/>
          <p:nvPr/>
        </p:nvSpPr>
        <p:spPr>
          <a:xfrm>
            <a:off x="8715375" y="3105150"/>
            <a:ext cx="333375" cy="190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2A8D01D-FF57-4F83-8830-9FE43EC7E836}"/>
              </a:ext>
            </a:extLst>
          </p:cNvPr>
          <p:cNvSpPr/>
          <p:nvPr/>
        </p:nvSpPr>
        <p:spPr>
          <a:xfrm>
            <a:off x="9658350" y="1943100"/>
            <a:ext cx="19050" cy="9144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8DEDBCD-4678-46B2-85E6-C4AFBC139BA3}"/>
              </a:ext>
            </a:extLst>
          </p:cNvPr>
          <p:cNvSpPr/>
          <p:nvPr/>
        </p:nvSpPr>
        <p:spPr>
          <a:xfrm>
            <a:off x="6096000" y="1676400"/>
            <a:ext cx="2952750" cy="28575"/>
          </a:xfrm>
          <a:prstGeom prst="rect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8DE51BC-7AB6-4008-8AB4-170DBE49E4D2}"/>
              </a:ext>
            </a:extLst>
          </p:cNvPr>
          <p:cNvSpPr/>
          <p:nvPr/>
        </p:nvSpPr>
        <p:spPr>
          <a:xfrm>
            <a:off x="9658350" y="337185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EB21C65-1D46-4634-A225-CDB43C09C531}"/>
              </a:ext>
            </a:extLst>
          </p:cNvPr>
          <p:cNvSpPr/>
          <p:nvPr/>
        </p:nvSpPr>
        <p:spPr>
          <a:xfrm>
            <a:off x="9658350" y="4610100"/>
            <a:ext cx="19050" cy="72390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67D28525-C30C-4DD8-9C01-DF68CF75AE2A}"/>
              </a:ext>
            </a:extLst>
          </p:cNvPr>
          <p:cNvCxnSpPr/>
          <p:nvPr/>
        </p:nvCxnSpPr>
        <p:spPr>
          <a:xfrm>
            <a:off x="10287000" y="4352925"/>
            <a:ext cx="285750" cy="571500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459F5F42-C3E9-4D79-A91E-317620530E27}"/>
              </a:ext>
            </a:extLst>
          </p:cNvPr>
          <p:cNvCxnSpPr/>
          <p:nvPr/>
        </p:nvCxnSpPr>
        <p:spPr>
          <a:xfrm flipV="1">
            <a:off x="10287000" y="5067300"/>
            <a:ext cx="285750" cy="523875"/>
          </a:xfrm>
          <a:prstGeom prst="line">
            <a:avLst/>
          </a:prstGeom>
          <a:ln w="15875" cap="flat">
            <a:solidFill>
              <a:srgbClr val="5B6575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C6A49653-5520-4A6A-88BA-EF8DB4A4699D}"/>
              </a:ext>
            </a:extLst>
          </p:cNvPr>
          <p:cNvSpPr/>
          <p:nvPr/>
        </p:nvSpPr>
        <p:spPr>
          <a:xfrm>
            <a:off x="4857750" y="142875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EBC95BB5-7E24-43F6-80AE-06F2061D75C6}"/>
              </a:ext>
            </a:extLst>
          </p:cNvPr>
          <p:cNvSpPr/>
          <p:nvPr/>
        </p:nvSpPr>
        <p:spPr>
          <a:xfrm>
            <a:off x="4857750" y="2857500"/>
            <a:ext cx="1238250" cy="5143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SMF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A39ADCCE-13B1-4BDC-A750-7C798933A7D5}"/>
              </a:ext>
            </a:extLst>
          </p:cNvPr>
          <p:cNvSpPr/>
          <p:nvPr/>
        </p:nvSpPr>
        <p:spPr>
          <a:xfrm>
            <a:off x="4857750" y="5143500"/>
            <a:ext cx="123825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4C8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0F4C81"/>
                </a:solidFill>
              </a:rPr>
              <a:t>UE + gNB</a:t>
            </a: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5677CECC-AC2A-4AD8-893F-C211F926ACB6}"/>
              </a:ext>
            </a:extLst>
          </p:cNvPr>
          <p:cNvSpPr/>
          <p:nvPr/>
        </p:nvSpPr>
        <p:spPr>
          <a:xfrm>
            <a:off x="7286625" y="2857500"/>
            <a:ext cx="1428750" cy="5143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31A6F7D-09C2-4DBB-B491-1CFA4B0B871A}"/>
              </a:ext>
            </a:extLst>
          </p:cNvPr>
          <p:cNvSpPr/>
          <p:nvPr/>
        </p:nvSpPr>
        <p:spPr>
          <a:xfrm>
            <a:off x="9048750" y="1428750"/>
            <a:ext cx="123825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E8742A"/>
                </a:solidFill>
              </a:rPr>
              <a:t>AF shim</a:t>
            </a:r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F697E41A-83CF-4903-AB68-F6CF0BC561A8}"/>
              </a:ext>
            </a:extLst>
          </p:cNvPr>
          <p:cNvSpPr/>
          <p:nvPr/>
        </p:nvSpPr>
        <p:spPr>
          <a:xfrm>
            <a:off x="9048750" y="28575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8FA12AB6-238E-47C6-862D-BCFC0D51FA1A}"/>
              </a:ext>
            </a:extLst>
          </p:cNvPr>
          <p:cNvSpPr/>
          <p:nvPr/>
        </p:nvSpPr>
        <p:spPr>
          <a:xfrm>
            <a:off x="9048750" y="409575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565C37A0-E959-4805-87F2-3E3115908763}"/>
              </a:ext>
            </a:extLst>
          </p:cNvPr>
          <p:cNvSpPr/>
          <p:nvPr/>
        </p:nvSpPr>
        <p:spPr>
          <a:xfrm>
            <a:off x="9048750" y="5334000"/>
            <a:ext cx="1238250" cy="5143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475E4A1-53C8-45F1-8AB3-B7F6831C9043}"/>
              </a:ext>
            </a:extLst>
          </p:cNvPr>
          <p:cNvSpPr/>
          <p:nvPr/>
        </p:nvSpPr>
        <p:spPr>
          <a:xfrm>
            <a:off x="10572750" y="4714875"/>
            <a:ext cx="95250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742A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E8742A"/>
                </a:solidFill>
              </a:rPr>
              <a:t>PyHSS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FE6B7EAB-EE14-47DC-9D9B-8D456D227665}"/>
              </a:ext>
            </a:extLst>
          </p:cNvPr>
          <p:cNvSpPr txBox="1"/>
          <p:nvPr/>
        </p:nvSpPr>
        <p:spPr>
          <a:xfrm>
            <a:off x="5562600" y="228600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N7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6D73DB40-74D6-43E9-8C97-0D4BE3DFFD8A}"/>
              </a:ext>
            </a:extLst>
          </p:cNvPr>
          <p:cNvSpPr txBox="1"/>
          <p:nvPr/>
        </p:nvSpPr>
        <p:spPr>
          <a:xfrm>
            <a:off x="6191250" y="2876550"/>
            <a:ext cx="1047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N4 PFCP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9651F513-81FC-41BB-AB90-58C52511256D}"/>
              </a:ext>
            </a:extLst>
          </p:cNvPr>
          <p:cNvSpPr txBox="1"/>
          <p:nvPr/>
        </p:nvSpPr>
        <p:spPr>
          <a:xfrm>
            <a:off x="7000875" y="4400550"/>
            <a:ext cx="762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N3 GTP-U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32CD10FE-E573-4872-B67C-AE5C18BEC3BE}"/>
              </a:ext>
            </a:extLst>
          </p:cNvPr>
          <p:cNvSpPr txBox="1"/>
          <p:nvPr/>
        </p:nvSpPr>
        <p:spPr>
          <a:xfrm>
            <a:off x="8743950" y="3429000"/>
            <a:ext cx="2857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N6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72F26991-DF24-4C45-A3BA-8C1402E116A0}"/>
              </a:ext>
            </a:extLst>
          </p:cNvPr>
          <p:cNvSpPr txBox="1"/>
          <p:nvPr/>
        </p:nvSpPr>
        <p:spPr>
          <a:xfrm>
            <a:off x="6667500" y="1428750"/>
            <a:ext cx="1905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E8742A"/>
                </a:solidFill>
              </a:rPr>
              <a:t>N5（HTTP/2 SBI）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1B6EA48E-95F8-4579-B504-109C0AD6351C}"/>
              </a:ext>
            </a:extLst>
          </p:cNvPr>
          <p:cNvSpPr txBox="1"/>
          <p:nvPr/>
        </p:nvSpPr>
        <p:spPr>
          <a:xfrm>
            <a:off x="9753600" y="2286000"/>
            <a:ext cx="11430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>
                <a:solidFill>
                  <a:srgbClr val="14213D"/>
                </a:solidFill>
              </a:rPr>
              <a:t>http_client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189C9A8A-CBE1-42E8-BBE1-F241BDA05BEF}"/>
              </a:ext>
            </a:extLst>
          </p:cNvPr>
          <p:cNvSpPr txBox="1"/>
          <p:nvPr/>
        </p:nvSpPr>
        <p:spPr>
          <a:xfrm>
            <a:off x="9753600" y="363855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A5B3D129-AD44-4CEB-B1B7-B93E757AC53F}"/>
              </a:ext>
            </a:extLst>
          </p:cNvPr>
          <p:cNvSpPr txBox="1"/>
          <p:nvPr/>
        </p:nvSpPr>
        <p:spPr>
          <a:xfrm>
            <a:off x="9753600" y="4876800"/>
            <a:ext cx="47625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14213D"/>
                </a:solidFill>
              </a:rPr>
              <a:t>Mw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1AC73A8-1522-4AF0-8F05-FEFFC34A567D}"/>
              </a:ext>
            </a:extLst>
          </p:cNvPr>
          <p:cNvSpPr txBox="1"/>
          <p:nvPr/>
        </p:nvSpPr>
        <p:spPr>
          <a:xfrm>
            <a:off x="10858500" y="4400550"/>
            <a:ext cx="571500" cy="2095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200" b="1">
                <a:solidFill>
                  <a:srgbClr val="5B6575"/>
                </a:solidFill>
              </a:rPr>
              <a:t>Cx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A74DA10-6AB7-42DE-96DD-5F825FFFDC4F}"/>
              </a:ext>
            </a:extLst>
          </p:cNvPr>
          <p:cNvSpPr txBox="1"/>
          <p:nvPr/>
        </p:nvSpPr>
        <p:spPr>
          <a:xfrm>
            <a:off x="571500" y="571500"/>
            <a:ext cx="3619500" cy="1047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kamailio-free5gc 專案拓撲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144E776F-0970-4F9A-A266-C79A43881CC9}"/>
              </a:ext>
            </a:extLst>
          </p:cNvPr>
          <p:cNvSpPr txBox="1"/>
          <p:nvPr/>
        </p:nvSpPr>
        <p:spPr>
          <a:xfrm>
            <a:off x="571500" y="1809750"/>
            <a:ext cx="3619500" cy="3810000"/>
          </a:xfrm>
        </p:spPr>
        <p:txBody>
          <a:bodyPr wrap="square" rtlCol="0" lIns="0" tIns="0" rIns="0" bIns="0" anchor="t">
            <a:spAutoFit/>
          </a:bodyPr>
          <a:lstStyle/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兩個網段互不相通，UE 只能經 UPF 到 IMS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PyHSS：IMS 用戶資料</a:t>
            </a:r>
          </a:p>
          <a:p>
            <a:pPr marL="228600" indent="-228600">
              <a:spcAft>
                <a:spcPts val="10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AF shim：把 P-CSCF 的請求轉成 N5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free-ran-ue 模擬 gNB、UE；UE 內跑 SIPp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0304A34C-E459-464C-B903-DC77DB21C773}"/>
              </a:ext>
            </a:extLst>
          </p:cNvPr>
          <p:cNvSpPr txBox="1"/>
          <p:nvPr/>
        </p:nvSpPr>
        <p:spPr>
          <a:xfrm>
            <a:off x="571500" y="5715000"/>
            <a:ext cx="3619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300">
                <a:solidFill>
                  <a:srgbClr val="5B6575"/>
                </a:solidFill>
              </a:rPr>
              <a:t>啟動 scripts/01-up.sh；驗證 03-call-test.sh、05-n5-qos-test.sh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B74241C1-CCAD-4706-8731-71811371A8A9}"/>
              </a:ext>
            </a:extLst>
          </p:cNvPr>
          <p:cNvSpPr/>
          <p:nvPr/>
        </p:nvSpPr>
        <p:spPr>
          <a:xfrm>
            <a:off x="66675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36A8BCA-24AF-41B4-9BB1-9A940F61A6B7}"/>
              </a:ext>
            </a:extLst>
          </p:cNvPr>
          <p:cNvSpPr/>
          <p:nvPr/>
        </p:nvSpPr>
        <p:spPr>
          <a:xfrm>
            <a:off x="4381500" y="1238250"/>
            <a:ext cx="3429000" cy="22479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99E7F16-3AC6-430A-BAF1-61231344F95F}"/>
              </a:ext>
            </a:extLst>
          </p:cNvPr>
          <p:cNvSpPr/>
          <p:nvPr/>
        </p:nvSpPr>
        <p:spPr>
          <a:xfrm>
            <a:off x="8096250" y="1238250"/>
            <a:ext cx="3429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77F94AE-89BB-4444-B3FB-36E0E6BB25FD}"/>
              </a:ext>
            </a:extLst>
          </p:cNvPr>
          <p:cNvSpPr/>
          <p:nvPr/>
        </p:nvSpPr>
        <p:spPr>
          <a:xfrm>
            <a:off x="6667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F4E15E0-3B38-4EFE-B785-6EA477D61283}"/>
              </a:ext>
            </a:extLst>
          </p:cNvPr>
          <p:cNvSpPr/>
          <p:nvPr/>
        </p:nvSpPr>
        <p:spPr>
          <a:xfrm>
            <a:off x="438150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4973FA9-9AD3-47BA-B103-CE2B5AB5A6EA}"/>
              </a:ext>
            </a:extLst>
          </p:cNvPr>
          <p:cNvSpPr/>
          <p:nvPr/>
        </p:nvSpPr>
        <p:spPr>
          <a:xfrm>
            <a:off x="8096250" y="3676650"/>
            <a:ext cx="3429000" cy="2247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3B14DB8-5FEC-4F8B-AEB9-AD77888EE7EE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一張圖看懂六種協定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DEE27AF-9332-4D0D-A4A4-5F120F37503D}"/>
              </a:ext>
            </a:extLst>
          </p:cNvPr>
          <p:cNvSpPr txBox="1"/>
          <p:nvPr/>
        </p:nvSpPr>
        <p:spPr>
          <a:xfrm>
            <a:off x="8953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SIP</a:t>
            </a:r>
            <a:r>
              <a:rPr sz="1700" b="1">
                <a:solidFill>
                  <a:srgbClr val="5B6575"/>
                </a:solidFill>
              </a:rPr>
              <a:t>   Gm · Mw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Session Initiation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註冊與通話信令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02FA66F-80BE-4FD8-A962-3ED8B514A50F}"/>
              </a:ext>
            </a:extLst>
          </p:cNvPr>
          <p:cNvSpPr txBox="1"/>
          <p:nvPr/>
        </p:nvSpPr>
        <p:spPr>
          <a:xfrm>
            <a:off x="461010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E8742A"/>
                </a:solidFill>
              </a:rPr>
              <a:t>Diameter</a:t>
            </a:r>
            <a:r>
              <a:rPr sz="1700" b="1">
                <a:solidFill>
                  <a:srgbClr val="5B6575"/>
                </a:solidFill>
              </a:rPr>
              <a:t>   Cx · Rx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CSCF 向 HSS 查用戶、拿認證向量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CED7D96-6199-465D-98E8-80BB8384A883}"/>
              </a:ext>
            </a:extLst>
          </p:cNvPr>
          <p:cNvSpPr txBox="1"/>
          <p:nvPr/>
        </p:nvSpPr>
        <p:spPr>
          <a:xfrm>
            <a:off x="8324850" y="14287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14213D"/>
                </a:solidFill>
              </a:rPr>
              <a:t>RTP</a:t>
            </a:r>
            <a:r>
              <a:rPr sz="1700" b="1">
                <a:solidFill>
                  <a:srgbClr val="5B6575"/>
                </a:solidFill>
              </a:rPr>
              <a:t>   媒體面</a:t>
            </a:r>
          </a:p>
          <a:p>
            <a:pPr>
              <a:spcAft>
                <a:spcPts val="600"/>
              </a:spcAft>
            </a:pPr>
            <a:r>
              <a:rPr sz="1600" i="1">
                <a:solidFill>
                  <a:srgbClr val="5B6575"/>
                </a:solidFill>
              </a:rPr>
              <a:t>Real-time Transport Protocol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語音封包，兩端直接互送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B7B4231-6168-4A03-B433-FBF178420336}"/>
              </a:ext>
            </a:extLst>
          </p:cNvPr>
          <p:cNvSpPr txBox="1"/>
          <p:nvPr/>
        </p:nvSpPr>
        <p:spPr>
          <a:xfrm>
            <a:off x="8953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HTTP/2 SBI</a:t>
            </a:r>
            <a:r>
              <a:rPr sz="1700" b="1">
                <a:solidFill>
                  <a:srgbClr val="5B6575"/>
                </a:solidFill>
              </a:rPr>
              <a:t>   N5 · N7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5GC 內部的 REST API；N5 要 QoS 也走它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A486AB82-DE29-4A92-A37D-92DCD07EA868}"/>
              </a:ext>
            </a:extLst>
          </p:cNvPr>
          <p:cNvSpPr txBox="1"/>
          <p:nvPr/>
        </p:nvSpPr>
        <p:spPr>
          <a:xfrm>
            <a:off x="461010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PFCP</a:t>
            </a:r>
            <a:r>
              <a:rPr sz="1700" b="1">
                <a:solidFill>
                  <a:srgbClr val="5B6575"/>
                </a:solidFill>
              </a:rPr>
              <a:t>   N4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SMF 對 UPF 下封包規則（PDR、QER）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B1FFB14-C912-49AE-90D1-6C82771DD123}"/>
              </a:ext>
            </a:extLst>
          </p:cNvPr>
          <p:cNvSpPr txBox="1"/>
          <p:nvPr/>
        </p:nvSpPr>
        <p:spPr>
          <a:xfrm>
            <a:off x="8324850" y="3867150"/>
            <a:ext cx="2971800" cy="1905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>
                <a:solidFill>
                  <a:srgbClr val="0F4C81"/>
                </a:solidFill>
              </a:rPr>
              <a:t>GTP-U</a:t>
            </a:r>
            <a:r>
              <a:rPr sz="1700" b="1">
                <a:solidFill>
                  <a:srgbClr val="5B6575"/>
                </a:solidFill>
              </a:rPr>
              <a:t>   N3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4213D"/>
                </a:solidFill>
              </a:rPr>
              <a:t>把 UE 封包包進隧道送到 UPF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E79CAF70-BE17-4FF3-9D9E-2221E1E229EA}"/>
              </a:ext>
            </a:extLst>
          </p:cNvPr>
          <p:cNvSpPr txBox="1"/>
          <p:nvPr/>
        </p:nvSpPr>
        <p:spPr>
          <a:xfrm>
            <a:off x="666750" y="60960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橘：IMS 側；藍：5GC 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60A161ED-875A-42DD-8853-1D3987B49294}"/>
              </a:ext>
            </a:extLst>
          </p:cNvPr>
          <p:cNvSpPr/>
          <p:nvPr/>
        </p:nvSpPr>
        <p:spPr>
          <a:xfrm>
            <a:off x="4467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7997B61-6FD8-47FC-88FD-0F345B5BE1AB}"/>
              </a:ext>
            </a:extLst>
          </p:cNvPr>
          <p:cNvSpPr/>
          <p:nvPr/>
        </p:nvSpPr>
        <p:spPr>
          <a:xfrm>
            <a:off x="6181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A9B9F4C-2718-447C-9F7A-7462DCBF8F5D}"/>
              </a:ext>
            </a:extLst>
          </p:cNvPr>
          <p:cNvSpPr/>
          <p:nvPr/>
        </p:nvSpPr>
        <p:spPr>
          <a:xfrm>
            <a:off x="78962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4B270B9-0D1B-4E2C-8BFD-D1E1AB11ABB3}"/>
              </a:ext>
            </a:extLst>
          </p:cNvPr>
          <p:cNvSpPr/>
          <p:nvPr/>
        </p:nvSpPr>
        <p:spPr>
          <a:xfrm>
            <a:off x="9610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5AB6559-E665-48ED-8BA9-54856B181F23}"/>
              </a:ext>
            </a:extLst>
          </p:cNvPr>
          <p:cNvSpPr/>
          <p:nvPr/>
        </p:nvSpPr>
        <p:spPr>
          <a:xfrm>
            <a:off x="11134725" y="952500"/>
            <a:ext cx="19050" cy="5143500"/>
          </a:xfrm>
          <a:prstGeom prst="rect">
            <a:avLst/>
          </a:prstGeom>
          <a:solidFill>
            <a:srgbClr val="5B657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672C386-2F76-40DB-9602-2811FFC89E0E}"/>
              </a:ext>
            </a:extLst>
          </p:cNvPr>
          <p:cNvSpPr/>
          <p:nvPr/>
        </p:nvSpPr>
        <p:spPr>
          <a:xfrm>
            <a:off x="4000500" y="571500"/>
            <a:ext cx="952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UE1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7DC96A9-561E-40CF-9650-93EAED948419}"/>
              </a:ext>
            </a:extLst>
          </p:cNvPr>
          <p:cNvSpPr/>
          <p:nvPr/>
        </p:nvSpPr>
        <p:spPr>
          <a:xfrm>
            <a:off x="5715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P-CSCF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EE48FE2-43EA-41BD-B379-7E345517F021}"/>
              </a:ext>
            </a:extLst>
          </p:cNvPr>
          <p:cNvSpPr/>
          <p:nvPr/>
        </p:nvSpPr>
        <p:spPr>
          <a:xfrm>
            <a:off x="74295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D1D7917-C2C4-4D38-9AEC-3817023679CF}"/>
              </a:ext>
            </a:extLst>
          </p:cNvPr>
          <p:cNvSpPr/>
          <p:nvPr/>
        </p:nvSpPr>
        <p:spPr>
          <a:xfrm>
            <a:off x="9144000" y="571500"/>
            <a:ext cx="952500" cy="38100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1D7A5AE6-2521-419E-A70D-F5DD047060A2}"/>
              </a:ext>
            </a:extLst>
          </p:cNvPr>
          <p:cNvSpPr/>
          <p:nvPr/>
        </p:nvSpPr>
        <p:spPr>
          <a:xfrm>
            <a:off x="10706100" y="571500"/>
            <a:ext cx="8763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UE2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09493744-705D-4BA9-98D1-CD73D80A9A6D}"/>
              </a:ext>
            </a:extLst>
          </p:cNvPr>
          <p:cNvCxnSpPr/>
          <p:nvPr/>
        </p:nvCxnSpPr>
        <p:spPr>
          <a:xfrm>
            <a:off x="4476750" y="138112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784B22B8-C11C-43E5-9D1D-30C121B145CA}"/>
              </a:ext>
            </a:extLst>
          </p:cNvPr>
          <p:cNvCxnSpPr/>
          <p:nvPr/>
        </p:nvCxnSpPr>
        <p:spPr>
          <a:xfrm>
            <a:off x="6191250" y="1714500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DE803007-BC5C-4C15-BBD6-25C8DB754980}"/>
              </a:ext>
            </a:extLst>
          </p:cNvPr>
          <p:cNvCxnSpPr/>
          <p:nvPr/>
        </p:nvCxnSpPr>
        <p:spPr>
          <a:xfrm>
            <a:off x="7905750" y="2047875"/>
            <a:ext cx="1714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93E28BBA-AD30-4483-826D-7AAFC78F4627}"/>
              </a:ext>
            </a:extLst>
          </p:cNvPr>
          <p:cNvCxnSpPr/>
          <p:nvPr/>
        </p:nvCxnSpPr>
        <p:spPr>
          <a:xfrm flipH="1">
            <a:off x="6191250" y="2381250"/>
            <a:ext cx="3429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8638DB29-80D6-435C-8047-E3ED7B1192B8}"/>
              </a:ext>
            </a:extLst>
          </p:cNvPr>
          <p:cNvCxnSpPr/>
          <p:nvPr/>
        </p:nvCxnSpPr>
        <p:spPr>
          <a:xfrm>
            <a:off x="6191250" y="2714625"/>
            <a:ext cx="49530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B35E16E9-5ABD-45AF-859B-27E7571E1098}"/>
              </a:ext>
            </a:extLst>
          </p:cNvPr>
          <p:cNvCxnSpPr/>
          <p:nvPr/>
        </p:nvCxnSpPr>
        <p:spPr>
          <a:xfrm flipH="1">
            <a:off x="4476750" y="3095625"/>
            <a:ext cx="6667500" cy="9525"/>
          </a:xfrm>
          <a:prstGeom prst="straightConnector1">
            <a:avLst/>
          </a:prstGeom>
          <a:ln w="19050" cap="flat">
            <a:solidFill>
              <a:srgbClr val="5B6575"/>
            </a:solidFill>
            <a:tailEnd type="triangle" w="med" len="med"/>
          </a:ln>
        </p:spPr>
      </p:cxnSp>
      <p:cxnSp>
        <p:nvCxnSpPr>
          <p:cNvPr id="19" name="Straight Connector 19">
            <a:extLst>
              <a:ext uri="{FF2B5EF4-FFF2-40B4-BE49-F238E27FC236}">
                <a16:creationId xmlns:a16="http://schemas.microsoft.com/office/drawing/2014/main" id="{63AA97E9-D98F-4CEA-BF2D-50112D55723A}"/>
              </a:ext>
            </a:extLst>
          </p:cNvPr>
          <p:cNvCxnSpPr/>
          <p:nvPr/>
        </p:nvCxnSpPr>
        <p:spPr>
          <a:xfrm flipH="1">
            <a:off x="4476750" y="3476625"/>
            <a:ext cx="6667500" cy="9525"/>
          </a:xfrm>
          <a:prstGeom prst="straightConnector1">
            <a:avLst/>
          </a:prstGeom>
          <a:ln w="25400" cap="flat">
            <a:solidFill>
              <a:srgbClr val="E8742A"/>
            </a:solidFill>
            <a:tailEnd type="triangle" w="med" len="med"/>
          </a:ln>
        </p:spPr>
      </p:cxnSp>
      <p:sp>
        <p:nvSpPr>
          <p:cNvPr id="20" name="Shape 20">
            <a:extLst>
              <a:ext uri="{FF2B5EF4-FFF2-40B4-BE49-F238E27FC236}">
                <a16:creationId xmlns:a16="http://schemas.microsoft.com/office/drawing/2014/main" id="{F56BF413-A174-46A5-A925-2716D8FB4694}"/>
              </a:ext>
            </a:extLst>
          </p:cNvPr>
          <p:cNvSpPr/>
          <p:nvPr/>
        </p:nvSpPr>
        <p:spPr>
          <a:xfrm>
            <a:off x="4762500" y="3638550"/>
            <a:ext cx="3429000" cy="4381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雙方 SDP 已知 → 經 N5 要 QoS（5QI 1）</a:t>
            </a:r>
          </a:p>
        </p:txBody>
      </p: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E6401073-74CC-4D5A-99BD-5D68FBA2C807}"/>
              </a:ext>
            </a:extLst>
          </p:cNvPr>
          <p:cNvCxnSpPr/>
          <p:nvPr/>
        </p:nvCxnSpPr>
        <p:spPr>
          <a:xfrm>
            <a:off x="4476750" y="4429125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2" name="Shape 22">
            <a:extLst>
              <a:ext uri="{FF2B5EF4-FFF2-40B4-BE49-F238E27FC236}">
                <a16:creationId xmlns:a16="http://schemas.microsoft.com/office/drawing/2014/main" id="{8A294E5D-EFDF-4F2F-844D-191902D5713E}"/>
              </a:ext>
            </a:extLst>
          </p:cNvPr>
          <p:cNvSpPr/>
          <p:nvPr/>
        </p:nvSpPr>
        <p:spPr>
          <a:xfrm>
            <a:off x="4476750" y="4686300"/>
            <a:ext cx="6667500" cy="3810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300" b="1">
                <a:solidFill>
                  <a:srgbClr val="FFFFFF"/>
                </a:solidFill>
              </a:rPr>
              <a:t>RTP 語音雙向互送（在 UPF 內 hairpin，不經過任何 CSCF）</a:t>
            </a:r>
          </a:p>
        </p:txBody>
      </p: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7059CA75-6E3D-4C4E-8C0C-C5E5603D4BCC}"/>
              </a:ext>
            </a:extLst>
          </p:cNvPr>
          <p:cNvCxnSpPr/>
          <p:nvPr/>
        </p:nvCxnSpPr>
        <p:spPr>
          <a:xfrm>
            <a:off x="4476750" y="5524500"/>
            <a:ext cx="6667500" cy="9525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3C9A1CE7-8585-4134-B3AE-F5FB991B15A7}"/>
              </a:ext>
            </a:extLst>
          </p:cNvPr>
          <p:cNvSpPr txBox="1"/>
          <p:nvPr/>
        </p:nvSpPr>
        <p:spPr>
          <a:xfrm>
            <a:off x="4533900" y="115252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INVITE（SDP offer）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ACFA3F32-E110-4E4C-8365-50CC055D1CE7}"/>
              </a:ext>
            </a:extLst>
          </p:cNvPr>
          <p:cNvSpPr txBox="1"/>
          <p:nvPr/>
        </p:nvSpPr>
        <p:spPr>
          <a:xfrm>
            <a:off x="6248400" y="1485900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>
                <a:solidFill>
                  <a:srgbClr val="14213D"/>
                </a:solidFill>
              </a:rPr>
              <a:t>INVITE</a:t>
            </a: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10C48AF1-8E13-4B02-AE12-619C3CD7E42D}"/>
              </a:ext>
            </a:extLst>
          </p:cNvPr>
          <p:cNvSpPr txBox="1"/>
          <p:nvPr/>
        </p:nvSpPr>
        <p:spPr>
          <a:xfrm>
            <a:off x="7962900" y="1819275"/>
            <a:ext cx="1619250" cy="190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100" b="1">
                <a:solidFill>
                  <a:srgbClr val="0F4C81"/>
                </a:solidFill>
              </a:rPr>
              <a:t>先 LIR 問 HSS，再 INVITE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9563014-5F86-451C-B68E-5805FECC67DD}"/>
              </a:ext>
            </a:extLst>
          </p:cNvPr>
          <p:cNvSpPr txBox="1"/>
          <p:nvPr/>
        </p:nvSpPr>
        <p:spPr>
          <a:xfrm>
            <a:off x="6248400" y="2152650"/>
            <a:ext cx="33337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依 Path 送回 P-CSCF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3681AF6-B9B0-4D2C-AD17-072CA267F320}"/>
              </a:ext>
            </a:extLst>
          </p:cNvPr>
          <p:cNvSpPr txBox="1"/>
          <p:nvPr/>
        </p:nvSpPr>
        <p:spPr>
          <a:xfrm>
            <a:off x="7962900" y="2486025"/>
            <a:ext cx="3143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INVITE 到被叫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ACB27C9E-3A8A-48AE-86B3-CEECFE156AD3}"/>
              </a:ext>
            </a:extLst>
          </p:cNvPr>
          <p:cNvSpPr txBox="1"/>
          <p:nvPr/>
        </p:nvSpPr>
        <p:spPr>
          <a:xfrm>
            <a:off x="4533900" y="28670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5B6575"/>
                </a:solidFill>
              </a:rPr>
              <a:t>180 Ringing（沿 Via 原路返回）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F3E3848A-7DE6-4BF8-BAAD-722F264F42ED}"/>
              </a:ext>
            </a:extLst>
          </p:cNvPr>
          <p:cNvSpPr txBox="1"/>
          <p:nvPr/>
        </p:nvSpPr>
        <p:spPr>
          <a:xfrm>
            <a:off x="4533900" y="3238500"/>
            <a:ext cx="657225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E8742A"/>
                </a:solidFill>
              </a:rPr>
              <a:t>200 OK（SDP answer）</a:t>
            </a:r>
          </a:p>
        </p:txBody>
      </p:sp>
      <p:sp>
        <p:nvSpPr>
          <p:cNvPr id="31" name="TextBox 31">
            <a:extLst>
              <a:ext uri="{FF2B5EF4-FFF2-40B4-BE49-F238E27FC236}">
                <a16:creationId xmlns:a16="http://schemas.microsoft.com/office/drawing/2014/main" id="{7904CF71-C199-4612-B190-AEB1B8876592}"/>
              </a:ext>
            </a:extLst>
          </p:cNvPr>
          <p:cNvSpPr txBox="1"/>
          <p:nvPr/>
        </p:nvSpPr>
        <p:spPr>
          <a:xfrm>
            <a:off x="4533900" y="4200525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>
                <a:solidFill>
                  <a:srgbClr val="14213D"/>
                </a:solidFill>
              </a:rPr>
              <a:t>ACK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C2EC0FA3-3A83-43C5-92D9-074B21529313}"/>
              </a:ext>
            </a:extLst>
          </p:cNvPr>
          <p:cNvSpPr txBox="1"/>
          <p:nvPr/>
        </p:nvSpPr>
        <p:spPr>
          <a:xfrm>
            <a:off x="4533900" y="5295900"/>
            <a:ext cx="6572250" cy="1905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14213D"/>
                </a:solidFill>
              </a:rPr>
              <a:t>BYE 掛斷 → P-CSCF 同時釋放 QoS 規則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D98932BC-1FC5-4A85-A21B-691FF7820840}"/>
              </a:ext>
            </a:extLst>
          </p:cNvPr>
          <p:cNvSpPr txBox="1"/>
          <p:nvPr/>
        </p:nvSpPr>
        <p:spPr>
          <a:xfrm>
            <a:off x="476250" y="533400"/>
            <a:ext cx="3429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600" b="1">
                <a:solidFill>
                  <a:srgbClr val="14213D"/>
                </a:solidFill>
              </a:rPr>
              <a:t>一通電話的訊息階梯</a:t>
            </a: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EA1CC323-B98C-44F3-8C16-1C1DEF95B0CE}"/>
              </a:ext>
            </a:extLst>
          </p:cNvPr>
          <p:cNvSpPr txBox="1"/>
          <p:nvPr/>
        </p:nvSpPr>
        <p:spPr>
          <a:xfrm>
            <a:off x="476250" y="1428750"/>
            <a:ext cx="3238500" cy="4953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P-CSCF 為什麼出現兩次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主叫出去、被叫靠 Path 繞回，兩端各要一次 QoS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E8742A"/>
                </a:solidFill>
              </a:rPr>
              <a:t>為什麼等到 200 OK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offer、answer 到齊，RTP 位址才完整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0F4C81"/>
                </a:solidFill>
              </a:rPr>
              <a:t>信令與媒體分家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SIP 經三個 CSCF；RTP 在 UPF 內直接轉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D7C462D-F6BF-44B3-960B-2888C1A4E1BE}"/>
              </a:ext>
            </a:extLst>
          </p:cNvPr>
          <p:cNvSpPr/>
          <p:nvPr/>
        </p:nvSpPr>
        <p:spPr>
          <a:xfrm>
            <a:off x="6667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SDP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1579DE2-9B12-4EA6-A81C-6C36A5E98128}"/>
              </a:ext>
            </a:extLst>
          </p:cNvPr>
          <p:cNvSpPr/>
          <p:nvPr/>
        </p:nvSpPr>
        <p:spPr>
          <a:xfrm>
            <a:off x="2457450" y="1905000"/>
            <a:ext cx="1866900" cy="666750"/>
          </a:xfrm>
          <a:prstGeom prst="chevron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N5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3159524-0C6C-4799-911F-6DD37CCA6284}"/>
              </a:ext>
            </a:extLst>
          </p:cNvPr>
          <p:cNvSpPr/>
          <p:nvPr/>
        </p:nvSpPr>
        <p:spPr>
          <a:xfrm>
            <a:off x="42481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PCF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E20FE0D-3297-4DF2-AACF-C70674B27B63}"/>
              </a:ext>
            </a:extLst>
          </p:cNvPr>
          <p:cNvSpPr/>
          <p:nvPr/>
        </p:nvSpPr>
        <p:spPr>
          <a:xfrm>
            <a:off x="60388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N7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DE2AA73-256B-4330-A328-C28A348359A3}"/>
              </a:ext>
            </a:extLst>
          </p:cNvPr>
          <p:cNvSpPr/>
          <p:nvPr/>
        </p:nvSpPr>
        <p:spPr>
          <a:xfrm>
            <a:off x="7829550" y="1905000"/>
            <a:ext cx="1866900" cy="666750"/>
          </a:xfrm>
          <a:prstGeom prst="chevron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SMF → N4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D2E4D10-5A99-48CC-8447-E32C61C29C50}"/>
              </a:ext>
            </a:extLst>
          </p:cNvPr>
          <p:cNvSpPr/>
          <p:nvPr/>
        </p:nvSpPr>
        <p:spPr>
          <a:xfrm>
            <a:off x="9620250" y="1905000"/>
            <a:ext cx="1866900" cy="666750"/>
          </a:xfrm>
          <a:prstGeom prst="chevron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UPF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66CE93B-4973-45F4-BD6C-B3D3EC288733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QoS 迴圈：從 SDP 到 UPF 規則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B072612-5ABC-486F-8212-AA854FDB6F21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200 OK 觸發，每一跳翻譯成下一層的格式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02CC3EF-D853-4B45-9DF5-6752424AD63F}"/>
              </a:ext>
            </a:extLst>
          </p:cNvPr>
          <p:cNvSpPr txBox="1"/>
          <p:nvPr/>
        </p:nvSpPr>
        <p:spPr>
          <a:xfrm>
            <a:off x="8001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P-CSCF 讀 SDP</a:t>
            </a:r>
          </a:p>
          <a:p>
            <a:r>
              <a:rPr sz="1500">
                <a:solidFill>
                  <a:srgbClr val="5B6575"/>
                </a:solidFill>
              </a:rPr>
              <a:t>c= 與 m=audio → RTP 5-tuple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60B23B6D-B69E-4714-BD1F-5D6510563863}"/>
              </a:ext>
            </a:extLst>
          </p:cNvPr>
          <p:cNvSpPr txBox="1"/>
          <p:nvPr/>
        </p:nvSpPr>
        <p:spPr>
          <a:xfrm>
            <a:off x="25908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POST /app-sessions</a:t>
            </a:r>
          </a:p>
          <a:p>
            <a:r>
              <a:rPr sz="1500">
                <a:solidFill>
                  <a:srgbClr val="5B6575"/>
                </a:solidFill>
              </a:rPr>
              <a:t>medType AUDIO、flow、位元率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E4B9537-F9EA-49D3-9656-CAA73C7EDC46}"/>
              </a:ext>
            </a:extLst>
          </p:cNvPr>
          <p:cNvSpPr txBox="1"/>
          <p:nvPr/>
        </p:nvSpPr>
        <p:spPr>
          <a:xfrm>
            <a:off x="43815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PCC rule</a:t>
            </a:r>
          </a:p>
          <a:p>
            <a:r>
              <a:rPr sz="1500">
                <a:solidFill>
                  <a:srgbClr val="5B6575"/>
                </a:solidFill>
              </a:rPr>
              <a:t>依 UE IP 綁定；AUDIO → 5QI 1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9C16BE0-3CBE-4F10-A9D5-2D9BF621C4E2}"/>
              </a:ext>
            </a:extLst>
          </p:cNvPr>
          <p:cNvSpPr txBox="1"/>
          <p:nvPr/>
        </p:nvSpPr>
        <p:spPr>
          <a:xfrm>
            <a:off x="61722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SM Policy Update</a:t>
            </a:r>
          </a:p>
          <a:p>
            <a:r>
              <a:rPr sz="1500">
                <a:solidFill>
                  <a:srgbClr val="5B6575"/>
                </a:solidFill>
              </a:rPr>
              <a:t>PCF 通知 SMF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900AA39-CB4C-41E2-A621-80007F977FF7}"/>
              </a:ext>
            </a:extLst>
          </p:cNvPr>
          <p:cNvSpPr txBox="1"/>
          <p:nvPr/>
        </p:nvSpPr>
        <p:spPr>
          <a:xfrm>
            <a:off x="7962900" y="2857500"/>
            <a:ext cx="16002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PFCP Session Modification</a:t>
            </a:r>
          </a:p>
          <a:p>
            <a:r>
              <a:rPr sz="1500">
                <a:solidFill>
                  <a:srgbClr val="5B6575"/>
                </a:solidFill>
              </a:rPr>
              <a:t>PCC rule → PDR + QER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3557DE2-7AE1-4F46-990E-7FD2F0460F80}"/>
              </a:ext>
            </a:extLst>
          </p:cNvPr>
          <p:cNvSpPr txBox="1"/>
          <p:nvPr/>
        </p:nvSpPr>
        <p:spPr>
          <a:xfrm>
            <a:off x="9753600" y="2857500"/>
            <a:ext cx="1676400" cy="2286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14213D"/>
                </a:solidFill>
              </a:rPr>
              <a:t>gtp5g 規則</a:t>
            </a:r>
          </a:p>
          <a:p>
            <a:r>
              <a:rPr sz="1500">
                <a:solidFill>
                  <a:srgbClr val="5B6575"/>
                </a:solidFill>
              </a:rPr>
              <a:t>依 PDR 比對語音封包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AFE36E8F-8AF1-4B05-9E08-8E31BC52E24B}"/>
              </a:ext>
            </a:extLst>
          </p:cNvPr>
          <p:cNvSpPr/>
          <p:nvPr/>
        </p:nvSpPr>
        <p:spPr>
          <a:xfrm>
            <a:off x="666750" y="5391150"/>
            <a:ext cx="10858500" cy="9144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F4C81"/>
                </a:solidFill>
              </a:rPr>
              <a:t>   注意：</a:t>
            </a:r>
            <a:r>
              <a:rPr sz="1500">
                <a:solidFill>
                  <a:srgbClr val="14213D"/>
                </a:solidFill>
              </a:rPr>
              <a:t>free5gc 只裝規則、不真的限速；測試只驗證規則存在。</a:t>
            </a:r>
          </a:p>
          <a:p>
            <a:pPr algn="l">
              <a:lnSpc>
                <a:spcPct val="120000"/>
              </a:lnSpc>
            </a:pPr>
            <a:r>
              <a:rPr sz="1500">
                <a:solidFill>
                  <a:srgbClr val="14213D"/>
                </a:solidFill>
              </a:rPr>
              <a:t>   BYE 時沿同一條鏈釋放。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C87E0F5-F51C-4151-BC45-418BC842E221}"/>
              </a:ext>
            </a:extLst>
          </p:cNvPr>
          <p:cNvSpPr/>
          <p:nvPr/>
        </p:nvSpPr>
        <p:spPr>
          <a:xfrm>
            <a:off x="666750" y="1333500"/>
            <a:ext cx="3429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2AC10A4-C917-44D4-81DF-FF0660A56400}"/>
              </a:ext>
            </a:extLst>
          </p:cNvPr>
          <p:cNvSpPr/>
          <p:nvPr/>
        </p:nvSpPr>
        <p:spPr>
          <a:xfrm>
            <a:off x="4381500" y="1333500"/>
            <a:ext cx="3429000" cy="40005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5E1D013-EAE2-474D-A8C0-42372DB25BEC}"/>
              </a:ext>
            </a:extLst>
          </p:cNvPr>
          <p:cNvSpPr/>
          <p:nvPr/>
        </p:nvSpPr>
        <p:spPr>
          <a:xfrm>
            <a:off x="8096250" y="1333500"/>
            <a:ext cx="3429000" cy="40005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D0F582A-9051-4B02-A0F5-AB5F049C6708}"/>
              </a:ext>
            </a:extLst>
          </p:cNvPr>
          <p:cNvSpPr txBox="1"/>
          <p:nvPr/>
        </p:nvSpPr>
        <p:spPr>
          <a:xfrm>
            <a:off x="666750" y="43815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5QI：網路給每種流量的服務等級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3BACFFA-F53A-4717-A707-2B7018DF0D0C}"/>
              </a:ext>
            </a:extLst>
          </p:cNvPr>
          <p:cNvSpPr txBox="1"/>
          <p:nvPr/>
        </p:nvSpPr>
        <p:spPr>
          <a:xfrm>
            <a:off x="666750" y="1047750"/>
            <a:ext cx="10858500" cy="285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700">
                <a:solidFill>
                  <a:srgbClr val="5B6575"/>
                </a:solidFill>
              </a:rPr>
              <a:t>TS 23.501 的標準服務等級；VoNR 用後兩種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CE08CD3-3C11-488B-94B1-869FBC68221F}"/>
              </a:ext>
            </a:extLst>
          </p:cNvPr>
          <p:cNvSpPr txBox="1"/>
          <p:nvPr/>
        </p:nvSpPr>
        <p:spPr>
          <a:xfrm>
            <a:off x="9334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5B6575"/>
                </a:solidFill>
              </a:rPr>
              <a:t>5QI 9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一般上網（internet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300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90（越小越優先）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EAD401-47FF-4D0F-9BCA-DD9E5D834C87}"/>
              </a:ext>
            </a:extLst>
          </p:cNvPr>
          <p:cNvSpPr txBox="1"/>
          <p:nvPr/>
        </p:nvSpPr>
        <p:spPr>
          <a:xfrm>
            <a:off x="464820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0F4C81"/>
                </a:solidFill>
              </a:rPr>
              <a:t>5QI 5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IMS 信令（ims DNN 預設）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Non-GBR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10⁻⁶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10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86B11C43-2E6D-471D-87F5-18232D5951B9}"/>
              </a:ext>
            </a:extLst>
          </p:cNvPr>
          <p:cNvSpPr txBox="1"/>
          <p:nvPr/>
        </p:nvSpPr>
        <p:spPr>
          <a:xfrm>
            <a:off x="8362950" y="1543050"/>
            <a:ext cx="2895600" cy="3619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400" b="1">
                <a:solidFill>
                  <a:srgbClr val="E8742A"/>
                </a:solidFill>
              </a:rPr>
              <a:t>5QI 1</a:t>
            </a:r>
          </a:p>
          <a:p>
            <a:pPr>
              <a:spcAft>
                <a:spcPts val="1400"/>
              </a:spcAft>
            </a:pPr>
            <a:r>
              <a:rPr sz="1800" b="1">
                <a:solidFill>
                  <a:srgbClr val="14213D"/>
                </a:solidFill>
              </a:rPr>
              <a:t>通話語音（通話中由 N5 觸發）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資源類型  </a:t>
            </a:r>
            <a:r>
              <a:rPr sz="1600" b="1">
                <a:solidFill>
                  <a:srgbClr val="14213D"/>
                </a:solidFill>
              </a:rPr>
              <a:t>GBR 保證頻寬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延遲預算  </a:t>
            </a:r>
            <a:r>
              <a:rPr sz="1600" b="1">
                <a:solidFill>
                  <a:srgbClr val="14213D"/>
                </a:solidFill>
              </a:rPr>
              <a:t>100 ms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5B6575"/>
                </a:solidFill>
              </a:rPr>
              <a:t>封包錯誤率  </a:t>
            </a:r>
            <a:r>
              <a:rPr sz="1600" b="1">
                <a:solidFill>
                  <a:srgbClr val="14213D"/>
                </a:solidFill>
              </a:rPr>
              <a:t>10⁻²</a:t>
            </a:r>
          </a:p>
          <a:p>
            <a:pPr>
              <a:spcAft>
                <a:spcPts val="1800"/>
              </a:spcAft>
            </a:pPr>
            <a:r>
              <a:rPr sz="1600">
                <a:solidFill>
                  <a:srgbClr val="5B6575"/>
                </a:solidFill>
              </a:rPr>
              <a:t>優先權  </a:t>
            </a:r>
            <a:r>
              <a:rPr sz="1600" b="1">
                <a:solidFill>
                  <a:srgbClr val="14213D"/>
                </a:solidFill>
              </a:rPr>
              <a:t>20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4534809-1C14-4DE5-95FD-95B08E0D78DD}"/>
              </a:ext>
            </a:extLst>
          </p:cNvPr>
          <p:cNvSpPr/>
          <p:nvPr/>
        </p:nvSpPr>
        <p:spPr>
          <a:xfrm>
            <a:off x="666750" y="55626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742A"/>
                </a:solidFill>
              </a:rPr>
              <a:t>   語音錯誤率較寬：</a:t>
            </a:r>
            <a:r>
              <a:rPr sz="1500">
                <a:solidFill>
                  <a:srgbClr val="FFFFFF"/>
                </a:solidFill>
              </a:rPr>
              <a:t>掉 1% 聽不出來，延遲聽得出來；要的是準時，不是一包不漏。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F3EC8DA2-16CF-409F-B572-349CC50E36DA}"/>
              </a:ext>
            </a:extLst>
          </p:cNvPr>
          <p:cNvSpPr/>
          <p:nvPr/>
        </p:nvSpPr>
        <p:spPr>
          <a:xfrm>
            <a:off x="666750" y="1619250"/>
            <a:ext cx="3619500" cy="2762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79DA7AE-3DAF-4E41-BFF7-D1614A37DD4B}"/>
              </a:ext>
            </a:extLst>
          </p:cNvPr>
          <p:cNvSpPr/>
          <p:nvPr/>
        </p:nvSpPr>
        <p:spPr>
          <a:xfrm>
            <a:off x="7905750" y="1619250"/>
            <a:ext cx="3619500" cy="27622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D759A8B-0DC4-49EC-B2DF-AF434483A682}"/>
              </a:ext>
            </a:extLst>
          </p:cNvPr>
          <p:cNvSpPr/>
          <p:nvPr/>
        </p:nvSpPr>
        <p:spPr>
          <a:xfrm>
            <a:off x="4762500" y="1809750"/>
            <a:ext cx="2667000" cy="23812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213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74B968-D112-4A19-B221-5B67ED2613C9}"/>
              </a:ext>
            </a:extLst>
          </p:cNvPr>
          <p:cNvSpPr/>
          <p:nvPr/>
        </p:nvSpPr>
        <p:spPr>
          <a:xfrm>
            <a:off x="4343400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E8017851-5A34-437B-B78D-04063D1C7348}"/>
              </a:ext>
            </a:extLst>
          </p:cNvPr>
          <p:cNvSpPr/>
          <p:nvPr/>
        </p:nvSpPr>
        <p:spPr>
          <a:xfrm>
            <a:off x="7477125" y="2819400"/>
            <a:ext cx="381000" cy="342900"/>
          </a:xfrm>
          <a:prstGeom prst="rightArrow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A8C1E6D-610A-4E20-98A2-FE9FE895A04B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Kamailio 講 Rx，free5gc 只講 N5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9FB27D-169F-499E-AB03-D20D11EA2152}"/>
              </a:ext>
            </a:extLst>
          </p:cNvPr>
          <p:cNvSpPr txBox="1"/>
          <p:nvPr/>
        </p:nvSpPr>
        <p:spPr>
          <a:xfrm>
            <a:off x="666750" y="1162050"/>
            <a:ext cx="10858500" cy="3048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600">
                <a:solidFill>
                  <a:srgbClr val="5B6575"/>
                </a:solidFill>
              </a:rPr>
              <a:t>AF 向 PCF 要 QoS：4G 與 5G 協定不同，專案用 shim 接起來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8CA3A90-DBF1-4214-A063-9B3C2267150F}"/>
              </a:ext>
            </a:extLst>
          </p:cNvPr>
          <p:cNvSpPr txBox="1"/>
          <p:nvPr/>
        </p:nvSpPr>
        <p:spPr>
          <a:xfrm>
            <a:off x="914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E8742A"/>
                </a:solidFill>
              </a:rPr>
              <a:t>Kamailio ims_qos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Diameter Rx（4G，TS 29.214）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AAR / STR：建立、結束 QoS session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RAR / ASR：網路端通知、要求結束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4EE7D8C-7DB6-4DD1-BAFB-8158360AE216}"/>
              </a:ext>
            </a:extLst>
          </p:cNvPr>
          <p:cNvSpPr txBox="1"/>
          <p:nvPr/>
        </p:nvSpPr>
        <p:spPr>
          <a:xfrm>
            <a:off x="4953000" y="1962150"/>
            <a:ext cx="2286000" cy="209550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14213D"/>
                </a:solidFill>
              </a:rPr>
              <a:t>現行解法：AF shim</a:t>
            </a:r>
          </a:p>
          <a:p>
            <a:pPr algn="ctr">
              <a:spcAft>
                <a:spcPts val="1000"/>
              </a:spcAft>
            </a:pPr>
            <a:r>
              <a:rPr sz="1300">
                <a:solidFill>
                  <a:srgbClr val="5B6575"/>
                </a:solidFill>
              </a:rPr>
              <a:t>af/main.go，569 行 Go</a:t>
            </a:r>
          </a:p>
          <a:p>
            <a:pPr algn="l">
              <a:spcAft>
                <a:spcPts val="600"/>
              </a:spcAft>
            </a:pPr>
            <a:r>
              <a:rPr sz="1300">
                <a:solidFill>
                  <a:srgbClr val="14213D"/>
                </a:solidFill>
              </a:rPr>
              <a:t>P-CSCF 用 http_client 送自訂 JSON</a:t>
            </a:r>
          </a:p>
          <a:p>
            <a:pPr algn="l"/>
            <a:r>
              <a:rPr sz="1300">
                <a:solidFill>
                  <a:srgbClr val="14213D"/>
                </a:solidFill>
              </a:rPr>
              <a:t>shim 轉成 N5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E510B70-B205-47EC-A9D4-75E840AF138B}"/>
              </a:ext>
            </a:extLst>
          </p:cNvPr>
          <p:cNvSpPr txBox="1"/>
          <p:nvPr/>
        </p:nvSpPr>
        <p:spPr>
          <a:xfrm>
            <a:off x="8153400" y="1828800"/>
            <a:ext cx="3143250" cy="2381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000" b="1">
                <a:solidFill>
                  <a:srgbClr val="0F4C81"/>
                </a:solidFill>
              </a:rPr>
              <a:t>free5gc PCF</a:t>
            </a:r>
          </a:p>
          <a:p>
            <a:pPr>
              <a:spcAft>
                <a:spcPts val="1200"/>
              </a:spcAft>
            </a:pPr>
            <a:r>
              <a:rPr sz="1500" b="1">
                <a:solidFill>
                  <a:srgbClr val="14213D"/>
                </a:solidFill>
              </a:rPr>
              <a:t>N5 HTTP/2 SBI（5G，TS 29.514）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Npcf_PolicyAuthorization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POST / PATCH / delete app-sessions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07BD03FF-1546-438E-86EB-A4B2306A1DC5}"/>
              </a:ext>
            </a:extLst>
          </p:cNvPr>
          <p:cNvSpPr txBox="1"/>
          <p:nvPr/>
        </p:nvSpPr>
        <p:spPr>
          <a:xfrm>
            <a:off x="666750" y="4762500"/>
            <a:ext cx="10858500" cy="3429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 b="1">
                <a:solidFill>
                  <a:srgbClr val="14213D"/>
                </a:solidFill>
              </a:rPr>
              <a:t>刻意簡化的地方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9BA7800-F19E-4F39-9294-B11F6F792A77}"/>
              </a:ext>
            </a:extLst>
          </p:cNvPr>
          <p:cNvSpPr/>
          <p:nvPr/>
        </p:nvSpPr>
        <p:spPr>
          <a:xfrm>
            <a:off x="6667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IPsec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Gm 上不建 SA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F2B79AB2-8DA0-4870-8EE7-E8967269F6A0}"/>
              </a:ext>
            </a:extLst>
          </p:cNvPr>
          <p:cNvSpPr/>
          <p:nvPr/>
        </p:nvSpPr>
        <p:spPr>
          <a:xfrm>
            <a:off x="34290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IMS-AGW / SBC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RTP 直接在 UPF 轉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B9888A5-2014-4715-A31B-5D5AF97C18ED}"/>
              </a:ext>
            </a:extLst>
          </p:cNvPr>
          <p:cNvSpPr/>
          <p:nvPr/>
        </p:nvSpPr>
        <p:spPr>
          <a:xfrm>
            <a:off x="619125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TAS / MRF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沒有補充服務與會議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9B16CCA-E2D4-4C78-9AE1-D133ADDAD140}"/>
              </a:ext>
            </a:extLst>
          </p:cNvPr>
          <p:cNvSpPr/>
          <p:nvPr/>
        </p:nvSpPr>
        <p:spPr>
          <a:xfrm>
            <a:off x="8953500" y="5219700"/>
            <a:ext cx="2571750" cy="99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14213D"/>
                </a:solidFill>
              </a:rPr>
              <a:t>無 PSTN 閘道</a:t>
            </a:r>
          </a:p>
          <a:p>
            <a:pPr algn="ctr"/>
            <a:r>
              <a:rPr sz="1300">
                <a:solidFill>
                  <a:srgbClr val="5B6575"/>
                </a:solidFill>
              </a:rPr>
              <a:t>只有 IMS 用戶互打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21305CFA-DF9C-43AA-8407-7B866D9795E2}"/>
              </a:ext>
            </a:extLst>
          </p:cNvPr>
          <p:cNvSpPr/>
          <p:nvPr/>
        </p:nvSpPr>
        <p:spPr>
          <a:xfrm>
            <a:off x="6667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98B4DB5-9ACE-4133-A471-E579FAA2104E}"/>
              </a:ext>
            </a:extLst>
          </p:cNvPr>
          <p:cNvSpPr/>
          <p:nvPr/>
        </p:nvSpPr>
        <p:spPr>
          <a:xfrm>
            <a:off x="288607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51BA3FC-1E60-415D-892A-6DE58273B9C2}"/>
              </a:ext>
            </a:extLst>
          </p:cNvPr>
          <p:cNvSpPr/>
          <p:nvPr/>
        </p:nvSpPr>
        <p:spPr>
          <a:xfrm>
            <a:off x="5105400" y="1524000"/>
            <a:ext cx="1981200" cy="36576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D4B75CD-9C2A-4EDB-96B9-230234064DAC}"/>
              </a:ext>
            </a:extLst>
          </p:cNvPr>
          <p:cNvSpPr/>
          <p:nvPr/>
        </p:nvSpPr>
        <p:spPr>
          <a:xfrm>
            <a:off x="7324725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CC9E700-F56B-45A2-883E-CFB0B193F93A}"/>
              </a:ext>
            </a:extLst>
          </p:cNvPr>
          <p:cNvSpPr/>
          <p:nvPr/>
        </p:nvSpPr>
        <p:spPr>
          <a:xfrm>
            <a:off x="9544050" y="1524000"/>
            <a:ext cx="198120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48E2BE-7AB9-4F0A-AF06-6AC6802E205F}"/>
              </a:ext>
            </a:extLst>
          </p:cNvPr>
          <p:cNvSpPr txBox="1"/>
          <p:nvPr/>
        </p:nvSpPr>
        <p:spPr>
          <a:xfrm>
            <a:off x="666750" y="533400"/>
            <a:ext cx="10858500" cy="6096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現行 AF shim 的五個問題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2AE1E1F-FE69-4729-A9DB-78BE55A324F5}"/>
              </a:ext>
            </a:extLst>
          </p:cNvPr>
          <p:cNvSpPr txBox="1"/>
          <p:nvPr/>
        </p:nvSpPr>
        <p:spPr>
          <a:xfrm>
            <a:off x="8191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01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自訂 JSON 介面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換掉任一端都要重寫</a:t>
            </a:r>
          </a:p>
          <a:p>
            <a:r>
              <a:rPr sz="1500">
                <a:solidFill>
                  <a:srgbClr val="0F4C81"/>
                </a:solidFill>
              </a:rPr>
              <a:t>route[AF_RESERVE]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81E3995-B854-4F1F-A97D-ADE660DB5EF0}"/>
              </a:ext>
            </a:extLst>
          </p:cNvPr>
          <p:cNvSpPr txBox="1"/>
          <p:nvPr/>
        </p:nvSpPr>
        <p:spPr>
          <a:xfrm>
            <a:off x="303847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02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AF 邏輯散在 cfg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寫在 SIP 路由腳本，難測試</a:t>
            </a:r>
          </a:p>
          <a:p>
            <a:r>
              <a:rPr sz="1500">
                <a:solidFill>
                  <a:srgbClr val="0F4C81"/>
                </a:solidFill>
              </a:rPr>
              <a:t>AF_KEY / AF_RELEASE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7111146-F3F7-471F-9980-96A556DD7185}"/>
              </a:ext>
            </a:extLst>
          </p:cNvPr>
          <p:cNvSpPr txBox="1"/>
          <p:nvPr/>
        </p:nvSpPr>
        <p:spPr>
          <a:xfrm>
            <a:off x="525780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03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PCF 通知只寫 log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PDU session 沒了，通話還掛著</a:t>
            </a:r>
          </a:p>
          <a:p>
            <a:r>
              <a:rPr sz="1500">
                <a:solidFill>
                  <a:srgbClr val="0F4C81"/>
                </a:solidFill>
              </a:rPr>
              <a:t>handleNotify → 204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D031DDF-21E5-48FB-B009-E379F91E6231}"/>
              </a:ext>
            </a:extLst>
          </p:cNvPr>
          <p:cNvSpPr txBox="1"/>
          <p:nvPr/>
        </p:nvSpPr>
        <p:spPr>
          <a:xfrm>
            <a:off x="7477125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04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同步 HTTP 呼叫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PCF 慢就卡住 worker</a:t>
            </a:r>
          </a:p>
          <a:p>
            <a:r>
              <a:rPr sz="1500">
                <a:solidFill>
                  <a:srgbClr val="0F4C81"/>
                </a:solidFill>
              </a:rPr>
              <a:t>http_client_query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3929B18-4461-42E2-990E-7AC92C9A79A3}"/>
              </a:ext>
            </a:extLst>
          </p:cNvPr>
          <p:cNvSpPr txBox="1"/>
          <p:nvPr/>
        </p:nvSpPr>
        <p:spPr>
          <a:xfrm>
            <a:off x="9696450" y="1714500"/>
            <a:ext cx="1676400" cy="3333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4000" b="1">
                <a:solidFill>
                  <a:srgbClr val="E8742A"/>
                </a:solidFill>
              </a:rPr>
              <a:t>05</a:t>
            </a:r>
          </a:p>
          <a:p>
            <a:pPr>
              <a:spcAft>
                <a:spcPts val="1200"/>
              </a:spcAft>
            </a:pPr>
            <a:r>
              <a:rPr sz="1800" b="1">
                <a:solidFill>
                  <a:srgbClr val="14213D"/>
                </a:solidFill>
              </a:rPr>
              <a:t>信令沒有 QoS</a:t>
            </a:r>
          </a:p>
          <a:p>
            <a:pPr>
              <a:lnSpc>
                <a:spcPct val="125000"/>
              </a:lnSpc>
              <a:spcAft>
                <a:spcPts val="2000"/>
              </a:spcAft>
            </a:pPr>
            <a:r>
              <a:rPr sz="1800">
                <a:solidFill>
                  <a:srgbClr val="5B6575"/>
                </a:solidFill>
              </a:rPr>
              <a:t>只預留媒體，信令沒有</a:t>
            </a:r>
          </a:p>
          <a:p>
            <a:r>
              <a:rPr sz="1500">
                <a:solidFill>
                  <a:srgbClr val="0F4C81"/>
                </a:solidFill>
              </a:rPr>
              <a:t>TS 24.229 / 29.214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688FAD0-518C-4DF4-94A0-290C77D35F59}"/>
              </a:ext>
            </a:extLst>
          </p:cNvPr>
          <p:cNvSpPr/>
          <p:nvPr/>
        </p:nvSpPr>
        <p:spPr>
          <a:xfrm>
            <a:off x="666750" y="5448300"/>
            <a:ext cx="10858500" cy="8001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E8742A"/>
                </a:solidFill>
              </a:rPr>
              <a:t>根本原因：</a:t>
            </a:r>
            <a:r>
              <a:rPr sz="1700">
                <a:solidFill>
                  <a:srgbClr val="FFFFFF"/>
                </a:solidFill>
              </a:rPr>
              <a:t>AF 邏輯拆在 cfg 與 shim，兩邊都不是標準介面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81BE389C-03B2-43F4-86C7-C6D17DD40242}"/>
              </a:ext>
            </a:extLst>
          </p:cNvPr>
          <p:cNvSpPr/>
          <p:nvPr/>
        </p:nvSpPr>
        <p:spPr>
          <a:xfrm>
            <a:off x="666750" y="2247900"/>
            <a:ext cx="108585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B82872F-C5D7-4067-BFF9-4205B8EC3A1F}"/>
              </a:ext>
            </a:extLst>
          </p:cNvPr>
          <p:cNvSpPr/>
          <p:nvPr/>
        </p:nvSpPr>
        <p:spPr>
          <a:xfrm>
            <a:off x="666750" y="1962150"/>
            <a:ext cx="2000250" cy="59055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約 1 週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4227B97-CEA4-4741-BFB5-F38131ACD76F}"/>
              </a:ext>
            </a:extLst>
          </p:cNvPr>
          <p:cNvSpPr/>
          <p:nvPr/>
        </p:nvSpPr>
        <p:spPr>
          <a:xfrm>
            <a:off x="28765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1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2–3 週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7CFFF31-16CD-4783-B253-6E621DAD5C44}"/>
              </a:ext>
            </a:extLst>
          </p:cNvPr>
          <p:cNvSpPr/>
          <p:nvPr/>
        </p:nvSpPr>
        <p:spPr>
          <a:xfrm>
            <a:off x="50863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2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約 3 週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36D6BA1-4DA6-4D48-86B0-F68381CD3BD6}"/>
              </a:ext>
            </a:extLst>
          </p:cNvPr>
          <p:cNvSpPr/>
          <p:nvPr/>
        </p:nvSpPr>
        <p:spPr>
          <a:xfrm>
            <a:off x="7296150" y="1962150"/>
            <a:ext cx="2000250" cy="5905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3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1–2 週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7F3CD38-3F69-4F08-8A22-0741525DE9BF}"/>
              </a:ext>
            </a:extLst>
          </p:cNvPr>
          <p:cNvSpPr/>
          <p:nvPr/>
        </p:nvSpPr>
        <p:spPr>
          <a:xfrm>
            <a:off x="9505950" y="1962150"/>
            <a:ext cx="2019300" cy="5905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Phase 4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3–4 週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CF28E2-2454-4821-A3F9-D09653B23C8B}"/>
              </a:ext>
            </a:extLst>
          </p:cNvPr>
          <p:cNvSpPr txBox="1"/>
          <p:nvPr/>
        </p:nvSpPr>
        <p:spPr>
          <a:xfrm>
            <a:off x="666750" y="4381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600" b="1">
                <a:solidFill>
                  <a:srgbClr val="14213D"/>
                </a:solidFill>
              </a:rPr>
              <a:t>重建計畫：用 Go 取代 Kamailio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45D2758-9259-4BC3-9246-7E0DEE74AB32}"/>
              </a:ext>
            </a:extLst>
          </p:cNvPr>
          <p:cNvSpPr txBox="1"/>
          <p:nvPr/>
        </p:nvSpPr>
        <p:spPr>
          <a:xfrm>
            <a:off x="666750" y="112395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sz="1600">
                <a:solidFill>
                  <a:srgbClr val="5B6575"/>
                </a:solidFill>
              </a:rPr>
              <a:t>一個 Go NF 取代 3 個 Kamailio、AF shim、PyHSS：P-CSCF 直接講 N5，HSS 走 N70（TS 23.228 附錄 AA）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B7758E5-43F9-4E12-862F-C595ED5D4B13}"/>
              </a:ext>
            </a:extLst>
          </p:cNvPr>
          <p:cNvSpPr txBox="1"/>
          <p:nvPr/>
        </p:nvSpPr>
        <p:spPr>
          <a:xfrm>
            <a:off x="7048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準備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測試改用抓包判斷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錄下 Kamailio 的標準答案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選 SIP 函式庫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F3274ED-31C0-4732-8362-44CB0AD69406}"/>
              </a:ext>
            </a:extLst>
          </p:cNvPr>
          <p:cNvSpPr txBox="1"/>
          <p:nvPr/>
        </p:nvSpPr>
        <p:spPr>
          <a:xfrm>
            <a:off x="29146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P-CSCF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直接講 N5，拿掉 shim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PDU session 斷了就掛電話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572F855-90EA-4EB0-9DB4-45080B8F1130}"/>
              </a:ext>
            </a:extLst>
          </p:cNvPr>
          <p:cNvSpPr txBox="1"/>
          <p:nvPr/>
        </p:nvSpPr>
        <p:spPr>
          <a:xfrm>
            <a:off x="51244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S-CSCF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IMS AKA、SQN 重新同步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註冊與來電路由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B345C44-0E0D-4B50-9E7F-A61B5EC206E3}"/>
              </a:ext>
            </a:extLst>
          </p:cNvPr>
          <p:cNvSpPr txBox="1"/>
          <p:nvPr/>
        </p:nvSpPr>
        <p:spPr>
          <a:xfrm>
            <a:off x="7334250" y="2819400"/>
            <a:ext cx="192405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I-CSCF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UAR、LIR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主叫改走 Service-Route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移除 Kamailio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60EE31B-ED70-4D7E-BC0A-C70F82220420}"/>
              </a:ext>
            </a:extLst>
          </p:cNvPr>
          <p:cNvSpPr txBox="1"/>
          <p:nvPr/>
        </p:nvSpPr>
        <p:spPr>
          <a:xfrm>
            <a:off x="9544050" y="2819400"/>
            <a:ext cx="1943100" cy="21907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4213D"/>
                </a:solidFill>
              </a:rPr>
              <a:t>HSS NF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走 N70（Nhss_ims）</a:t>
            </a:r>
          </a:p>
          <a:p>
            <a:pPr marL="228600" indent="-228600">
              <a:spcAft>
                <a:spcPts val="6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SQN 原子遞增</a:t>
            </a:r>
          </a:p>
          <a:p>
            <a:pPr marL="228600" indent="-228600">
              <a:buChar char="•"/>
            </a:pPr>
            <a:r>
              <a:rPr sz="1400">
                <a:solidFill>
                  <a:srgbClr val="14213D"/>
                </a:solidFill>
              </a:rPr>
              <a:t>移除 PyHSS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E33687EC-BA80-46AB-BD3F-39D3620B64C1}"/>
              </a:ext>
            </a:extLst>
          </p:cNvPr>
          <p:cNvSpPr/>
          <p:nvPr/>
        </p:nvSpPr>
        <p:spPr>
          <a:xfrm>
            <a:off x="666750" y="5448300"/>
            <a:ext cx="10858500" cy="7239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l"/>
            <a:r>
              <a:rPr sz="1600">
                <a:solidFill>
                  <a:srgbClr val="14213D"/>
                </a:solidFill>
              </a:rPr>
              <a:t>   每個階段只換一個角色，其餘仍用 Kamailio：隨時能跑端到端，也順便驗證互通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77BA5B29-8185-4669-BA49-25FBDA312E8A}"/>
              </a:ext>
            </a:extLst>
          </p:cNvPr>
          <p:cNvSpPr/>
          <p:nvPr/>
        </p:nvSpPr>
        <p:spPr>
          <a:xfrm>
            <a:off x="8191500" y="0"/>
            <a:ext cx="4000500" cy="6858000"/>
          </a:xfrm>
          <a:prstGeom prst="rect">
            <a:avLst/>
          </a:prstGeom>
          <a:solidFill>
            <a:srgbClr val="0F4C8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1762249-E812-4621-9FB1-DC38F577D86B}"/>
              </a:ext>
            </a:extLst>
          </p:cNvPr>
          <p:cNvSpPr txBox="1"/>
          <p:nvPr/>
        </p:nvSpPr>
        <p:spPr>
          <a:xfrm>
            <a:off x="762000" y="762000"/>
            <a:ext cx="6667500" cy="8572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4800" b="1">
                <a:solidFill>
                  <a:srgbClr val="FFFFFF"/>
                </a:solidFill>
              </a:rPr>
              <a:t>下一步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B917D75-BC3B-482B-9D5A-3A94876C287D}"/>
              </a:ext>
            </a:extLst>
          </p:cNvPr>
          <p:cNvSpPr/>
          <p:nvPr/>
        </p:nvSpPr>
        <p:spPr>
          <a:xfrm>
            <a:off x="762000" y="21907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8ECBE0B-D207-4BD4-99AD-604A4E2D436D}"/>
              </a:ext>
            </a:extLst>
          </p:cNvPr>
          <p:cNvSpPr txBox="1"/>
          <p:nvPr/>
        </p:nvSpPr>
        <p:spPr>
          <a:xfrm>
            <a:off x="1524000" y="21907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跑一次端到端</a:t>
            </a:r>
          </a:p>
          <a:p>
            <a:r>
              <a:rPr sz="1500">
                <a:solidFill>
                  <a:srgbClr val="C9D3E0"/>
                </a:solidFill>
              </a:rPr>
              <a:t>scripts/01-up.sh → 03-call-test.sh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C22B9F7-93CE-4683-A2A3-00A1EF5EF6C6}"/>
              </a:ext>
            </a:extLst>
          </p:cNvPr>
          <p:cNvSpPr/>
          <p:nvPr/>
        </p:nvSpPr>
        <p:spPr>
          <a:xfrm>
            <a:off x="762000" y="3429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5B33438-6049-4F83-A468-C6462FE74285}"/>
              </a:ext>
            </a:extLst>
          </p:cNvPr>
          <p:cNvSpPr txBox="1"/>
          <p:nvPr/>
        </p:nvSpPr>
        <p:spPr>
          <a:xfrm>
            <a:off x="1524000" y="342900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決定重建範圍</a:t>
            </a:r>
          </a:p>
          <a:p>
            <a:r>
              <a:rPr sz="1500">
                <a:solidFill>
                  <a:srgbClr val="C9D3E0"/>
                </a:solidFill>
              </a:rPr>
              <a:t>只做 P-CSCF，或 Phase 1–4 全部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612A646-4FD9-4EFD-9A77-35ED2D99FA96}"/>
              </a:ext>
            </a:extLst>
          </p:cNvPr>
          <p:cNvSpPr/>
          <p:nvPr/>
        </p:nvSpPr>
        <p:spPr>
          <a:xfrm>
            <a:off x="762000" y="466725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CF38E41-241C-4AAD-B191-A19EB4E37A96}"/>
              </a:ext>
            </a:extLst>
          </p:cNvPr>
          <p:cNvSpPr txBox="1"/>
          <p:nvPr/>
        </p:nvSpPr>
        <p:spPr>
          <a:xfrm>
            <a:off x="1524000" y="4667250"/>
            <a:ext cx="6096000" cy="762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</a:rPr>
              <a:t>開始 Phase 0</a:t>
            </a:r>
          </a:p>
          <a:p>
            <a:r>
              <a:rPr sz="1500">
                <a:solidFill>
                  <a:srgbClr val="C9D3E0"/>
                </a:solidFill>
              </a:rPr>
              <a:t>端到端測試改用抓包判斷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8231722-7A55-471B-A302-24BB4AE106C6}"/>
              </a:ext>
            </a:extLst>
          </p:cNvPr>
          <p:cNvSpPr txBox="1"/>
          <p:nvPr/>
        </p:nvSpPr>
        <p:spPr>
          <a:xfrm>
            <a:off x="8572500" y="762000"/>
            <a:ext cx="323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參考資料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C138A3B-E9B4-4CF7-93FC-532BB674BBB6}"/>
              </a:ext>
            </a:extLst>
          </p:cNvPr>
          <p:cNvSpPr txBox="1"/>
          <p:nvPr/>
        </p:nvSpPr>
        <p:spPr>
          <a:xfrm>
            <a:off x="8572500" y="1333500"/>
            <a:ext cx="3238500" cy="4762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3GPP Rel-17（3gpp-r17/）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23.228  IMS 架構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24.229  IMS SIP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29.514  N5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TS 29.562  Nhss_ims</a:t>
            </a:r>
          </a:p>
          <a:p>
            <a:pPr>
              <a:spcAft>
                <a:spcPts val="1600"/>
              </a:spcAft>
            </a:pPr>
            <a:r>
              <a:rPr sz="1300">
                <a:solidFill>
                  <a:srgbClr val="C9D3E0"/>
                </a:solidFill>
              </a:rPr>
              <a:t>TS 33.203  IMS 安全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</a:rPr>
              <a:t>文件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vonr-ims-nf-plan.md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vonr-ims-dev-process.md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C9D3E0"/>
                </a:solidFill>
              </a:rPr>
              <a:t>note.md</a:t>
            </a:r>
          </a:p>
          <a:p>
            <a:r>
              <a:rPr sz="1300">
                <a:solidFill>
                  <a:srgbClr val="C9D3E0"/>
                </a:solidFill>
              </a:rPr>
              <a:t>kamailio-free5gc/docs/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3E92D533-2FE9-43C0-BC23-EC8A23989E2E}"/>
              </a:ext>
            </a:extLst>
          </p:cNvPr>
          <p:cNvSpPr/>
          <p:nvPr/>
        </p:nvSpPr>
        <p:spPr>
          <a:xfrm>
            <a:off x="6096000" y="571500"/>
            <a:ext cx="5524500" cy="571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FB75124E-6CF6-4966-9996-A6638A0441D9}"/>
              </a:ext>
            </a:extLst>
          </p:cNvPr>
          <p:cNvCxnSpPr/>
          <p:nvPr/>
        </p:nvCxnSpPr>
        <p:spPr>
          <a:xfrm>
            <a:off x="7239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cxnSp>
        <p:nvCxnSpPr>
          <p:cNvPr id="5" name="Straight Connector 5">
            <a:extLst>
              <a:ext uri="{FF2B5EF4-FFF2-40B4-BE49-F238E27FC236}">
                <a16:creationId xmlns:a16="http://schemas.microsoft.com/office/drawing/2014/main" id="{F1DADAA4-2728-40D7-B592-EA716A8E5B8F}"/>
              </a:ext>
            </a:extLst>
          </p:cNvPr>
          <p:cNvCxnSpPr/>
          <p:nvPr/>
        </p:nvCxnSpPr>
        <p:spPr>
          <a:xfrm>
            <a:off x="9525000" y="1295400"/>
            <a:ext cx="9525" cy="571500"/>
          </a:xfrm>
          <a:prstGeom prst="straightConnector1">
            <a:avLst/>
          </a:prstGeom>
          <a:ln w="19050" cap="flat">
            <a:solidFill>
              <a:srgbClr val="14213D"/>
            </a:solidFill>
            <a:tailEnd type="triangle" w="med" len="med"/>
          </a:ln>
        </p:spPr>
      </p:cxnSp>
      <p:sp>
        <p:nvSpPr>
          <p:cNvPr id="6" name="Shape 6">
            <a:extLst>
              <a:ext uri="{FF2B5EF4-FFF2-40B4-BE49-F238E27FC236}">
                <a16:creationId xmlns:a16="http://schemas.microsoft.com/office/drawing/2014/main" id="{C925F7DF-685F-4165-8FF9-BBBFC9F57C57}"/>
              </a:ext>
            </a:extLst>
          </p:cNvPr>
          <p:cNvSpPr/>
          <p:nvPr/>
        </p:nvSpPr>
        <p:spPr>
          <a:xfrm>
            <a:off x="8372475" y="24955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07B4D6F-7960-44A5-B92C-F88F69720271}"/>
              </a:ext>
            </a:extLst>
          </p:cNvPr>
          <p:cNvSpPr/>
          <p:nvPr/>
        </p:nvSpPr>
        <p:spPr>
          <a:xfrm>
            <a:off x="8372475" y="3448050"/>
            <a:ext cx="19050" cy="4762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546AE11-5605-45BD-8A88-6C27A693D8AA}"/>
              </a:ext>
            </a:extLst>
          </p:cNvPr>
          <p:cNvSpPr/>
          <p:nvPr/>
        </p:nvSpPr>
        <p:spPr>
          <a:xfrm>
            <a:off x="73247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155A33C-E23B-4077-A1C4-AE6CCEDEB41C}"/>
              </a:ext>
            </a:extLst>
          </p:cNvPr>
          <p:cNvSpPr/>
          <p:nvPr/>
        </p:nvSpPr>
        <p:spPr>
          <a:xfrm>
            <a:off x="9801225" y="4495800"/>
            <a:ext cx="19050" cy="666750"/>
          </a:xfrm>
          <a:prstGeom prst="rect">
            <a:avLst/>
          </a:prstGeom>
          <a:solidFill>
            <a:srgbClr val="14213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722C95C-A436-4A01-9DDE-D3F6A8CF9734}"/>
              </a:ext>
            </a:extLst>
          </p:cNvPr>
          <p:cNvSpPr/>
          <p:nvPr/>
        </p:nvSpPr>
        <p:spPr>
          <a:xfrm>
            <a:off x="6477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I-CSCF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340B176-5370-4047-B8EB-ED1736BEF201}"/>
              </a:ext>
            </a:extLst>
          </p:cNvPr>
          <p:cNvSpPr/>
          <p:nvPr/>
        </p:nvSpPr>
        <p:spPr>
          <a:xfrm>
            <a:off x="8763000" y="819150"/>
            <a:ext cx="1524000" cy="476250"/>
          </a:xfrm>
          <a:prstGeom prst="roundRect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S-CSCF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3339F69-8651-4C06-A587-0C4C946ECB2D}"/>
              </a:ext>
            </a:extLst>
          </p:cNvPr>
          <p:cNvSpPr txBox="1"/>
          <p:nvPr/>
        </p:nvSpPr>
        <p:spPr>
          <a:xfrm>
            <a:off x="7334250" y="1447800"/>
            <a:ext cx="2095500" cy="228600"/>
          </a:xfrm>
        </p:spPr>
        <p:txBody>
          <a:bodyPr wrap="square" rtlCol="0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14213D"/>
                </a:solidFill>
              </a:rPr>
              <a:t>Cx（Diameter, TCP 3868）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DDDED03-5B2F-470C-9F7A-1AAE5C7484EF}"/>
              </a:ext>
            </a:extLst>
          </p:cNvPr>
          <p:cNvSpPr/>
          <p:nvPr/>
        </p:nvSpPr>
        <p:spPr>
          <a:xfrm>
            <a:off x="6477000" y="1866900"/>
            <a:ext cx="3810000" cy="62865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pyhss-diameter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Cx 端點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FE821B4-A803-47A6-9DF6-69171D396DE9}"/>
              </a:ext>
            </a:extLst>
          </p:cNvPr>
          <p:cNvSpPr/>
          <p:nvPr/>
        </p:nvSpPr>
        <p:spPr>
          <a:xfrm>
            <a:off x="6477000" y="2971800"/>
            <a:ext cx="3810000" cy="476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B6575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300">
                <a:solidFill>
                  <a:srgbClr val="14213D"/>
                </a:solidFill>
              </a:rPr>
              <a:t>pyhss-redis：請求佇列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D6C09E1D-8BA7-4067-BAD1-25DD10DD56A7}"/>
              </a:ext>
            </a:extLst>
          </p:cNvPr>
          <p:cNvSpPr/>
          <p:nvPr/>
        </p:nvSpPr>
        <p:spPr>
          <a:xfrm>
            <a:off x="62865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pyhss-hss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算向量、查寫資料</a:t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0AD2D2C6-BA7D-48EB-A053-DCDC372AF03D}"/>
              </a:ext>
            </a:extLst>
          </p:cNvPr>
          <p:cNvSpPr/>
          <p:nvPr/>
        </p:nvSpPr>
        <p:spPr>
          <a:xfrm>
            <a:off x="8763000" y="3924300"/>
            <a:ext cx="2095500" cy="571500"/>
          </a:xfrm>
          <a:prstGeom prst="roundRect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pyhss-api  :8080</a:t>
            </a:r>
          </a:p>
          <a:p>
            <a:pPr algn="ctr"/>
            <a:r>
              <a:rPr sz="1200">
                <a:solidFill>
                  <a:srgbClr val="C9D3E0"/>
                </a:solidFill>
              </a:rPr>
              <a:t>REST 開戶（04 腳本）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48DA8072-8073-4BA3-857E-4C58F37B491B}"/>
              </a:ext>
            </a:extLst>
          </p:cNvPr>
          <p:cNvSpPr/>
          <p:nvPr/>
        </p:nvSpPr>
        <p:spPr>
          <a:xfrm>
            <a:off x="6477000" y="5162550"/>
            <a:ext cx="4191000" cy="8763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 lIns="0" tIns="0" rIns="0" bIns="0" anchor="ctr"/>
          <a:lstStyle/>
          <a:p>
            <a:pPr algn="ctr"/>
            <a:r>
              <a:rPr sz="1600" b="1">
                <a:solidFill>
                  <a:srgbClr val="0F4C81"/>
                </a:solidFill>
              </a:rPr>
              <a:t>SQLite 檔 hss.db</a:t>
            </a:r>
          </a:p>
          <a:p>
            <a:pPr algn="ctr"/>
            <a:r>
              <a:rPr sz="1200">
                <a:solidFill>
                  <a:srgbClr val="14213D"/>
                </a:solidFill>
              </a:rPr>
              <a:t>三個容器共用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4A2CAB26-2655-467A-AED6-2321F35FEFF3}"/>
              </a:ext>
            </a:extLst>
          </p:cNvPr>
          <p:cNvSpPr txBox="1"/>
          <p:nvPr/>
        </p:nvSpPr>
        <p:spPr>
          <a:xfrm>
            <a:off x="476250" y="533400"/>
            <a:ext cx="5334000" cy="5334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14213D"/>
                </a:solidFill>
              </a:rPr>
              <a:t>附錄 A：為什麼用 PyHSS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29660E3-7D7A-481D-B09F-A6DEC4656D49}"/>
              </a:ext>
            </a:extLst>
          </p:cNvPr>
          <p:cNvSpPr txBox="1"/>
          <p:nvPr/>
        </p:nvSpPr>
        <p:spPr>
          <a:xfrm>
            <a:off x="476250" y="1238250"/>
            <a:ext cx="5334000" cy="51435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rPr sz="1600" b="1">
                <a:solidFill>
                  <a:srgbClr val="E8742A"/>
                </a:solidFill>
              </a:rPr>
              <a:t>缺什麼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CSCF 只會用 Cx 查用戶，free5gc 沒有 HSS，需要另一個會講 Cx 的資料庫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E8742A"/>
                </a:solidFill>
              </a:rPr>
              <a:t>為什麼選 PyHSS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開源，支援 Cx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REST API 開戶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現成容器映像</a:t>
            </a:r>
          </a:p>
          <a:p>
            <a:pPr marL="228600" indent="-228600">
              <a:spcAft>
                <a:spcPts val="1200"/>
              </a:spcAft>
              <a:buChar char="•"/>
            </a:pPr>
            <a:r>
              <a:rPr sz="1400">
                <a:solidFill>
                  <a:srgbClr val="14213D"/>
                </a:solidFill>
              </a:rPr>
              <a:t>SQLite，免架資料庫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代價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14213D"/>
                </a:solidFill>
              </a:rPr>
              <a:t>用戶存兩份（UDR、PyHSS），SQN 各自計數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0F4C81"/>
                </a:solidFill>
              </a:rPr>
              <a:t>跟重建計畫的關係</a:t>
            </a:r>
          </a:p>
          <a:p>
            <a:r>
              <a:rPr sz="1400">
                <a:solidFill>
                  <a:srgbClr val="14213D"/>
                </a:solidFill>
              </a:rPr>
              <a:t>Phase 4 以走 N70 的獨立 HSS NF 取代右邊整塊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1F446293-FE7F-4994-8A97-77F3AC08F74A}"/>
              </a:ext>
            </a:extLst>
          </p:cNvPr>
          <p:cNvSpPr/>
          <p:nvPr/>
        </p:nvSpPr>
        <p:spPr>
          <a:xfrm>
            <a:off x="6667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UAR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給哪台 S-CSCF？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659B76-805B-491F-8277-1C9B8DCBF0AF}"/>
              </a:ext>
            </a:extLst>
          </p:cNvPr>
          <p:cNvSpPr/>
          <p:nvPr/>
        </p:nvSpPr>
        <p:spPr>
          <a:xfrm>
            <a:off x="34290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MAR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算向量、推進 SQN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69CEE09-EE8B-4950-8785-C90E695B6A05}"/>
              </a:ext>
            </a:extLst>
          </p:cNvPr>
          <p:cNvSpPr/>
          <p:nvPr/>
        </p:nvSpPr>
        <p:spPr>
          <a:xfrm>
            <a:off x="619125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SAR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登記 S-CSCF，回 profile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C48E751-4BEB-4EC3-B142-12F4E1BDD7A4}"/>
              </a:ext>
            </a:extLst>
          </p:cNvPr>
          <p:cNvSpPr/>
          <p:nvPr/>
        </p:nvSpPr>
        <p:spPr>
          <a:xfrm>
            <a:off x="8953500" y="1104900"/>
            <a:ext cx="2571750" cy="9525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E8742A"/>
                </a:solidFill>
              </a:rPr>
              <a:t>LIR</a:t>
            </a:r>
          </a:p>
          <a:p>
            <a:pPr algn="ctr"/>
            <a:r>
              <a:rPr sz="1200">
                <a:solidFill>
                  <a:srgbClr val="FFFFFF"/>
                </a:solidFill>
              </a:rPr>
              <a:t>被叫在哪台？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3D9B4CF-AE4A-4A9C-B32B-272016DC2B0C}"/>
              </a:ext>
            </a:extLst>
          </p:cNvPr>
          <p:cNvSpPr/>
          <p:nvPr/>
        </p:nvSpPr>
        <p:spPr>
          <a:xfrm>
            <a:off x="666750" y="24955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A7B3C20-B470-41B1-AF2C-587A3D81EE57}"/>
              </a:ext>
            </a:extLst>
          </p:cNvPr>
          <p:cNvSpPr/>
          <p:nvPr/>
        </p:nvSpPr>
        <p:spPr>
          <a:xfrm>
            <a:off x="6191250" y="2495550"/>
            <a:ext cx="5334000" cy="18097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CE83DF4-35C4-4EA4-916E-5C90173B3F31}"/>
              </a:ext>
            </a:extLst>
          </p:cNvPr>
          <p:cNvSpPr/>
          <p:nvPr/>
        </p:nvSpPr>
        <p:spPr>
          <a:xfrm>
            <a:off x="6667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91DBEBC-FC98-4557-A2FC-6E4A58DF8075}"/>
              </a:ext>
            </a:extLst>
          </p:cNvPr>
          <p:cNvSpPr/>
          <p:nvPr/>
        </p:nvSpPr>
        <p:spPr>
          <a:xfrm>
            <a:off x="6191250" y="4476750"/>
            <a:ext cx="5334000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E9361DF-1BD8-4657-A31F-B421DCB868EE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B：HSS 在做什麼、記了什麼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029740F-B8A4-43B0-953C-0F41C93429C7}"/>
              </a:ext>
            </a:extLst>
          </p:cNvPr>
          <p:cNvSpPr txBox="1"/>
          <p:nvPr/>
        </p:nvSpPr>
        <p:spPr>
          <a:xfrm>
            <a:off x="666750" y="2190750"/>
            <a:ext cx="10858500" cy="2476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400">
                <a:solidFill>
                  <a:srgbClr val="5B6575"/>
                </a:solidFill>
              </a:rPr>
              <a:t>上：四種 Cx 問題。下：開一個用戶要的四筆資料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BB1C102-6BDE-4EBE-94D6-C9E94A0F048E}"/>
              </a:ext>
            </a:extLst>
          </p:cNvPr>
          <p:cNvSpPr txBox="1"/>
          <p:nvPr/>
        </p:nvSpPr>
        <p:spPr>
          <a:xfrm>
            <a:off x="8953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APN</a:t>
            </a:r>
            <a:r>
              <a:rPr sz="1400">
                <a:solidFill>
                  <a:srgbClr val="5B6575"/>
                </a:solidFill>
              </a:rPr>
              <a:t>   資料網路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名稱 ims，給 SUBSCRIBER 引用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166D5CC-59FA-4044-917F-256AE9DD50C7}"/>
              </a:ext>
            </a:extLst>
          </p:cNvPr>
          <p:cNvSpPr txBox="1"/>
          <p:nvPr/>
        </p:nvSpPr>
        <p:spPr>
          <a:xfrm>
            <a:off x="6419850" y="26670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E8742A"/>
                </a:solidFill>
              </a:rPr>
              <a:t>AUC</a:t>
            </a:r>
            <a:r>
              <a:rPr sz="1400">
                <a:solidFill>
                  <a:srgbClr val="5B6575"/>
                </a:solidFill>
              </a:rPr>
              <a:t>   金鑰資料（最敏感）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K、OPc、AMF、SQN、演算法 milenage</a:t>
            </a:r>
          </a:p>
          <a:p>
            <a:r>
              <a:rPr sz="1300">
                <a:solidFill>
                  <a:srgbClr val="5B6575"/>
                </a:solidFill>
              </a:rPr>
              <a:t>外洩就能冒充 SIM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3237A3F-4991-45FB-969F-B22B3F25D586}"/>
              </a:ext>
            </a:extLst>
          </p:cNvPr>
          <p:cNvSpPr txBox="1"/>
          <p:nvPr/>
        </p:nvSpPr>
        <p:spPr>
          <a:xfrm>
            <a:off x="8953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SUBSCRIBER</a:t>
            </a:r>
            <a:r>
              <a:rPr sz="1400">
                <a:solidFill>
                  <a:srgbClr val="5B6575"/>
                </a:solidFill>
              </a:rPr>
              <a:t>   用戶主檔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IMSI ↔ AUC、MSISDN、啟用狀態</a:t>
            </a:r>
          </a:p>
          <a:p>
            <a:r>
              <a:rPr sz="1300">
                <a:solidFill>
                  <a:srgbClr val="5B6575"/>
                </a:solidFill>
              </a:rPr>
              <a:t>MAR 先查這筆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BCD4E349-2F94-4DB1-B011-FDDFF2F7F487}"/>
              </a:ext>
            </a:extLst>
          </p:cNvPr>
          <p:cNvSpPr txBox="1"/>
          <p:nvPr/>
        </p:nvSpPr>
        <p:spPr>
          <a:xfrm>
            <a:off x="6419850" y="4648200"/>
            <a:ext cx="4876800" cy="152400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0F4C81"/>
                </a:solidFill>
              </a:rPr>
              <a:t>IMS_SUBSCRIBER</a:t>
            </a:r>
            <a:r>
              <a:rPr sz="1400">
                <a:solidFill>
                  <a:srgbClr val="5B6575"/>
                </a:solidFill>
              </a:rPr>
              <a:t>   IMS 身分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4213D"/>
                </a:solidFill>
              </a:rPr>
              <a:t>IMPU 清單、realm、iFC 範本</a:t>
            </a:r>
          </a:p>
          <a:p>
            <a:r>
              <a:rPr sz="1300">
                <a:solidFill>
                  <a:srgbClr val="5B6575"/>
                </a:solidFill>
              </a:rPr>
              <a:t>記下目前的 S-CSCF，供 LIR 查詢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D8E984C2-5F6B-4F79-8BB3-0F3409E91206}"/>
              </a:ext>
            </a:extLst>
          </p:cNvPr>
          <p:cNvSpPr/>
          <p:nvPr/>
        </p:nvSpPr>
        <p:spPr>
          <a:xfrm>
            <a:off x="666750" y="1028700"/>
            <a:ext cx="10858500" cy="49530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/>
            <a:r>
              <a:rPr sz="1400" b="1">
                <a:solidFill>
                  <a:srgbClr val="E8742A"/>
                </a:solidFill>
              </a:rPr>
              <a:t>   UE 唯一入口（Gm）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C414FB1E-CA87-4F9C-AC87-48E6EE37548D}"/>
              </a:ext>
            </a:extLst>
          </p:cNvPr>
          <p:cNvSpPr/>
          <p:nvPr/>
        </p:nvSpPr>
        <p:spPr>
          <a:xfrm>
            <a:off x="666750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E8FE7AD-1F5F-483E-AB18-F2DE8D677721}"/>
              </a:ext>
            </a:extLst>
          </p:cNvPr>
          <p:cNvSpPr/>
          <p:nvPr/>
        </p:nvSpPr>
        <p:spPr>
          <a:xfrm>
            <a:off x="6238875" y="1695450"/>
            <a:ext cx="5286375" cy="3619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DEBFC61-70A8-4718-B12F-7935E32C4363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C：P-CSCF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5FE4B13-B0A0-4627-9104-9BDD192DE303}"/>
              </a:ext>
            </a:extLst>
          </p:cNvPr>
          <p:cNvSpPr txBox="1"/>
          <p:nvPr/>
        </p:nvSpPr>
        <p:spPr>
          <a:xfrm>
            <a:off x="914400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0F4C81"/>
                </a:solidFill>
              </a:rPr>
              <a:t>註冊時（REGISTER）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Path：來電會先經過我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加 P-Visited-Network-ID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不認證，一律轉 I-CSCF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200 OK 才記下 IMPU ↔ contact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552FB80-ABBD-49F9-8D90-E6762C446581}"/>
              </a:ext>
            </a:extLst>
          </p:cNvPr>
          <p:cNvSpPr txBox="1"/>
          <p:nvPr/>
        </p:nvSpPr>
        <p:spPr>
          <a:xfrm>
            <a:off x="6486525" y="1885950"/>
            <a:ext cx="4810125" cy="3286125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E8742A"/>
                </a:solidFill>
              </a:rPr>
              <a:t>通話時（INVITE）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依來源 IP 判斷主叫／被叫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Record-Route，讓 BYE 也經過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200 OK 時帶兩份 SDP 經 shim 要 QoS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BYE 時釋放；兩個 leg 各一次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要不到 QoS 也不擋通話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84515E0-9C8C-4D68-85B6-6421A32E173A}"/>
              </a:ext>
            </a:extLst>
          </p:cNvPr>
          <p:cNvSpPr/>
          <p:nvPr/>
        </p:nvSpPr>
        <p:spPr>
          <a:xfrm>
            <a:off x="666750" y="5486400"/>
            <a:ext cx="10858500" cy="914400"/>
          </a:xfrm>
          <a:prstGeom prst="roundRect">
            <a:avLst/>
          </a:prstGeom>
          <a:solidFill>
            <a:srgbClr val="0B1B2E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為什麼需要 AF shim：</a:t>
            </a:r>
            <a:r>
              <a:rPr sz="1400">
                <a:solidFill>
                  <a:srgbClr val="FFFFFF"/>
                </a:solidFill>
              </a:rPr>
              <a:t>PCF 只開 h2c，Kamailio 的 http_client 講不了；</a:t>
            </a:r>
          </a:p>
          <a:p>
            <a:pPr algn="l"/>
            <a:r>
              <a:rPr sz="1400">
                <a:solidFill>
                  <a:srgbClr val="FFFFFF"/>
                </a:solidFill>
              </a:rPr>
              <a:t>   而且是同步呼叫，最多卡住 worker 2 秒。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CAED942-CD1A-47C1-8BFB-0BCB45030F90}"/>
              </a:ext>
            </a:extLst>
          </p:cNvPr>
          <p:cNvSpPr/>
          <p:nvPr/>
        </p:nvSpPr>
        <p:spPr>
          <a:xfrm>
            <a:off x="66675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E2BD231-ECAA-45AA-B3E1-E41EDDDBFE27}"/>
              </a:ext>
            </a:extLst>
          </p:cNvPr>
          <p:cNvSpPr/>
          <p:nvPr/>
        </p:nvSpPr>
        <p:spPr>
          <a:xfrm>
            <a:off x="4381500" y="1619250"/>
            <a:ext cx="34290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5D654E1-9840-4767-837A-D0EAC1239012}"/>
              </a:ext>
            </a:extLst>
          </p:cNvPr>
          <p:cNvSpPr/>
          <p:nvPr/>
        </p:nvSpPr>
        <p:spPr>
          <a:xfrm>
            <a:off x="8096250" y="1619250"/>
            <a:ext cx="3429000" cy="371475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E659187-B632-4FC2-BCD1-97EC5D53DD4D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D：I-CSCF 在做什麼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1E071BE-FD42-48A6-9907-EB93E004FB0C}"/>
              </a:ext>
            </a:extLst>
          </p:cNvPr>
          <p:cNvSpPr txBox="1"/>
          <p:nvPr/>
        </p:nvSpPr>
        <p:spPr>
          <a:xfrm>
            <a:off x="666750" y="1047750"/>
            <a:ext cx="10858500" cy="3810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900">
                <a:solidFill>
                  <a:srgbClr val="5B6575"/>
                </a:solidFill>
              </a:rPr>
              <a:t>只回答：這人該交給哪台 S-CSCF？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0BA8A7F2-C874-47C9-A2D0-ECB8B5BFC21C}"/>
              </a:ext>
            </a:extLst>
          </p:cNvPr>
          <p:cNvSpPr txBox="1"/>
          <p:nvPr/>
        </p:nvSpPr>
        <p:spPr>
          <a:xfrm>
            <a:off x="9144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UAR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 REGISTER 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由哪台 S-CSCF 服務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選一台後轉送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401 後保留，第二次不再 UAR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E7294B1-26B6-40A3-AAC1-5AC466CCEDAE}"/>
              </a:ext>
            </a:extLst>
          </p:cNvPr>
          <p:cNvSpPr txBox="1"/>
          <p:nvPr/>
        </p:nvSpPr>
        <p:spPr>
          <a:xfrm>
            <a:off x="462915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E8742A"/>
                </a:solidFill>
              </a:rPr>
              <a:t>LIR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收到來電（INVITE）時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問 HSS 被叫在哪台 S-CSCF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設為下一跳轉送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CB841C3E-C232-4F6D-9803-9958B3B4D86C}"/>
              </a:ext>
            </a:extLst>
          </p:cNvPr>
          <p:cNvSpPr txBox="1"/>
          <p:nvPr/>
        </p:nvSpPr>
        <p:spPr>
          <a:xfrm>
            <a:off x="8343900" y="1828800"/>
            <a:ext cx="2933700" cy="33337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000" b="1">
                <a:solidFill>
                  <a:srgbClr val="0F4C81"/>
                </a:solidFill>
              </a:rPr>
              <a:t>不存狀態</a:t>
            </a:r>
          </a:p>
          <a:p>
            <a:pPr>
              <a:spcAft>
                <a:spcPts val="1200"/>
              </a:spcAft>
            </a:pPr>
            <a:r>
              <a:rPr sz="1900" b="1">
                <a:solidFill>
                  <a:srgbClr val="14213D"/>
                </a:solidFill>
              </a:rPr>
              <a:t>角色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700">
                <a:solidFill>
                  <a:srgbClr val="14213D"/>
                </a:solidFill>
              </a:rPr>
              <a:t>答案全來自 HSS</a:t>
            </a:r>
          </a:p>
          <a:p>
            <a:pPr marL="228600" indent="-228600">
              <a:buChar char="•"/>
            </a:pPr>
            <a:r>
              <a:rPr sz="1700">
                <a:solidFill>
                  <a:srgbClr val="14213D"/>
                </a:solidFill>
              </a:rPr>
              <a:t>多台 S-CSCF 時負責分流、隱藏拓撲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4B37D3B9-6EAF-4DCF-B4C1-2574D1CB5688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跟標準的差異：</a:t>
            </a:r>
            <a:r>
              <a:rPr sz="1400">
                <a:solidFill>
                  <a:srgbClr val="14213D"/>
                </a:solidFill>
              </a:rPr>
              <a:t>主叫 INVITE 直送 I-CSCF；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標準是先依 Service-Route 到主叫的 S-CSCF。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AA0638F-7615-4166-B3F9-BF2F90BC908E}"/>
              </a:ext>
            </a:extLst>
          </p:cNvPr>
          <p:cNvSpPr/>
          <p:nvPr/>
        </p:nvSpPr>
        <p:spPr>
          <a:xfrm>
            <a:off x="1905000" y="1771650"/>
            <a:ext cx="8382000" cy="38100"/>
          </a:xfrm>
          <a:prstGeom prst="rect">
            <a:avLst/>
          </a:prstGeom>
          <a:solidFill>
            <a:srgbClr val="D5DAE1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2F70295-C6C1-4722-94B8-DAFEF25905A1}"/>
              </a:ext>
            </a:extLst>
          </p:cNvPr>
          <p:cNvSpPr/>
          <p:nvPr/>
        </p:nvSpPr>
        <p:spPr>
          <a:xfrm>
            <a:off x="16383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8DDB8C9-CE40-4C7B-828D-2459F4E30DC9}"/>
              </a:ext>
            </a:extLst>
          </p:cNvPr>
          <p:cNvSpPr/>
          <p:nvPr/>
        </p:nvSpPr>
        <p:spPr>
          <a:xfrm>
            <a:off x="440055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1DD59661-D9A0-4301-9D55-03219E5444E8}"/>
              </a:ext>
            </a:extLst>
          </p:cNvPr>
          <p:cNvSpPr/>
          <p:nvPr/>
        </p:nvSpPr>
        <p:spPr>
          <a:xfrm>
            <a:off x="7162800" y="1524000"/>
            <a:ext cx="533400" cy="533400"/>
          </a:xfrm>
          <a:prstGeom prst="ellipse">
            <a:avLst/>
          </a:prstGeom>
          <a:solidFill>
            <a:srgbClr val="E8742A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7774AE1F-A807-4FC4-9BC7-C58E1DB1558A}"/>
              </a:ext>
            </a:extLst>
          </p:cNvPr>
          <p:cNvSpPr/>
          <p:nvPr/>
        </p:nvSpPr>
        <p:spPr>
          <a:xfrm>
            <a:off x="9925050" y="1524000"/>
            <a:ext cx="533400" cy="533400"/>
          </a:xfrm>
          <a:prstGeom prst="ellipse">
            <a:avLst/>
          </a:prstGeom>
          <a:solidFill>
            <a:srgbClr val="0F4C81"/>
          </a:solidFill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5F991EB2-9B3D-4674-A538-BF0FC6418FBD}"/>
              </a:ext>
            </a:extLst>
          </p:cNvPr>
          <p:cNvSpPr/>
          <p:nvPr/>
        </p:nvSpPr>
        <p:spPr>
          <a:xfrm>
            <a:off x="6667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B6EAB6C-0D89-4F83-B3D7-44C9C4B4D582}"/>
              </a:ext>
            </a:extLst>
          </p:cNvPr>
          <p:cNvSpPr/>
          <p:nvPr/>
        </p:nvSpPr>
        <p:spPr>
          <a:xfrm>
            <a:off x="342900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EDA287B-DB70-4B17-B484-FACB5A43BFBA}"/>
              </a:ext>
            </a:extLst>
          </p:cNvPr>
          <p:cNvSpPr/>
          <p:nvPr/>
        </p:nvSpPr>
        <p:spPr>
          <a:xfrm>
            <a:off x="6191250" y="2247900"/>
            <a:ext cx="247650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9A9CF94-C69D-47F9-9119-C59051FAE145}"/>
              </a:ext>
            </a:extLst>
          </p:cNvPr>
          <p:cNvSpPr/>
          <p:nvPr/>
        </p:nvSpPr>
        <p:spPr>
          <a:xfrm>
            <a:off x="8953500" y="2247900"/>
            <a:ext cx="2571750" cy="3048000"/>
          </a:xfrm>
          <a:prstGeom prst="roundRect">
            <a:avLst/>
          </a:prstGeom>
          <a:solidFill>
            <a:srgbClr val="E3ECF6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BEE6036-1FAA-42BD-B9EF-4C65AE9243F2}"/>
              </a:ext>
            </a:extLst>
          </p:cNvPr>
          <p:cNvSpPr txBox="1"/>
          <p:nvPr/>
        </p:nvSpPr>
        <p:spPr>
          <a:xfrm>
            <a:off x="666750" y="381000"/>
            <a:ext cx="10858500" cy="57150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3400" b="1">
                <a:solidFill>
                  <a:srgbClr val="14213D"/>
                </a:solidFill>
              </a:rPr>
              <a:t>附錄 E：S-CSCF 在做什麼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30B368F-07FD-418C-923E-221C092CE4F8}"/>
              </a:ext>
            </a:extLst>
          </p:cNvPr>
          <p:cNvSpPr txBox="1"/>
          <p:nvPr/>
        </p:nvSpPr>
        <p:spPr>
          <a:xfrm>
            <a:off x="666750" y="1009650"/>
            <a:ext cx="10858500" cy="323850"/>
          </a:xfrm>
        </p:spPr>
        <p:txBody>
          <a:bodyPr wrap="square" rtlCol="0" lIns="0" tIns="0" rIns="0" bIns="0" anchor="t">
            <a:spAutoFit/>
          </a:bodyPr>
          <a:lstStyle/>
          <a:p>
            <a:r>
              <a:rPr sz="1800">
                <a:solidFill>
                  <a:srgbClr val="5B6575"/>
                </a:solidFill>
              </a:rPr>
              <a:t>認證、註冊、路由都在這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196C746-42B6-4D8A-963D-1703BAD947BF}"/>
              </a:ext>
            </a:extLst>
          </p:cNvPr>
          <p:cNvSpPr txBox="1"/>
          <p:nvPr/>
        </p:nvSpPr>
        <p:spPr>
          <a:xfrm>
            <a:off x="8763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出題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第一次 REGISTER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MAR 拿認證向量</a:t>
            </a:r>
          </a:p>
          <a:p>
            <a:r>
              <a:rPr sz="1600">
                <a:solidFill>
                  <a:srgbClr val="14213D"/>
                </a:solidFill>
              </a:rPr>
              <a:t>回 401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741B9FA-7654-4BCD-94E1-57CFBC495CCE}"/>
              </a:ext>
            </a:extLst>
          </p:cNvPr>
          <p:cNvSpPr txBox="1"/>
          <p:nvPr/>
        </p:nvSpPr>
        <p:spPr>
          <a:xfrm>
            <a:off x="363855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驗答案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比對 RES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答錯回 403</a:t>
            </a:r>
          </a:p>
          <a:p>
            <a:r>
              <a:rPr sz="1600">
                <a:solidFill>
                  <a:srgbClr val="14213D"/>
                </a:solidFill>
              </a:rPr>
              <a:t>收到 AUTS 就重新同步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4964D14E-AD58-4968-8652-FE815C12F3BE}"/>
              </a:ext>
            </a:extLst>
          </p:cNvPr>
          <p:cNvSpPr txBox="1"/>
          <p:nvPr/>
        </p:nvSpPr>
        <p:spPr>
          <a:xfrm>
            <a:off x="6400800" y="2438400"/>
            <a:ext cx="205740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E8742A"/>
                </a:solidFill>
              </a:rPr>
              <a:t>登記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SAR 告訴 HSS「我服務他」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存 IMPU ↔ contact、Path、profile</a:t>
            </a:r>
          </a:p>
          <a:p>
            <a:r>
              <a:rPr sz="1600" b="1">
                <a:solidFill>
                  <a:srgbClr val="14213D"/>
                </a:solidFill>
              </a:rPr>
              <a:t>只在記憶體，重啟要重新註冊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BD70E85-AB0B-4C7B-A6CC-550C761443CA}"/>
              </a:ext>
            </a:extLst>
          </p:cNvPr>
          <p:cNvSpPr txBox="1"/>
          <p:nvPr/>
        </p:nvSpPr>
        <p:spPr>
          <a:xfrm>
            <a:off x="9163050" y="2438400"/>
            <a:ext cx="2152650" cy="2762250"/>
          </a:xfrm>
        </p:spPr>
        <p:txBody>
          <a:bodyPr wrap="square" rtlCol="0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F4C81"/>
                </a:solidFill>
              </a:rPr>
              <a:t>路由來電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移除 I-CSCF 加的 Route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4213D"/>
                </a:solidFill>
              </a:rPr>
              <a:t>IMPU → 註冊時的 contact</a:t>
            </a:r>
          </a:p>
          <a:p>
            <a:r>
              <a:rPr sz="1600">
                <a:solidFill>
                  <a:srgbClr val="14213D"/>
                </a:solidFill>
              </a:rPr>
              <a:t>沿 Path 送回被叫的 P-CSCF</a:t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12678A0-6DC7-4F8E-8F75-6C8E432E8E72}"/>
              </a:ext>
            </a:extLst>
          </p:cNvPr>
          <p:cNvSpPr/>
          <p:nvPr/>
        </p:nvSpPr>
        <p:spPr>
          <a:xfrm>
            <a:off x="666750" y="5524500"/>
            <a:ext cx="10858500" cy="857250"/>
          </a:xfrm>
          <a:prstGeom prst="roundRect">
            <a:avLst/>
          </a:prstGeom>
          <a:solidFill>
            <a:srgbClr val="FCEBDD"/>
          </a:solidFill>
        </p:spPr>
        <p:txBody>
          <a:bodyPr wrap="square" rtlCol="0" lIns="0" tIns="0" rIns="0" bIns="0" anchor="ctr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8742A"/>
                </a:solidFill>
              </a:rPr>
              <a:t>   標準 S-CSCF 還會：</a:t>
            </a:r>
            <a:r>
              <a:rPr sz="1400">
                <a:solidFill>
                  <a:srgbClr val="14213D"/>
                </a:solidFill>
              </a:rPr>
              <a:t>依 iFC 經 ISC 把請求交給 AS（如 TAS）。</a:t>
            </a:r>
          </a:p>
          <a:p>
            <a:pPr algn="l"/>
            <a:r>
              <a:rPr sz="1400">
                <a:solidFill>
                  <a:srgbClr val="14213D"/>
                </a:solidFill>
              </a:rPr>
              <a:t>   本專案沒有 AS。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583DA19-B47C-4C46-9940-C22EF0465641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第一幕｜先報到，電話才找得到我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9BC5E35-8965-494A-BA84-C14085304084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小明已連上 5G、取得 ims PDU session；現在向「電話公司的總機」報到。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713711A-291D-4247-9A15-C9C00DD9D664}"/>
              </a:ext>
            </a:extLst>
          </p:cNvPr>
          <p:cNvSpPr/>
          <p:nvPr/>
        </p:nvSpPr>
        <p:spPr>
          <a:xfrm>
            <a:off x="457200" y="1562100"/>
            <a:ext cx="127635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我想用電話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3624F525-0026-45A8-B88B-3ED85EA0D57B}"/>
              </a:ext>
            </a:extLst>
          </p:cNvPr>
          <p:cNvCxnSpPr/>
          <p:nvPr/>
        </p:nvCxnSpPr>
        <p:spPr>
          <a:xfrm>
            <a:off x="109537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8E5FA64C-CCF8-495D-99BD-FC614F1EDE4C}"/>
              </a:ext>
            </a:extLst>
          </p:cNvPr>
          <p:cNvSpPr/>
          <p:nvPr/>
        </p:nvSpPr>
        <p:spPr>
          <a:xfrm>
            <a:off x="221932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門口接待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F136EA3-2B5D-4316-9416-94A615437777}"/>
              </a:ext>
            </a:extLst>
          </p:cNvPr>
          <p:cNvCxnSpPr/>
          <p:nvPr/>
        </p:nvCxnSpPr>
        <p:spPr>
          <a:xfrm>
            <a:off x="2857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30233BA3-B58C-463E-93B3-EBD2565BABCD}"/>
              </a:ext>
            </a:extLst>
          </p:cNvPr>
          <p:cNvSpPr/>
          <p:nvPr/>
        </p:nvSpPr>
        <p:spPr>
          <a:xfrm>
            <a:off x="3981450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D4EE21CE-A4C9-4D84-B9A5-C2B7055177FB}"/>
              </a:ext>
            </a:extLst>
          </p:cNvPr>
          <p:cNvCxnSpPr/>
          <p:nvPr/>
        </p:nvCxnSpPr>
        <p:spPr>
          <a:xfrm>
            <a:off x="461962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F69C3413-5724-4102-8ECB-DAB2FD3D15F1}"/>
              </a:ext>
            </a:extLst>
          </p:cNvPr>
          <p:cNvSpPr/>
          <p:nvPr/>
        </p:nvSpPr>
        <p:spPr>
          <a:xfrm>
            <a:off x="5743575" y="1562100"/>
            <a:ext cx="127635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專屬承辦人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7B80AC1F-8990-4934-9608-581A0E63CC65}"/>
              </a:ext>
            </a:extLst>
          </p:cNvPr>
          <p:cNvCxnSpPr/>
          <p:nvPr/>
        </p:nvCxnSpPr>
        <p:spPr>
          <a:xfrm>
            <a:off x="638175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0DB89B97-E3F0-4463-A12F-3232FA5DF136}"/>
              </a:ext>
            </a:extLst>
          </p:cNvPr>
          <p:cNvSpPr/>
          <p:nvPr/>
        </p:nvSpPr>
        <p:spPr>
          <a:xfrm>
            <a:off x="7505700" y="1562100"/>
            <a:ext cx="127635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客戶資料室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EAF900F3-E95F-4128-8FFE-0A8B28462B77}"/>
              </a:ext>
            </a:extLst>
          </p:cNvPr>
          <p:cNvCxnSpPr/>
          <p:nvPr/>
        </p:nvCxnSpPr>
        <p:spPr>
          <a:xfrm>
            <a:off x="8143875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TextBox 15">
            <a:extLst>
              <a:ext uri="{FF2B5EF4-FFF2-40B4-BE49-F238E27FC236}">
                <a16:creationId xmlns:a16="http://schemas.microsoft.com/office/drawing/2014/main" id="{119DB6D8-50D8-49D5-A27A-45314005CDA3}"/>
              </a:ext>
            </a:extLst>
          </p:cNvPr>
          <p:cNvSpPr txBox="1"/>
          <p:nvPr/>
        </p:nvSpPr>
        <p:spPr>
          <a:xfrm>
            <a:off x="9201150" y="1724025"/>
            <a:ext cx="2524125" cy="4000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1">
                <a:solidFill>
                  <a:srgbClr val="5B6575"/>
                </a:solidFill>
                <a:latin typeface="Noto Sans CJK TC"/>
                <a:ea typeface="Noto Sans CJK TC"/>
              </a:rPr>
              <a:t>角色對白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46FDDB6-DD6E-4D05-8D64-BC4598A4370A}"/>
              </a:ext>
            </a:extLst>
          </p:cNvPr>
          <p:cNvCxnSpPr/>
          <p:nvPr/>
        </p:nvCxnSpPr>
        <p:spPr>
          <a:xfrm>
            <a:off x="1095375" y="2781300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7" name="TextBox 17">
            <a:extLst>
              <a:ext uri="{FF2B5EF4-FFF2-40B4-BE49-F238E27FC236}">
                <a16:creationId xmlns:a16="http://schemas.microsoft.com/office/drawing/2014/main" id="{1A4D5F41-579A-4881-80A8-33AD415C831E}"/>
              </a:ext>
            </a:extLst>
          </p:cNvPr>
          <p:cNvSpPr txBox="1"/>
          <p:nvPr/>
        </p:nvSpPr>
        <p:spPr>
          <a:xfrm>
            <a:off x="1209675" y="2514600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22A65515-FCF1-46B1-8C88-B691D971C11D}"/>
              </a:ext>
            </a:extLst>
          </p:cNvPr>
          <p:cNvSpPr txBox="1"/>
          <p:nvPr/>
        </p:nvSpPr>
        <p:spPr>
          <a:xfrm>
            <a:off x="9153525" y="25146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小明：我要報到。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接待加 Path，再交給總機。</a:t>
            </a:r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33C8D71C-9B8C-42EF-81FD-8FC15A98C322}"/>
              </a:ext>
            </a:extLst>
          </p:cNvPr>
          <p:cNvSpPr/>
          <p:nvPr/>
        </p:nvSpPr>
        <p:spPr>
          <a:xfrm>
            <a:off x="1047750" y="27336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3BD46CDD-46B7-4500-A394-324AFD190BFD}"/>
              </a:ext>
            </a:extLst>
          </p:cNvPr>
          <p:cNvCxnSpPr/>
          <p:nvPr/>
        </p:nvCxnSpPr>
        <p:spPr>
          <a:xfrm>
            <a:off x="4619625" y="3267075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4AD9350F-00DC-405D-ACA3-2043D693E66C}"/>
              </a:ext>
            </a:extLst>
          </p:cNvPr>
          <p:cNvCxnSpPr/>
          <p:nvPr/>
        </p:nvCxnSpPr>
        <p:spPr>
          <a:xfrm flipH="1">
            <a:off x="4619625" y="3324225"/>
            <a:ext cx="3524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2" name="TextBox 22">
            <a:extLst>
              <a:ext uri="{FF2B5EF4-FFF2-40B4-BE49-F238E27FC236}">
                <a16:creationId xmlns:a16="http://schemas.microsoft.com/office/drawing/2014/main" id="{B08F9ACE-25A1-44AC-995A-1A8A0A684A11}"/>
              </a:ext>
            </a:extLst>
          </p:cNvPr>
          <p:cNvSpPr txBox="1"/>
          <p:nvPr/>
        </p:nvSpPr>
        <p:spPr>
          <a:xfrm>
            <a:off x="4733925" y="3000375"/>
            <a:ext cx="33528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UAR / UAA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8D2F861-7BD6-4CB0-8DC2-A32A9D5248E6}"/>
              </a:ext>
            </a:extLst>
          </p:cNvPr>
          <p:cNvSpPr txBox="1"/>
          <p:nvPr/>
        </p:nvSpPr>
        <p:spPr>
          <a:xfrm>
            <a:off x="9153525" y="30003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總機：找哪位承辦人？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查完 HSS，轉送 REGISTER。</a:t>
            </a:r>
          </a:p>
        </p:txBody>
      </p:sp>
      <p:sp>
        <p:nvSpPr>
          <p:cNvPr id="24" name="Shape 24">
            <a:extLst>
              <a:ext uri="{FF2B5EF4-FFF2-40B4-BE49-F238E27FC236}">
                <a16:creationId xmlns:a16="http://schemas.microsoft.com/office/drawing/2014/main" id="{33BFDF88-C058-4B04-8B1D-DE276D8CD716}"/>
              </a:ext>
            </a:extLst>
          </p:cNvPr>
          <p:cNvSpPr/>
          <p:nvPr/>
        </p:nvSpPr>
        <p:spPr>
          <a:xfrm>
            <a:off x="4572000" y="321945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5D3F3620-D7D3-4D20-9D38-B54178C6CB3D}"/>
              </a:ext>
            </a:extLst>
          </p:cNvPr>
          <p:cNvCxnSpPr/>
          <p:nvPr/>
        </p:nvCxnSpPr>
        <p:spPr>
          <a:xfrm>
            <a:off x="6381750" y="3752850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6" name="Straight Connector 26">
            <a:extLst>
              <a:ext uri="{FF2B5EF4-FFF2-40B4-BE49-F238E27FC236}">
                <a16:creationId xmlns:a16="http://schemas.microsoft.com/office/drawing/2014/main" id="{634E1307-3BFD-401B-A8F4-D04068ECEE05}"/>
              </a:ext>
            </a:extLst>
          </p:cNvPr>
          <p:cNvCxnSpPr/>
          <p:nvPr/>
        </p:nvCxnSpPr>
        <p:spPr>
          <a:xfrm flipH="1">
            <a:off x="6381750" y="3810000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7" name="TextBox 27">
            <a:extLst>
              <a:ext uri="{FF2B5EF4-FFF2-40B4-BE49-F238E27FC236}">
                <a16:creationId xmlns:a16="http://schemas.microsoft.com/office/drawing/2014/main" id="{6DD38D5B-1BD0-465B-AE38-62710386F82E}"/>
              </a:ext>
            </a:extLst>
          </p:cNvPr>
          <p:cNvSpPr txBox="1"/>
          <p:nvPr/>
        </p:nvSpPr>
        <p:spPr>
          <a:xfrm>
            <a:off x="6496050" y="3486150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MAR / MAA</a:t>
            </a: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A291BAF9-B757-4943-9894-47FEC36C07D0}"/>
              </a:ext>
            </a:extLst>
          </p:cNvPr>
          <p:cNvSpPr txBox="1"/>
          <p:nvPr/>
        </p:nvSpPr>
        <p:spPr>
          <a:xfrm>
            <a:off x="9153525" y="34861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承辦人：請給認證向量。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HSS 產生題目與驗證資料。</a:t>
            </a:r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2AA85333-7DE3-4B64-B419-B27F29432F4A}"/>
              </a:ext>
            </a:extLst>
          </p:cNvPr>
          <p:cNvSpPr/>
          <p:nvPr/>
        </p:nvSpPr>
        <p:spPr>
          <a:xfrm>
            <a:off x="6334125" y="370522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0" name="Straight Connector 30">
            <a:extLst>
              <a:ext uri="{FF2B5EF4-FFF2-40B4-BE49-F238E27FC236}">
                <a16:creationId xmlns:a16="http://schemas.microsoft.com/office/drawing/2014/main" id="{C4A5300C-624F-40DD-852E-89845755C22E}"/>
              </a:ext>
            </a:extLst>
          </p:cNvPr>
          <p:cNvCxnSpPr/>
          <p:nvPr/>
        </p:nvCxnSpPr>
        <p:spPr>
          <a:xfrm flipH="1">
            <a:off x="1095375" y="4238625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1" name="TextBox 31">
            <a:extLst>
              <a:ext uri="{FF2B5EF4-FFF2-40B4-BE49-F238E27FC236}">
                <a16:creationId xmlns:a16="http://schemas.microsoft.com/office/drawing/2014/main" id="{7AEAEDC9-D9DA-4EB1-8F2D-5CDFE308F526}"/>
              </a:ext>
            </a:extLst>
          </p:cNvPr>
          <p:cNvSpPr txBox="1"/>
          <p:nvPr/>
        </p:nvSpPr>
        <p:spPr>
          <a:xfrm>
            <a:off x="1209675" y="3971925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401：RAND + AUTN</a:t>
            </a: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B5AE750-245A-4C85-8D2F-C3D0CD1155F4}"/>
              </a:ext>
            </a:extLst>
          </p:cNvPr>
          <p:cNvSpPr txBox="1"/>
          <p:nvPr/>
        </p:nvSpPr>
        <p:spPr>
          <a:xfrm>
            <a:off x="9153525" y="397192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承辦人：先證明你是你。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小明的 SIM 也驗證網路。</a:t>
            </a:r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E5C42E9C-B3FE-4B14-A038-453E11A4D6B9}"/>
              </a:ext>
            </a:extLst>
          </p:cNvPr>
          <p:cNvSpPr/>
          <p:nvPr/>
        </p:nvSpPr>
        <p:spPr>
          <a:xfrm>
            <a:off x="6334125" y="419100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4" name="Straight Connector 34">
            <a:extLst>
              <a:ext uri="{FF2B5EF4-FFF2-40B4-BE49-F238E27FC236}">
                <a16:creationId xmlns:a16="http://schemas.microsoft.com/office/drawing/2014/main" id="{74E91118-920C-409F-BCA5-2BFBC0FF869C}"/>
              </a:ext>
            </a:extLst>
          </p:cNvPr>
          <p:cNvCxnSpPr/>
          <p:nvPr/>
        </p:nvCxnSpPr>
        <p:spPr>
          <a:xfrm>
            <a:off x="1095375" y="4724400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5" name="TextBox 35">
            <a:extLst>
              <a:ext uri="{FF2B5EF4-FFF2-40B4-BE49-F238E27FC236}">
                <a16:creationId xmlns:a16="http://schemas.microsoft.com/office/drawing/2014/main" id="{30316B66-A4A1-41C0-BF44-355B7EDC2CC8}"/>
              </a:ext>
            </a:extLst>
          </p:cNvPr>
          <p:cNvSpPr txBox="1"/>
          <p:nvPr/>
        </p:nvSpPr>
        <p:spPr>
          <a:xfrm>
            <a:off x="1209675" y="445770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REGISTER + Authorization</a:t>
            </a:r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C78A9BD0-A368-488B-BBF4-8A8DF8EA2E68}"/>
              </a:ext>
            </a:extLst>
          </p:cNvPr>
          <p:cNvSpPr txBox="1"/>
          <p:nvPr/>
        </p:nvSpPr>
        <p:spPr>
          <a:xfrm>
            <a:off x="9153525" y="44577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小明：這是我的回答。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SIM 算 RES，再產生 Digest。</a:t>
            </a:r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52678E2E-975C-4F16-8804-43469AF928CC}"/>
              </a:ext>
            </a:extLst>
          </p:cNvPr>
          <p:cNvSpPr/>
          <p:nvPr/>
        </p:nvSpPr>
        <p:spPr>
          <a:xfrm>
            <a:off x="1047750" y="46767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8" name="Straight Connector 38">
            <a:extLst>
              <a:ext uri="{FF2B5EF4-FFF2-40B4-BE49-F238E27FC236}">
                <a16:creationId xmlns:a16="http://schemas.microsoft.com/office/drawing/2014/main" id="{614E7ED8-6B1C-47B7-A451-C29AF3457A8A}"/>
              </a:ext>
            </a:extLst>
          </p:cNvPr>
          <p:cNvCxnSpPr/>
          <p:nvPr/>
        </p:nvCxnSpPr>
        <p:spPr>
          <a:xfrm>
            <a:off x="6381750" y="5210175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D2C35E42-51C3-4924-8ECA-78E7A2E1EFF9}"/>
              </a:ext>
            </a:extLst>
          </p:cNvPr>
          <p:cNvCxnSpPr/>
          <p:nvPr/>
        </p:nvCxnSpPr>
        <p:spPr>
          <a:xfrm flipH="1">
            <a:off x="6381750" y="5267325"/>
            <a:ext cx="176212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A135BE9D-1807-4B5C-A8C6-673B389A2EEF}"/>
              </a:ext>
            </a:extLst>
          </p:cNvPr>
          <p:cNvSpPr txBox="1"/>
          <p:nvPr/>
        </p:nvSpPr>
        <p:spPr>
          <a:xfrm>
            <a:off x="6496050" y="4943475"/>
            <a:ext cx="159067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SAR / SAA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A89B4B8A-BF83-4308-8B81-383569A55A18}"/>
              </a:ext>
            </a:extLst>
          </p:cNvPr>
          <p:cNvSpPr txBox="1"/>
          <p:nvPr/>
        </p:nvSpPr>
        <p:spPr>
          <a:xfrm>
            <a:off x="9153525" y="4943475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認證成功，登記承辦人。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取回 profile、記住 Contact。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2AC28070-DCB6-4B85-8CF7-4F773FBE2040}"/>
              </a:ext>
            </a:extLst>
          </p:cNvPr>
          <p:cNvSpPr/>
          <p:nvPr/>
        </p:nvSpPr>
        <p:spPr>
          <a:xfrm>
            <a:off x="6334125" y="516255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43" name="Straight Connector 43">
            <a:extLst>
              <a:ext uri="{FF2B5EF4-FFF2-40B4-BE49-F238E27FC236}">
                <a16:creationId xmlns:a16="http://schemas.microsoft.com/office/drawing/2014/main" id="{B3C97E42-ADDC-47E9-B4E5-20EFE74961BF}"/>
              </a:ext>
            </a:extLst>
          </p:cNvPr>
          <p:cNvCxnSpPr/>
          <p:nvPr/>
        </p:nvCxnSpPr>
        <p:spPr>
          <a:xfrm flipH="1">
            <a:off x="1095375" y="5695950"/>
            <a:ext cx="5286375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4" name="TextBox 44">
            <a:extLst>
              <a:ext uri="{FF2B5EF4-FFF2-40B4-BE49-F238E27FC236}">
                <a16:creationId xmlns:a16="http://schemas.microsoft.com/office/drawing/2014/main" id="{59B0AA11-ED2E-47D0-AA2E-5A9CBCE07BD1}"/>
              </a:ext>
            </a:extLst>
          </p:cNvPr>
          <p:cNvSpPr txBox="1"/>
          <p:nvPr/>
        </p:nvSpPr>
        <p:spPr>
          <a:xfrm>
            <a:off x="1209675" y="5429250"/>
            <a:ext cx="5114925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OK：註冊完成</a:t>
            </a:r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37D06596-33D6-4DE2-859F-DA0868E18A31}"/>
              </a:ext>
            </a:extLst>
          </p:cNvPr>
          <p:cNvSpPr txBox="1"/>
          <p:nvPr/>
        </p:nvSpPr>
        <p:spPr>
          <a:xfrm>
            <a:off x="9153525" y="542925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⑦ 承辦人：我找得到你了。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小華也完成同樣的註冊。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96179CA9-5B9A-4080-998A-A6F4361E045C}"/>
              </a:ext>
            </a:extLst>
          </p:cNvPr>
          <p:cNvSpPr/>
          <p:nvPr/>
        </p:nvSpPr>
        <p:spPr>
          <a:xfrm>
            <a:off x="6334125" y="564832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7" name="TextBox 47">
            <a:extLst>
              <a:ext uri="{FF2B5EF4-FFF2-40B4-BE49-F238E27FC236}">
                <a16:creationId xmlns:a16="http://schemas.microsoft.com/office/drawing/2014/main" id="{5DC11FFD-84E1-4F0E-BBB7-4BEB2B4E280A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7 次｜橘色：IMS 訊息；Cx 查詢為雙向。SIM 金鑰 K 不上網；SIP 回傳 Digest 證明。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923" fill="hold">
                      <p:stCondLst>
                        <p:cond delay="indefinite"/>
                      </p:stCondLst>
                      <p:childTnLst>
                        <p:par>
                          <p:cTn id="5924" fill="hold">
                            <p:stCondLst>
                              <p:cond delay="0"/>
                            </p:stCondLst>
                            <p:childTnLst>
                              <p:par>
                                <p:cTn id="58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99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03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0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E" pathEditMode="relative">
                                      <p:cBhvr>
                                        <p:cTn id="5910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11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15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18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19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22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64" fill="hold">
                      <p:stCondLst>
                        <p:cond delay="indefinite"/>
                      </p:stCondLst>
                      <p:childTnLst>
                        <p:par>
                          <p:cTn id="5965" fill="hold">
                            <p:stCondLst>
                              <p:cond delay="0"/>
                            </p:stCondLst>
                            <p:childTnLst>
                              <p:par>
                                <p:cTn id="59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28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36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4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44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890625 0.0000000 L 0.2890625 0.0083333 L 0.0000000 0.0083333 E" pathEditMode="relative">
                                      <p:cBhvr>
                                        <p:cTn id="594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48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52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55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56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59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60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63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01" fill="hold">
                      <p:stCondLst>
                        <p:cond delay="indefinite"/>
                      </p:stCondLst>
                      <p:childTnLst>
                        <p:par>
                          <p:cTn id="6002" fill="hold">
                            <p:stCondLst>
                              <p:cond delay="0"/>
                            </p:stCondLst>
                            <p:childTnLst>
                              <p:par>
                                <p:cTn id="59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69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3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77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81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8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5988" dur="1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89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59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93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5996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5997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00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0" fill="hold">
                      <p:stCondLst>
                        <p:cond delay="indefinite"/>
                      </p:stCondLst>
                      <p:childTnLst>
                        <p:par>
                          <p:cTn id="6031" fill="hold">
                            <p:stCondLst>
                              <p:cond delay="0"/>
                            </p:stCondLst>
                            <p:childTnLst>
                              <p:par>
                                <p:cTn id="60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06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0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14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1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021" dur="1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22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26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2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59" fill="hold">
                      <p:stCondLst>
                        <p:cond delay="indefinite"/>
                      </p:stCondLst>
                      <p:childTnLst>
                        <p:par>
                          <p:cTn id="6060" fill="hold">
                            <p:stCondLst>
                              <p:cond delay="0"/>
                            </p:stCondLst>
                            <p:childTnLst>
                              <p:par>
                                <p:cTn id="60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5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39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43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4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4335938 0.0000000 E" pathEditMode="relative">
                                      <p:cBhvr>
                                        <p:cTn id="6050" dur="1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51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55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58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96" fill="hold">
                      <p:stCondLst>
                        <p:cond delay="indefinite"/>
                      </p:stCondLst>
                      <p:childTnLst>
                        <p:par>
                          <p:cTn id="6097" fill="hold">
                            <p:stCondLst>
                              <p:cond delay="0"/>
                            </p:stCondLst>
                            <p:childTnLst>
                              <p:par>
                                <p:cTn id="60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4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68" dur="28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2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76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0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445312 0.0000000 L 0.1445312 0.0083333 L 0.0000000 0.0083333 E" pathEditMode="relative">
                                      <p:cBhvr>
                                        <p:cTn id="6083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84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0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88" presetID="26" presetClass="emph" presetSubtype="0" fill="hold" grpId="3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91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6092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095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25" fill="hold">
                      <p:stCondLst>
                        <p:cond delay="indefinite"/>
                      </p:stCondLst>
                      <p:childTnLst>
                        <p:par>
                          <p:cTn id="6126" fill="hold">
                            <p:stCondLst>
                              <p:cond delay="0"/>
                            </p:stCondLst>
                            <p:childTnLst>
                              <p:par>
                                <p:cTn id="60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1" dur="28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5" dur="28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09" dur="28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1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4335938 0.0000000 E" pathEditMode="relative">
                                      <p:cBhvr>
                                        <p:cTn id="6116" dur="1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117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6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21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6124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8" grpId="0"/>
      <p:bldP spid="19" grpId="0"/>
      <p:bldP spid="19" grpId="1"/>
      <p:bldP spid="19" grpId="2"/>
      <p:bldP spid="7" grpId="0"/>
      <p:bldP spid="9" grpId="0"/>
      <p:bldP spid="22" grpId="0"/>
      <p:bldP spid="20" grpId="0"/>
      <p:bldP spid="21" grpId="0"/>
      <p:bldP spid="23" grpId="0"/>
      <p:bldP spid="24" grpId="0"/>
      <p:bldP spid="24" grpId="1"/>
      <p:bldP spid="24" grpId="2"/>
      <p:bldP spid="9" grpId="1"/>
      <p:bldP spid="13" grpId="0"/>
      <p:bldP spid="11" grpId="0"/>
      <p:bldP spid="27" grpId="0"/>
      <p:bldP spid="25" grpId="0"/>
      <p:bldP spid="26" grpId="0"/>
      <p:bldP spid="28" grpId="0"/>
      <p:bldP spid="29" grpId="0"/>
      <p:bldP spid="29" grpId="1"/>
      <p:bldP spid="29" grpId="2"/>
      <p:bldP spid="11" grpId="1"/>
      <p:bldP spid="13" grpId="1"/>
      <p:bldP spid="31" grpId="0"/>
      <p:bldP spid="30" grpId="0"/>
      <p:bldP spid="32" grpId="0"/>
      <p:bldP spid="33" grpId="0"/>
      <p:bldP spid="33" grpId="1"/>
      <p:bldP spid="33" grpId="2"/>
      <p:bldP spid="5" grpId="0"/>
      <p:bldP spid="35" grpId="0"/>
      <p:bldP spid="34" grpId="0"/>
      <p:bldP spid="36" grpId="0"/>
      <p:bldP spid="37" grpId="0"/>
      <p:bldP spid="37" grpId="1"/>
      <p:bldP spid="37" grpId="2"/>
      <p:bldP spid="11" grpId="2"/>
      <p:bldP spid="40" grpId="0"/>
      <p:bldP spid="38" grpId="0"/>
      <p:bldP spid="39" grpId="0"/>
      <p:bldP spid="41" grpId="0"/>
      <p:bldP spid="42" grpId="0"/>
      <p:bldP spid="42" grpId="1"/>
      <p:bldP spid="42" grpId="2"/>
      <p:bldP spid="11" grpId="3"/>
      <p:bldP spid="13" grpId="2"/>
      <p:bldP spid="44" grpId="0"/>
      <p:bldP spid="43" grpId="0"/>
      <p:bldP spid="45" grpId="0"/>
      <p:bldP spid="46" grpId="0"/>
      <p:bldP spid="46" grpId="1"/>
      <p:bldP spid="46" grpId="2"/>
      <p:bldP spid="5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2ACAD389-8865-421B-BCB8-1AE6244FA126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第二幕｜小明撥號，總機找到小華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B70C51-38BB-4FDB-B513-F614E89A37AE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雙方都已註冊。小明按下撥號鍵，SIP 請總機把電話送到小華。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25C66C5-14DD-48C9-8F27-AC1159FE76E9}"/>
              </a:ext>
            </a:extLst>
          </p:cNvPr>
          <p:cNvSpPr/>
          <p:nvPr/>
        </p:nvSpPr>
        <p:spPr>
          <a:xfrm>
            <a:off x="36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小明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 UE</a:t>
            </a:r>
          </a:p>
        </p:txBody>
      </p:sp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C44510BA-500F-45AF-A90A-B5E1758713AE}"/>
              </a:ext>
            </a:extLst>
          </p:cNvPr>
          <p:cNvCxnSpPr/>
          <p:nvPr/>
        </p:nvCxnSpPr>
        <p:spPr>
          <a:xfrm>
            <a:off x="952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7" name="Shape 7">
            <a:extLst>
              <a:ext uri="{FF2B5EF4-FFF2-40B4-BE49-F238E27FC236}">
                <a16:creationId xmlns:a16="http://schemas.microsoft.com/office/drawing/2014/main" id="{9D38C1D5-E67F-4D27-A226-0D97A7633EEE}"/>
              </a:ext>
            </a:extLst>
          </p:cNvPr>
          <p:cNvSpPr/>
          <p:nvPr/>
        </p:nvSpPr>
        <p:spPr>
          <a:xfrm>
            <a:off x="1885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主叫側接待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1098F30B-1985-48D1-99E4-B764D912E843}"/>
              </a:ext>
            </a:extLst>
          </p:cNvPr>
          <p:cNvCxnSpPr/>
          <p:nvPr/>
        </p:nvCxnSpPr>
        <p:spPr>
          <a:xfrm>
            <a:off x="2476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9" name="Shape 9">
            <a:extLst>
              <a:ext uri="{FF2B5EF4-FFF2-40B4-BE49-F238E27FC236}">
                <a16:creationId xmlns:a16="http://schemas.microsoft.com/office/drawing/2014/main" id="{79075A3C-219C-4069-9A7B-68DC3557541F}"/>
              </a:ext>
            </a:extLst>
          </p:cNvPr>
          <p:cNvSpPr/>
          <p:nvPr/>
        </p:nvSpPr>
        <p:spPr>
          <a:xfrm>
            <a:off x="3409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I-CSCF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總機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4F738A74-03B0-4A38-BAF3-567458B5645A}"/>
              </a:ext>
            </a:extLst>
          </p:cNvPr>
          <p:cNvCxnSpPr/>
          <p:nvPr/>
        </p:nvCxnSpPr>
        <p:spPr>
          <a:xfrm>
            <a:off x="4000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1" name="Shape 11">
            <a:extLst>
              <a:ext uri="{FF2B5EF4-FFF2-40B4-BE49-F238E27FC236}">
                <a16:creationId xmlns:a16="http://schemas.microsoft.com/office/drawing/2014/main" id="{FA118326-989B-4861-B8A7-0C475124C77D}"/>
              </a:ext>
            </a:extLst>
          </p:cNvPr>
          <p:cNvSpPr/>
          <p:nvPr/>
        </p:nvSpPr>
        <p:spPr>
          <a:xfrm>
            <a:off x="4933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被叫承辦人</a:t>
            </a:r>
          </a:p>
        </p:txBody>
      </p:sp>
      <p:cxnSp>
        <p:nvCxnSpPr>
          <p:cNvPr id="12" name="Straight Connector 12">
            <a:extLst>
              <a:ext uri="{FF2B5EF4-FFF2-40B4-BE49-F238E27FC236}">
                <a16:creationId xmlns:a16="http://schemas.microsoft.com/office/drawing/2014/main" id="{B2D79145-0A25-419E-9046-FF6FDAB244C1}"/>
              </a:ext>
            </a:extLst>
          </p:cNvPr>
          <p:cNvCxnSpPr/>
          <p:nvPr/>
        </p:nvCxnSpPr>
        <p:spPr>
          <a:xfrm>
            <a:off x="5524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3" name="Shape 13">
            <a:extLst>
              <a:ext uri="{FF2B5EF4-FFF2-40B4-BE49-F238E27FC236}">
                <a16:creationId xmlns:a16="http://schemas.microsoft.com/office/drawing/2014/main" id="{E6C826DA-1DDE-425E-AEFB-B5C8CA706524}"/>
              </a:ext>
            </a:extLst>
          </p:cNvPr>
          <p:cNvSpPr/>
          <p:nvPr/>
        </p:nvSpPr>
        <p:spPr>
          <a:xfrm>
            <a:off x="6457950" y="1562100"/>
            <a:ext cx="1181100" cy="723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P-CSCF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被叫側接待</a:t>
            </a:r>
          </a:p>
        </p:txBody>
      </p:sp>
      <p:cxnSp>
        <p:nvCxnSpPr>
          <p:cNvPr id="14" name="Straight Connector 14">
            <a:extLst>
              <a:ext uri="{FF2B5EF4-FFF2-40B4-BE49-F238E27FC236}">
                <a16:creationId xmlns:a16="http://schemas.microsoft.com/office/drawing/2014/main" id="{AFD93C33-9756-4F7C-B646-794BA160C9FB}"/>
              </a:ext>
            </a:extLst>
          </p:cNvPr>
          <p:cNvCxnSpPr/>
          <p:nvPr/>
        </p:nvCxnSpPr>
        <p:spPr>
          <a:xfrm>
            <a:off x="7048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5" name="Shape 15">
            <a:extLst>
              <a:ext uri="{FF2B5EF4-FFF2-40B4-BE49-F238E27FC236}">
                <a16:creationId xmlns:a16="http://schemas.microsoft.com/office/drawing/2014/main" id="{9EF30FAA-8F7E-47BE-92AA-83BEC8C9CD12}"/>
              </a:ext>
            </a:extLst>
          </p:cNvPr>
          <p:cNvSpPr/>
          <p:nvPr/>
        </p:nvSpPr>
        <p:spPr>
          <a:xfrm>
            <a:off x="7981950" y="1562100"/>
            <a:ext cx="1181100" cy="72390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小華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被叫 UE</a:t>
            </a:r>
          </a:p>
        </p:txBody>
      </p: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870A9537-422B-46A4-B801-2231FCBE4723}"/>
              </a:ext>
            </a:extLst>
          </p:cNvPr>
          <p:cNvCxnSpPr/>
          <p:nvPr/>
        </p:nvCxnSpPr>
        <p:spPr>
          <a:xfrm>
            <a:off x="8572500" y="2362200"/>
            <a:ext cx="9525" cy="3638550"/>
          </a:xfrm>
          <a:prstGeom prst="line">
            <a:avLst/>
          </a:prstGeom>
          <a:ln w="10160" cap="flat">
            <a:solidFill>
              <a:srgbClr val="D5DAE1"/>
            </a:solidFill>
          </a:ln>
        </p:spPr>
      </p:cxnSp>
      <p:sp>
        <p:nvSpPr>
          <p:cNvPr id="17" name="Shape 17">
            <a:extLst>
              <a:ext uri="{FF2B5EF4-FFF2-40B4-BE49-F238E27FC236}">
                <a16:creationId xmlns:a16="http://schemas.microsoft.com/office/drawing/2014/main" id="{7718F410-6195-4ED4-82F3-6982630FE38D}"/>
              </a:ext>
            </a:extLst>
          </p:cNvPr>
          <p:cNvSpPr/>
          <p:nvPr/>
        </p:nvSpPr>
        <p:spPr>
          <a:xfrm>
            <a:off x="9620250" y="1562100"/>
            <a:ext cx="1905000" cy="7239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HSS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知道承辦人在哪</a:t>
            </a: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BD77B87D-F246-40DB-8AB5-B24B4A985289}"/>
              </a:ext>
            </a:extLst>
          </p:cNvPr>
          <p:cNvCxnSpPr/>
          <p:nvPr/>
        </p:nvCxnSpPr>
        <p:spPr>
          <a:xfrm>
            <a:off x="952500" y="2857500"/>
            <a:ext cx="3048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19" name="TextBox 19">
            <a:extLst>
              <a:ext uri="{FF2B5EF4-FFF2-40B4-BE49-F238E27FC236}">
                <a16:creationId xmlns:a16="http://schemas.microsoft.com/office/drawing/2014/main" id="{8CD72E11-F7ED-4657-A2F1-AAE3A030A804}"/>
              </a:ext>
            </a:extLst>
          </p:cNvPr>
          <p:cNvSpPr txBox="1"/>
          <p:nvPr/>
        </p:nvSpPr>
        <p:spPr>
          <a:xfrm>
            <a:off x="1066800" y="2590800"/>
            <a:ext cx="2876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+ SDP offer</a:t>
            </a: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6F51AACD-2A5C-488A-A497-CC78A259CA1A}"/>
              </a:ext>
            </a:extLst>
          </p:cNvPr>
          <p:cNvSpPr txBox="1"/>
          <p:nvPr/>
        </p:nvSpPr>
        <p:spPr>
          <a:xfrm>
            <a:off x="9153525" y="2590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① 小明：請幫我找小華。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SDP 說明我的媒體位址。</a:t>
            </a: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EF1EBDC1-B147-47B4-9F59-4E787C33D25B}"/>
              </a:ext>
            </a:extLst>
          </p:cNvPr>
          <p:cNvSpPr/>
          <p:nvPr/>
        </p:nvSpPr>
        <p:spPr>
          <a:xfrm>
            <a:off x="904875" y="2809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DD744DDC-3FBC-4DD7-9AAB-E739862F5D61}"/>
              </a:ext>
            </a:extLst>
          </p:cNvPr>
          <p:cNvCxnSpPr/>
          <p:nvPr/>
        </p:nvCxnSpPr>
        <p:spPr>
          <a:xfrm>
            <a:off x="4000500" y="3429000"/>
            <a:ext cx="6572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E5148F75-8925-49E6-8E84-F863ADF7A46C}"/>
              </a:ext>
            </a:extLst>
          </p:cNvPr>
          <p:cNvCxnSpPr/>
          <p:nvPr/>
        </p:nvCxnSpPr>
        <p:spPr>
          <a:xfrm flipH="1">
            <a:off x="4000500" y="3486150"/>
            <a:ext cx="657225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645D221D-EA38-4669-A509-39C93B1FED0D}"/>
              </a:ext>
            </a:extLst>
          </p:cNvPr>
          <p:cNvSpPr txBox="1"/>
          <p:nvPr/>
        </p:nvSpPr>
        <p:spPr>
          <a:xfrm>
            <a:off x="4143375" y="3162300"/>
            <a:ext cx="45720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LIR / LIA：小華在哪台 S-CSCF？</a:t>
            </a:r>
          </a:p>
        </p:txBody>
      </p:sp>
      <p:sp>
        <p:nvSpPr>
          <p:cNvPr id="25" name="TextBox 25">
            <a:extLst>
              <a:ext uri="{FF2B5EF4-FFF2-40B4-BE49-F238E27FC236}">
                <a16:creationId xmlns:a16="http://schemas.microsoft.com/office/drawing/2014/main" id="{F5B91861-A2EE-45A4-87BD-6D53820C6963}"/>
              </a:ext>
            </a:extLst>
          </p:cNvPr>
          <p:cNvSpPr txBox="1"/>
          <p:nvPr/>
        </p:nvSpPr>
        <p:spPr>
          <a:xfrm>
            <a:off x="9344025" y="2324100"/>
            <a:ext cx="240030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② HSS：找這台 S-CSCF。</a:t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B83DD2BC-D5E6-42A8-8910-D3B70CB3C46B}"/>
              </a:ext>
            </a:extLst>
          </p:cNvPr>
          <p:cNvSpPr/>
          <p:nvPr/>
        </p:nvSpPr>
        <p:spPr>
          <a:xfrm>
            <a:off x="3952875" y="3381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7" name="Straight Connector 27">
            <a:extLst>
              <a:ext uri="{FF2B5EF4-FFF2-40B4-BE49-F238E27FC236}">
                <a16:creationId xmlns:a16="http://schemas.microsoft.com/office/drawing/2014/main" id="{914431F6-CB34-4D03-BA3C-0A16B508A9F2}"/>
              </a:ext>
            </a:extLst>
          </p:cNvPr>
          <p:cNvCxnSpPr/>
          <p:nvPr/>
        </p:nvCxnSpPr>
        <p:spPr>
          <a:xfrm>
            <a:off x="4000500" y="4000500"/>
            <a:ext cx="4572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28" name="TextBox 28">
            <a:extLst>
              <a:ext uri="{FF2B5EF4-FFF2-40B4-BE49-F238E27FC236}">
                <a16:creationId xmlns:a16="http://schemas.microsoft.com/office/drawing/2014/main" id="{737EE431-3FBC-4B03-BD86-44D40D6AC770}"/>
              </a:ext>
            </a:extLst>
          </p:cNvPr>
          <p:cNvSpPr txBox="1"/>
          <p:nvPr/>
        </p:nvSpPr>
        <p:spPr>
          <a:xfrm>
            <a:off x="4114800" y="3733800"/>
            <a:ext cx="4400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INVITE → S-CSCF → Path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F7D716C-1C5B-4333-89DA-E0B110C50E8B}"/>
              </a:ext>
            </a:extLst>
          </p:cNvPr>
          <p:cNvSpPr txBox="1"/>
          <p:nvPr/>
        </p:nvSpPr>
        <p:spPr>
          <a:xfrm>
            <a:off x="9153525" y="3733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③ 承辦人：我有她的地址。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沿 Path 經接待送到小華。</a:t>
            </a:r>
          </a:p>
        </p:txBody>
      </p:sp>
      <p:sp>
        <p:nvSpPr>
          <p:cNvPr id="30" name="Shape 30">
            <a:extLst>
              <a:ext uri="{FF2B5EF4-FFF2-40B4-BE49-F238E27FC236}">
                <a16:creationId xmlns:a16="http://schemas.microsoft.com/office/drawing/2014/main" id="{287E7E68-4B06-4E67-B0CA-BC1AED7783F9}"/>
              </a:ext>
            </a:extLst>
          </p:cNvPr>
          <p:cNvSpPr/>
          <p:nvPr/>
        </p:nvSpPr>
        <p:spPr>
          <a:xfrm>
            <a:off x="3952875" y="3952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1" name="Straight Connector 31">
            <a:extLst>
              <a:ext uri="{FF2B5EF4-FFF2-40B4-BE49-F238E27FC236}">
                <a16:creationId xmlns:a16="http://schemas.microsoft.com/office/drawing/2014/main" id="{7744BF2E-4092-46F1-9ABB-1AA035FF0B3D}"/>
              </a:ext>
            </a:extLst>
          </p:cNvPr>
          <p:cNvCxnSpPr/>
          <p:nvPr/>
        </p:nvCxnSpPr>
        <p:spPr>
          <a:xfrm flipH="1">
            <a:off x="952500" y="45720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2" name="TextBox 32">
            <a:extLst>
              <a:ext uri="{FF2B5EF4-FFF2-40B4-BE49-F238E27FC236}">
                <a16:creationId xmlns:a16="http://schemas.microsoft.com/office/drawing/2014/main" id="{733E47BE-F033-4442-8E5D-D626776360E9}"/>
              </a:ext>
            </a:extLst>
          </p:cNvPr>
          <p:cNvSpPr txBox="1"/>
          <p:nvPr/>
        </p:nvSpPr>
        <p:spPr>
          <a:xfrm>
            <a:off x="1066800" y="4305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180 Ringing</a:t>
            </a: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6D5E8926-75EE-4156-9D68-5C092F1214B7}"/>
              </a:ext>
            </a:extLst>
          </p:cNvPr>
          <p:cNvSpPr txBox="1"/>
          <p:nvPr/>
        </p:nvSpPr>
        <p:spPr>
          <a:xfrm>
            <a:off x="9153525" y="4305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④ 小華的手機開始響鈴。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小明得知對方正在響鈴。</a:t>
            </a:r>
          </a:p>
        </p:txBody>
      </p:sp>
      <p:sp>
        <p:nvSpPr>
          <p:cNvPr id="34" name="Shape 34">
            <a:extLst>
              <a:ext uri="{FF2B5EF4-FFF2-40B4-BE49-F238E27FC236}">
                <a16:creationId xmlns:a16="http://schemas.microsoft.com/office/drawing/2014/main" id="{262A2E7C-053B-430F-B3CB-325642805DE8}"/>
              </a:ext>
            </a:extLst>
          </p:cNvPr>
          <p:cNvSpPr/>
          <p:nvPr/>
        </p:nvSpPr>
        <p:spPr>
          <a:xfrm>
            <a:off x="8524875" y="4524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5" name="Straight Connector 35">
            <a:extLst>
              <a:ext uri="{FF2B5EF4-FFF2-40B4-BE49-F238E27FC236}">
                <a16:creationId xmlns:a16="http://schemas.microsoft.com/office/drawing/2014/main" id="{5C77D2A8-6658-4312-A17B-3519AF82DC61}"/>
              </a:ext>
            </a:extLst>
          </p:cNvPr>
          <p:cNvCxnSpPr/>
          <p:nvPr/>
        </p:nvCxnSpPr>
        <p:spPr>
          <a:xfrm flipH="1">
            <a:off x="952500" y="51435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36" name="TextBox 36">
            <a:extLst>
              <a:ext uri="{FF2B5EF4-FFF2-40B4-BE49-F238E27FC236}">
                <a16:creationId xmlns:a16="http://schemas.microsoft.com/office/drawing/2014/main" id="{ECA60C18-8588-42EC-B880-1F7CF2E19D32}"/>
              </a:ext>
            </a:extLst>
          </p:cNvPr>
          <p:cNvSpPr txBox="1"/>
          <p:nvPr/>
        </p:nvSpPr>
        <p:spPr>
          <a:xfrm>
            <a:off x="1066800" y="48768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200 OK + SDP answer</a:t>
            </a:r>
          </a:p>
        </p:txBody>
      </p:sp>
      <p:sp>
        <p:nvSpPr>
          <p:cNvPr id="37" name="TextBox 37">
            <a:extLst>
              <a:ext uri="{FF2B5EF4-FFF2-40B4-BE49-F238E27FC236}">
                <a16:creationId xmlns:a16="http://schemas.microsoft.com/office/drawing/2014/main" id="{BB7E52B0-5930-4917-A5C6-BD30009DF23D}"/>
              </a:ext>
            </a:extLst>
          </p:cNvPr>
          <p:cNvSpPr txBox="1"/>
          <p:nvPr/>
        </p:nvSpPr>
        <p:spPr>
          <a:xfrm>
            <a:off x="9153525" y="48768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⑤ 小華：喂，我接聽了。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雙方媒體位址、codec 到齊。</a:t>
            </a:r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6887E46D-E92F-4E1E-B9DD-09B91C712C59}"/>
              </a:ext>
            </a:extLst>
          </p:cNvPr>
          <p:cNvSpPr/>
          <p:nvPr/>
        </p:nvSpPr>
        <p:spPr>
          <a:xfrm>
            <a:off x="8524875" y="50958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39" name="Straight Connector 39">
            <a:extLst>
              <a:ext uri="{FF2B5EF4-FFF2-40B4-BE49-F238E27FC236}">
                <a16:creationId xmlns:a16="http://schemas.microsoft.com/office/drawing/2014/main" id="{71C62102-F57B-46AA-B7AB-FC14C76E6B64}"/>
              </a:ext>
            </a:extLst>
          </p:cNvPr>
          <p:cNvCxnSpPr/>
          <p:nvPr/>
        </p:nvCxnSpPr>
        <p:spPr>
          <a:xfrm>
            <a:off x="952500" y="5715000"/>
            <a:ext cx="76200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sp>
        <p:nvSpPr>
          <p:cNvPr id="40" name="TextBox 40">
            <a:extLst>
              <a:ext uri="{FF2B5EF4-FFF2-40B4-BE49-F238E27FC236}">
                <a16:creationId xmlns:a16="http://schemas.microsoft.com/office/drawing/2014/main" id="{17D14D28-3A8E-4BE3-B9C9-3523FDF09569}"/>
              </a:ext>
            </a:extLst>
          </p:cNvPr>
          <p:cNvSpPr txBox="1"/>
          <p:nvPr/>
        </p:nvSpPr>
        <p:spPr>
          <a:xfrm>
            <a:off x="1066800" y="5448300"/>
            <a:ext cx="7448550" cy="2381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ACK</a:t>
            </a:r>
          </a:p>
        </p:txBody>
      </p:sp>
      <p:sp>
        <p:nvSpPr>
          <p:cNvPr id="41" name="TextBox 41">
            <a:extLst>
              <a:ext uri="{FF2B5EF4-FFF2-40B4-BE49-F238E27FC236}">
                <a16:creationId xmlns:a16="http://schemas.microsoft.com/office/drawing/2014/main" id="{F7B4199B-F005-4111-9B7A-B22EADD5E4E7}"/>
              </a:ext>
            </a:extLst>
          </p:cNvPr>
          <p:cNvSpPr txBox="1"/>
          <p:nvPr/>
        </p:nvSpPr>
        <p:spPr>
          <a:xfrm>
            <a:off x="9153525" y="5448300"/>
            <a:ext cx="26289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⑥ 小明：收到，開始說話。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通話已建立。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CFD37E39-4CD1-4832-BD3A-A24D763DECC8}"/>
              </a:ext>
            </a:extLst>
          </p:cNvPr>
          <p:cNvSpPr/>
          <p:nvPr/>
        </p:nvSpPr>
        <p:spPr>
          <a:xfrm>
            <a:off x="904875" y="5667375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484B8A87-4D4D-4909-8226-854B8D6BEACF}"/>
              </a:ext>
            </a:extLst>
          </p:cNvPr>
          <p:cNvSpPr txBox="1"/>
          <p:nvPr/>
        </p:nvSpPr>
        <p:spPr>
          <a:xfrm>
            <a:off x="571500" y="6257925"/>
            <a:ext cx="11049000" cy="4381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6 次｜兩個 P 是本專案同一程序的兩個 leg。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本頁依 PoC 路由；標準主叫先經 Service-Route 到主叫 S-CSCF。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202" fill="hold">
                      <p:stCondLst>
                        <p:cond delay="indefinite"/>
                      </p:stCondLst>
                      <p:childTnLst>
                        <p:par>
                          <p:cTn id="4203" fill="hold">
                            <p:stCondLst>
                              <p:cond delay="0"/>
                            </p:stCondLst>
                            <p:childTnLst>
                              <p:par>
                                <p:cTn id="41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4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78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82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8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2500000 0.0000000 E" pathEditMode="relative">
                                      <p:cBhvr>
                                        <p:cTn id="4189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9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94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197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198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01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9" fill="hold">
                      <p:stCondLst>
                        <p:cond delay="indefinite"/>
                      </p:stCondLst>
                      <p:childTnLst>
                        <p:par>
                          <p:cTn id="4240" fill="hold">
                            <p:stCondLst>
                              <p:cond delay="0"/>
                            </p:stCondLst>
                            <p:childTnLst>
                              <p:par>
                                <p:cTn id="42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07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1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5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19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2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5390625 0.0000000 L 0.5390625 0.0083333 L 0.0000000 0.0083333 E" pathEditMode="relative">
                                      <p:cBhvr>
                                        <p:cTn id="4226" dur="18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27" presetID="1" presetClass="exit" presetSubtype="0" fill="hold" grpId="2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4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31" presetID="26" presetClass="emph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4234" dur="21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35" presetID="26" presetClass="emph" presetSubtype="0" fill="hold" grpId="1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4238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6" fill="hold">
                      <p:stCondLst>
                        <p:cond delay="indefinite"/>
                      </p:stCondLst>
                      <p:childTnLst>
                        <p:par>
                          <p:cTn id="4277" fill="hold">
                            <p:stCondLst>
                              <p:cond delay="0"/>
                            </p:stCondLst>
                            <p:childTnLst>
                              <p:par>
                                <p:cTn id="42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4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48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5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5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3750000 0.0000000 E" pathEditMode="relative">
                                      <p:cBhvr>
                                        <p:cTn id="4259" dur="1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6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64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67" dur="21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68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71" dur="21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272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275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09" fill="hold">
                      <p:stCondLst>
                        <p:cond delay="indefinite"/>
                      </p:stCondLst>
                      <p:childTnLst>
                        <p:par>
                          <p:cTn id="4310" fill="hold">
                            <p:stCondLst>
                              <p:cond delay="0"/>
                            </p:stCondLst>
                            <p:childTnLst>
                              <p:par>
                                <p:cTn id="42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1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5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89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9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296" dur="1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297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01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04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4305" presetID="26" presetClass="emph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08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8" fill="hold">
                      <p:stCondLst>
                        <p:cond delay="indefinite"/>
                      </p:stCondLst>
                      <p:childTnLst>
                        <p:par>
                          <p:cTn id="4339" fill="hold">
                            <p:stCondLst>
                              <p:cond delay="0"/>
                            </p:stCondLst>
                            <p:childTnLst>
                              <p:par>
                                <p:cTn id="4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4" dur="28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18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22" dur="28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26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6250000 0.0000000 E" pathEditMode="relative">
                                      <p:cBhvr>
                                        <p:cTn id="4329" dur="1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30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34" presetID="26" presetClass="emph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37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7" fill="hold">
                      <p:stCondLst>
                        <p:cond delay="indefinite"/>
                      </p:stCondLst>
                      <p:childTnLst>
                        <p:par>
                          <p:cTn id="4368" fill="hold">
                            <p:stCondLst>
                              <p:cond delay="0"/>
                            </p:stCondLst>
                            <p:childTnLst>
                              <p:par>
                                <p:cTn id="43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3" dur="28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47" dur="28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51" dur="28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55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6250000 0.0000000 E" pathEditMode="relative">
                                      <p:cBhvr>
                                        <p:cTn id="4358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359" presetID="1" presetClass="exit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63" presetID="26" presetClass="emph" presetSubtype="0" fill="hold" grpId="2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4366" dur="21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8" grpId="0"/>
      <p:bldP spid="20" grpId="0"/>
      <p:bldP spid="21" grpId="0"/>
      <p:bldP spid="21" grpId="1"/>
      <p:bldP spid="21" grpId="2"/>
      <p:bldP spid="7" grpId="0"/>
      <p:bldP spid="9" grpId="0"/>
      <p:bldP spid="24" grpId="0"/>
      <p:bldP spid="22" grpId="0"/>
      <p:bldP spid="23" grpId="0"/>
      <p:bldP spid="25" grpId="0"/>
      <p:bldP spid="26" grpId="0"/>
      <p:bldP spid="26" grpId="1"/>
      <p:bldP spid="26" grpId="2"/>
      <p:bldP spid="17" grpId="0"/>
      <p:bldP spid="9" grpId="1"/>
      <p:bldP spid="28" grpId="0"/>
      <p:bldP spid="27" grpId="0"/>
      <p:bldP spid="29" grpId="0"/>
      <p:bldP spid="30" grpId="0"/>
      <p:bldP spid="30" grpId="1"/>
      <p:bldP spid="30" grpId="2"/>
      <p:bldP spid="11" grpId="0"/>
      <p:bldP spid="13" grpId="0"/>
      <p:bldP spid="15" grpId="0"/>
      <p:bldP spid="32" grpId="0"/>
      <p:bldP spid="31" grpId="0"/>
      <p:bldP spid="33" grpId="0"/>
      <p:bldP spid="34" grpId="0"/>
      <p:bldP spid="34" grpId="1"/>
      <p:bldP spid="34" grpId="2"/>
      <p:bldP spid="15" grpId="1"/>
      <p:bldP spid="5" grpId="0"/>
      <p:bldP spid="36" grpId="0"/>
      <p:bldP spid="35" grpId="0"/>
      <p:bldP spid="37" grpId="0"/>
      <p:bldP spid="38" grpId="0"/>
      <p:bldP spid="38" grpId="1"/>
      <p:bldP spid="38" grpId="2"/>
      <p:bldP spid="5" grpId="1"/>
      <p:bldP spid="40" grpId="0"/>
      <p:bldP spid="39" grpId="0"/>
      <p:bldP spid="41" grpId="0"/>
      <p:bldP spid="42" grpId="0"/>
      <p:bldP spid="42" grpId="1"/>
      <p:bldP spid="42" grpId="2"/>
      <p:bldP spid="15" grpId="2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FDFD4DB-8E06-49D1-9908-318806B49240}"/>
              </a:ext>
            </a:extLst>
          </p:cNvPr>
          <p:cNvSpPr txBox="1"/>
          <p:nvPr/>
        </p:nvSpPr>
        <p:spPr>
          <a:xfrm>
            <a:off x="571500" y="323850"/>
            <a:ext cx="11049000" cy="57150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>
                <a:solidFill>
                  <a:srgbClr val="14213D"/>
                </a:solidFill>
                <a:latin typeface="Noto Sans CJK TC"/>
                <a:ea typeface="Noto Sans CJK TC"/>
              </a:rPr>
              <a:t>第三幕｜接通後，聲音走自己的路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D9D73D2-58D8-49D5-BC32-663D94BEDC29}"/>
              </a:ext>
            </a:extLst>
          </p:cNvPr>
          <p:cNvSpPr txBox="1"/>
          <p:nvPr/>
        </p:nvSpPr>
        <p:spPr>
          <a:xfrm>
            <a:off x="571500" y="981075"/>
            <a:ext cx="11049000" cy="314325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>
                <a:solidFill>
                  <a:srgbClr val="5B6575"/>
                </a:solidFill>
                <a:latin typeface="Noto Sans CJK TC"/>
                <a:ea typeface="Noto Sans CJK TC"/>
              </a:rPr>
              <a:t>P-CSCF 看到 200 OK 的 SDP answer 後申請 QoS；接著示意 ACK 後的雙向語音。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A794A34-F06D-4982-B567-BDADEF3812C7}"/>
              </a:ext>
            </a:extLst>
          </p:cNvPr>
          <p:cNvSpPr/>
          <p:nvPr/>
        </p:nvSpPr>
        <p:spPr>
          <a:xfrm>
            <a:off x="4095750" y="1571625"/>
            <a:ext cx="4000500" cy="838200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E8742A"/>
                </a:solidFill>
                <a:latin typeface="Noto Sans CJK TC"/>
                <a:ea typeface="Noto Sans CJK TC"/>
              </a:rPr>
              <a:t>P / I / S-CSCF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4213D"/>
                </a:solidFill>
                <a:latin typeface="Noto Sans CJK TC"/>
                <a:ea typeface="Noto Sans CJK TC"/>
              </a:rPr>
              <a:t>通話控制：接通、掛斷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DAE6C75-DFBA-41E9-8165-F09A8CCE89CB}"/>
              </a:ext>
            </a:extLst>
          </p:cNvPr>
          <p:cNvSpPr/>
          <p:nvPr/>
        </p:nvSpPr>
        <p:spPr>
          <a:xfrm>
            <a:off x="8934450" y="1571625"/>
            <a:ext cx="2705100" cy="85725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AF shim → PCF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N5 → N7 / SMF → N4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為兩端各裝一份語音規則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8BEF0D53-B4A6-4597-85A0-070EF0A644BD}"/>
              </a:ext>
            </a:extLst>
          </p:cNvPr>
          <p:cNvSpPr/>
          <p:nvPr/>
        </p:nvSpPr>
        <p:spPr>
          <a:xfrm>
            <a:off x="6858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小明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「喂，聽得到嗎？」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B9544BD-33A7-4EDB-AAC7-110C90EFED98}"/>
              </a:ext>
            </a:extLst>
          </p:cNvPr>
          <p:cNvSpPr/>
          <p:nvPr/>
        </p:nvSpPr>
        <p:spPr>
          <a:xfrm>
            <a:off x="523875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UPF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轉送真正的語音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2076D78-8BE2-4900-9D73-316F0AEBA932}"/>
              </a:ext>
            </a:extLst>
          </p:cNvPr>
          <p:cNvSpPr/>
          <p:nvPr/>
        </p:nvSpPr>
        <p:spPr>
          <a:xfrm>
            <a:off x="9791700" y="3286125"/>
            <a:ext cx="1714500" cy="9239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877B5"/>
                </a:solidFill>
                <a:latin typeface="Noto Sans CJK TC"/>
                <a:ea typeface="Noto Sans CJK TC"/>
              </a:rPr>
              <a:t>小華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B6575"/>
                </a:solidFill>
                <a:latin typeface="Noto Sans CJK TC"/>
                <a:ea typeface="Noto Sans CJK TC"/>
              </a:rPr>
              <a:t>「聽到了！」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4759A4C5-9119-46BB-985D-25063D21F7E3}"/>
              </a:ext>
            </a:extLst>
          </p:cNvPr>
          <p:cNvCxnSpPr/>
          <p:nvPr/>
        </p:nvCxnSpPr>
        <p:spPr>
          <a:xfrm>
            <a:off x="1543050" y="4438650"/>
            <a:ext cx="91059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B5483B4B-36EC-47F8-8C94-93BF5C38EA83}"/>
              </a:ext>
            </a:extLst>
          </p:cNvPr>
          <p:cNvCxnSpPr/>
          <p:nvPr/>
        </p:nvCxnSpPr>
        <p:spPr>
          <a:xfrm flipH="1">
            <a:off x="1543050" y="4676775"/>
            <a:ext cx="91059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2" name="TextBox 12">
            <a:extLst>
              <a:ext uri="{FF2B5EF4-FFF2-40B4-BE49-F238E27FC236}">
                <a16:creationId xmlns:a16="http://schemas.microsoft.com/office/drawing/2014/main" id="{BAF7C231-811E-43AE-ADBC-F1BCDF396D35}"/>
              </a:ext>
            </a:extLst>
          </p:cNvPr>
          <p:cNvSpPr txBox="1"/>
          <p:nvPr/>
        </p:nvSpPr>
        <p:spPr>
          <a:xfrm>
            <a:off x="2667000" y="4219575"/>
            <a:ext cx="6858000" cy="209550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877B5"/>
                </a:solidFill>
                <a:latin typeface="Noto Sans CJK TC"/>
                <a:ea typeface="Noto Sans CJK TC"/>
              </a:rPr>
              <a:t>RTP 語音：小明 ⇄ UPF ⇄ 小華（CSCF 不轉送聲音）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313F1848-2B16-43F8-BD66-DFA3E99FB13D}"/>
              </a:ext>
            </a:extLst>
          </p:cNvPr>
          <p:cNvSpPr/>
          <p:nvPr/>
        </p:nvSpPr>
        <p:spPr>
          <a:xfrm>
            <a:off x="1495425" y="4391025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9C6F9CDA-38DE-43C2-ACEC-CCE89B96B7E4}"/>
              </a:ext>
            </a:extLst>
          </p:cNvPr>
          <p:cNvSpPr/>
          <p:nvPr/>
        </p:nvSpPr>
        <p:spPr>
          <a:xfrm>
            <a:off x="10601325" y="4629150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15" name="Straight Connector 15">
            <a:extLst>
              <a:ext uri="{FF2B5EF4-FFF2-40B4-BE49-F238E27FC236}">
                <a16:creationId xmlns:a16="http://schemas.microsoft.com/office/drawing/2014/main" id="{59712E0D-E840-4166-90BC-FE99A9EB6CD4}"/>
              </a:ext>
            </a:extLst>
          </p:cNvPr>
          <p:cNvCxnSpPr/>
          <p:nvPr/>
        </p:nvCxnSpPr>
        <p:spPr>
          <a:xfrm>
            <a:off x="8096250" y="2000250"/>
            <a:ext cx="685800" cy="9525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A7EE07C8-A0AB-4291-86FB-12BE4911B53F}"/>
              </a:ext>
            </a:extLst>
          </p:cNvPr>
          <p:cNvCxnSpPr/>
          <p:nvPr/>
        </p:nvCxnSpPr>
        <p:spPr>
          <a:xfrm>
            <a:off x="10287000" y="2762250"/>
            <a:ext cx="9525" cy="219075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7" name="Straight Connector 17">
            <a:extLst>
              <a:ext uri="{FF2B5EF4-FFF2-40B4-BE49-F238E27FC236}">
                <a16:creationId xmlns:a16="http://schemas.microsoft.com/office/drawing/2014/main" id="{F43F44BB-FF0F-415F-86F4-7D566D5E73C2}"/>
              </a:ext>
            </a:extLst>
          </p:cNvPr>
          <p:cNvCxnSpPr/>
          <p:nvPr/>
        </p:nvCxnSpPr>
        <p:spPr>
          <a:xfrm>
            <a:off x="6096000" y="2981325"/>
            <a:ext cx="4191000" cy="9525"/>
          </a:xfrm>
          <a:prstGeom prst="line">
            <a:avLst/>
          </a:prstGeom>
          <a:ln w="20320" cap="flat">
            <a:solidFill>
              <a:srgbClr val="2877B5"/>
            </a:solidFill>
          </a:ln>
        </p:spPr>
      </p:cxn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C83AAA03-9F4A-41C6-985E-9ED7ECB37C90}"/>
              </a:ext>
            </a:extLst>
          </p:cNvPr>
          <p:cNvCxnSpPr/>
          <p:nvPr/>
        </p:nvCxnSpPr>
        <p:spPr>
          <a:xfrm>
            <a:off x="6096000" y="2981325"/>
            <a:ext cx="9525" cy="247650"/>
          </a:xfrm>
          <a:prstGeom prst="straightConnector1">
            <a:avLst/>
          </a:prstGeom>
          <a:ln w="20320" cap="flat">
            <a:solidFill>
              <a:srgbClr val="2877B5"/>
            </a:solidFill>
            <a:tailEnd type="triangle" w="med" len="med"/>
          </a:ln>
        </p:spPr>
      </p:cxnSp>
      <p:sp>
        <p:nvSpPr>
          <p:cNvPr id="19" name="Shape 19">
            <a:extLst>
              <a:ext uri="{FF2B5EF4-FFF2-40B4-BE49-F238E27FC236}">
                <a16:creationId xmlns:a16="http://schemas.microsoft.com/office/drawing/2014/main" id="{2867F9C6-B92A-47B4-A134-7D0C9086B142}"/>
              </a:ext>
            </a:extLst>
          </p:cNvPr>
          <p:cNvSpPr/>
          <p:nvPr/>
        </p:nvSpPr>
        <p:spPr>
          <a:xfrm>
            <a:off x="8048625" y="1952625"/>
            <a:ext cx="95250" cy="95250"/>
          </a:xfrm>
          <a:prstGeom prst="ellipse">
            <a:avLst/>
          </a:prstGeom>
          <a:solidFill>
            <a:srgbClr val="2877B5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A32A1BEF-3FBC-47F7-B541-16EB6C5E1260}"/>
              </a:ext>
            </a:extLst>
          </p:cNvPr>
          <p:cNvCxnSpPr/>
          <p:nvPr/>
        </p:nvCxnSpPr>
        <p:spPr>
          <a:xfrm>
            <a:off x="1543050" y="2552700"/>
            <a:ext cx="9525" cy="61912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cxnSp>
        <p:nvCxnSpPr>
          <p:cNvPr id="21" name="Straight Connector 21">
            <a:extLst>
              <a:ext uri="{FF2B5EF4-FFF2-40B4-BE49-F238E27FC236}">
                <a16:creationId xmlns:a16="http://schemas.microsoft.com/office/drawing/2014/main" id="{7B1610ED-88CB-4479-BC93-E455521D9A3D}"/>
              </a:ext>
            </a:extLst>
          </p:cNvPr>
          <p:cNvCxnSpPr/>
          <p:nvPr/>
        </p:nvCxnSpPr>
        <p:spPr>
          <a:xfrm>
            <a:off x="1543050" y="2552700"/>
            <a:ext cx="9105900" cy="95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2" name="Straight Connector 22">
            <a:extLst>
              <a:ext uri="{FF2B5EF4-FFF2-40B4-BE49-F238E27FC236}">
                <a16:creationId xmlns:a16="http://schemas.microsoft.com/office/drawing/2014/main" id="{7ADCE702-0B52-47D8-AC2F-D91894231362}"/>
              </a:ext>
            </a:extLst>
          </p:cNvPr>
          <p:cNvCxnSpPr/>
          <p:nvPr/>
        </p:nvCxnSpPr>
        <p:spPr>
          <a:xfrm>
            <a:off x="10648950" y="2552700"/>
            <a:ext cx="9525" cy="619125"/>
          </a:xfrm>
          <a:prstGeom prst="straightConnector1">
            <a:avLst/>
          </a:prstGeom>
          <a:ln w="20320" cap="flat">
            <a:solidFill>
              <a:srgbClr val="E8742A"/>
            </a:solidFill>
            <a:tailEnd type="triangle" w="med" len="med"/>
          </a:ln>
        </p:spPr>
      </p:cxnSp>
      <p:cxnSp>
        <p:nvCxnSpPr>
          <p:cNvPr id="23" name="Straight Connector 23">
            <a:extLst>
              <a:ext uri="{FF2B5EF4-FFF2-40B4-BE49-F238E27FC236}">
                <a16:creationId xmlns:a16="http://schemas.microsoft.com/office/drawing/2014/main" id="{11DE698F-386D-4D49-A542-DF0E9D20D359}"/>
              </a:ext>
            </a:extLst>
          </p:cNvPr>
          <p:cNvCxnSpPr/>
          <p:nvPr/>
        </p:nvCxnSpPr>
        <p:spPr>
          <a:xfrm>
            <a:off x="6096000" y="2409825"/>
            <a:ext cx="9525" cy="142875"/>
          </a:xfrm>
          <a:prstGeom prst="line">
            <a:avLst/>
          </a:prstGeom>
          <a:ln w="20320" cap="flat">
            <a:solidFill>
              <a:srgbClr val="E8742A"/>
            </a:solidFill>
          </a:ln>
        </p:spPr>
      </p:cxnSp>
      <p:sp>
        <p:nvSpPr>
          <p:cNvPr id="24" name="TextBox 24">
            <a:extLst>
              <a:ext uri="{FF2B5EF4-FFF2-40B4-BE49-F238E27FC236}">
                <a16:creationId xmlns:a16="http://schemas.microsoft.com/office/drawing/2014/main" id="{326051E3-5842-4992-B3EA-85FA64447529}"/>
              </a:ext>
            </a:extLst>
          </p:cNvPr>
          <p:cNvSpPr txBox="1"/>
          <p:nvPr/>
        </p:nvSpPr>
        <p:spPr>
          <a:xfrm>
            <a:off x="4048125" y="2619375"/>
            <a:ext cx="4476750" cy="257175"/>
          </a:xfrm>
        </p:spPr>
        <p:txBody>
          <a:bodyPr wrap="square" rtlCol="0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E8742A"/>
                </a:solidFill>
                <a:latin typeface="Noto Sans CJK TC"/>
                <a:ea typeface="Noto Sans CJK TC"/>
              </a:rPr>
              <a:t>BYE / 200 OK：仍經既有的 SIP 路徑</a:t>
            </a:r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B3746C4-385D-4499-BB17-0A8DC6A30855}"/>
              </a:ext>
            </a:extLst>
          </p:cNvPr>
          <p:cNvSpPr/>
          <p:nvPr/>
        </p:nvSpPr>
        <p:spPr>
          <a:xfrm>
            <a:off x="1495425" y="3124200"/>
            <a:ext cx="95250" cy="95250"/>
          </a:xfrm>
          <a:prstGeom prst="ellipse">
            <a:avLst/>
          </a:prstGeom>
          <a:solidFill>
            <a:srgbClr val="E8742A"/>
          </a:solidFill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AAF3E36A-DF39-4A3B-A969-3E1918DF2BB0}"/>
              </a:ext>
            </a:extLst>
          </p:cNvPr>
          <p:cNvSpPr/>
          <p:nvPr/>
        </p:nvSpPr>
        <p:spPr>
          <a:xfrm>
            <a:off x="571500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① 接聽：向 5GC 申請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P-CSCF 讀 SDP，經 AF shim 送 N5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媒體用 5QI 1，信令維持 5QI 5</a:t>
            </a:r>
          </a:p>
        </p:txBody>
      </p:sp>
      <p:sp>
        <p:nvSpPr>
          <p:cNvPr id="27" name="Shape 27">
            <a:extLst>
              <a:ext uri="{FF2B5EF4-FFF2-40B4-BE49-F238E27FC236}">
                <a16:creationId xmlns:a16="http://schemas.microsoft.com/office/drawing/2014/main" id="{563744BA-324A-4A26-96CB-EBAB57E7C42B}"/>
              </a:ext>
            </a:extLst>
          </p:cNvPr>
          <p:cNvSpPr/>
          <p:nvPr/>
        </p:nvSpPr>
        <p:spPr>
          <a:xfrm>
            <a:off x="4352925" y="5105400"/>
            <a:ext cx="3495675" cy="981075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877B5"/>
                </a:solidFill>
                <a:latin typeface="Noto Sans CJK TC"/>
                <a:ea typeface="Noto Sans CJK TC"/>
              </a:rPr>
              <a:t>② 說話：RTP 雙向傳送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本專案在 UPF 內轉給另一個 UE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管通話，UPF 搬語音封包</a:t>
            </a:r>
          </a:p>
        </p:txBody>
      </p:sp>
      <p:sp>
        <p:nvSpPr>
          <p:cNvPr id="28" name="Shape 28">
            <a:extLst>
              <a:ext uri="{FF2B5EF4-FFF2-40B4-BE49-F238E27FC236}">
                <a16:creationId xmlns:a16="http://schemas.microsoft.com/office/drawing/2014/main" id="{1187B631-1605-431E-A67D-75C67CD786E2}"/>
              </a:ext>
            </a:extLst>
          </p:cNvPr>
          <p:cNvSpPr/>
          <p:nvPr/>
        </p:nvSpPr>
        <p:spPr>
          <a:xfrm>
            <a:off x="8134350" y="5105400"/>
            <a:ext cx="3495675" cy="981075"/>
          </a:xfrm>
          <a:prstGeom prst="roundRect">
            <a:avLst/>
          </a:prstGeom>
          <a:solidFill>
            <a:srgbClr val="FCEBDD"/>
          </a:solidFill>
          <a:ln w="12700">
            <a:solidFill>
              <a:srgbClr val="D5DAE1"/>
            </a:solidFill>
          </a:ln>
        </p:spPr>
        <p:txBody>
          <a:bodyPr wrap="square" rtlCol="0" lIns="0" tIns="0" rIns="0" bIns="0" anchor="ctr"/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E8742A"/>
                </a:solidFill>
                <a:latin typeface="Noto Sans CJK TC"/>
                <a:ea typeface="Noto Sans CJK TC"/>
              </a:rPr>
              <a:t>③ 掛斷：BYE 並釋放 QoS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結束通話，釋放兩端媒體預留</a:t>
            </a: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4213D"/>
                </a:solidFill>
                <a:latin typeface="Noto Sans CJK TC"/>
                <a:ea typeface="Noto Sans CJK TC"/>
              </a:rPr>
              <a:t>IMS 註冊與 PDU session 仍保留</a:t>
            </a: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5101EFD1-2F1B-4AA4-B2EF-3AAF36547CDB}"/>
              </a:ext>
            </a:extLst>
          </p:cNvPr>
          <p:cNvSpPr txBox="1"/>
          <p:nvPr/>
        </p:nvSpPr>
        <p:spPr>
          <a:xfrm>
            <a:off x="571500" y="6343650"/>
            <a:ext cx="11049000" cy="285750"/>
          </a:xfrm>
        </p:spPr>
        <p:txBody>
          <a:bodyPr wrap="square" rtlCol="0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5B6575"/>
                </a:solidFill>
                <a:latin typeface="Noto Sans CJK TC"/>
                <a:ea typeface="Noto Sans CJK TC"/>
              </a:rPr>
              <a:t>逐次點擊 3 次｜省略 gNB／N3；本 PoC 驗證 QoS 規則存在，未驗證 GBR 實際限速。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649" fill="hold">
                      <p:stCondLst>
                        <p:cond delay="indefinite"/>
                      </p:stCondLst>
                      <p:childTnLst>
                        <p:par>
                          <p:cTn id="2650" fill="hold">
                            <p:stCondLst>
                              <p:cond delay="0"/>
                            </p:stCondLst>
                            <p:childTnLst>
                              <p:par>
                                <p:cTn id="26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3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7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1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5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9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1796875 0.0000000 L 0.1796875 0.1430556 L -0.1640625 0.1430556 L -0.1640625 0.1791667 E" pathEditMode="relative">
                                      <p:cBhvr>
                                        <p:cTn id="2636" dur="2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37" presetID="1" presetClass="exit" presetSubtype="0" fill="hold" grpId="2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26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41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644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45" presetID="26" presetClass="emph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animScale>
                                      <p:cBhvr>
                                        <p:cTn id="2648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7" fill="hold">
                      <p:stCondLst>
                        <p:cond delay="indefinite"/>
                      </p:stCondLst>
                      <p:childTnLst>
                        <p:par>
                          <p:cTn id="2698" fill="hold">
                            <p:stCondLst>
                              <p:cond delay="0"/>
                            </p:stCondLst>
                            <p:childTnLst>
                              <p:par>
                                <p:cTn id="26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4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8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2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6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3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7468750 0.0000000 E" pathEditMode="relative">
                                      <p:cBhvr>
                                        <p:cTn id="2676" dur="2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7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-0.7468750 0.0000000 E" pathEditMode="relative">
                                      <p:cBhvr>
                                        <p:cTn id="2680" dur="2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81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5" presetID="1" presetClass="exit" presetSubtype="0" fill="hold" grpId="2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9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692" dur="21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693" presetID="26" presetClass="emph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animScale>
                                      <p:cBhvr>
                                        <p:cTn id="2696" dur="21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8" fill="hold">
                      <p:stCondLst>
                        <p:cond delay="indefinite"/>
                      </p:stCondLst>
                      <p:childTnLst>
                        <p:par>
                          <p:cTn id="2759" fill="hold">
                            <p:stCondLst>
                              <p:cond delay="0"/>
                            </p:stCondLst>
                            <p:childTnLst>
                              <p:par>
                                <p:cTn id="26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2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06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4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8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2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5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29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4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3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8" presetID="0" presetClass="path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00000 0.0000000 L 0.0000000 -0.0902778 L 0.7468750 -0.0902778 L 0.7468750 0.0000000 L 0.7468750 -0.0902778 L 0.0000000 -0.0902778 L 0.0000000 0.0000000 E" pathEditMode="relative">
                                      <p:cBhvr>
                                        <p:cTn id="2741" dur="28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42" presetID="1" presetClass="exit" presetSubtype="0" fill="hold" grpId="2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27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6" presetID="26" presetClass="emph" presetSubtype="0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49" dur="21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50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53" dur="21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  <p:par>
                                <p:cTn id="2754" presetID="26" presetClass="emph" presetSubtype="0" fill="hold" grpId="1" nodeType="withEffect">
                                  <p:stCondLst>
                                    <p:cond delay="3100"/>
                                  </p:stCondLst>
                                  <p:childTnLst>
                                    <p:animScale>
                                      <p:cBhvr>
                                        <p:cTn id="2757" dur="21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6000" y="106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/>
      <p:bldP spid="16" grpId="0"/>
      <p:bldP spid="17" grpId="0"/>
      <p:bldP spid="18" grpId="0"/>
      <p:bldP spid="19" grpId="0"/>
      <p:bldP spid="19" grpId="1"/>
      <p:bldP spid="19" grpId="2"/>
      <p:bldP spid="6" grpId="0"/>
      <p:bldP spid="8" grpId="0"/>
      <p:bldP spid="27" grpId="0"/>
      <p:bldP spid="10" grpId="0"/>
      <p:bldP spid="11" grpId="0"/>
      <p:bldP spid="12" grpId="0"/>
      <p:bldP spid="13" grpId="0"/>
      <p:bldP spid="14" grpId="0"/>
      <p:bldP spid="13" grpId="1"/>
      <p:bldP spid="14" grpId="1"/>
      <p:bldP spid="13" grpId="2"/>
      <p:bldP spid="14" grpId="2"/>
      <p:bldP spid="7" grpId="0"/>
      <p:bldP spid="9" grpId="0"/>
      <p:bldP spid="28" grpId="0"/>
      <p:bldP spid="20" grpId="0"/>
      <p:bldP spid="21" grpId="0"/>
      <p:bldP spid="22" grpId="0"/>
      <p:bldP spid="23" grpId="0"/>
      <p:bldP spid="24" grpId="0"/>
      <p:bldP spid="10" grpId="1"/>
      <p:bldP spid="11" grpId="1"/>
      <p:bldP spid="12" grpId="1"/>
      <p:bldP spid="25" grpId="0"/>
      <p:bldP spid="25" grpId="1"/>
      <p:bldP spid="25" grpId="2"/>
      <p:bldP spid="5" grpId="0"/>
      <p:bldP spid="6" grpId="1"/>
      <p:bldP spid="8" grpId="1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