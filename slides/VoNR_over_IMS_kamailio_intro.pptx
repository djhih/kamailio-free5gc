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4" r:id="rId30"/>
    <p:sldId id="267" r:id="rId13"/>
    <p:sldId id="268" r:id="rId14"/>
    <p:sldId id="269" r:id="rId15"/>
    <p:sldId id="270" r:id="rId16"/>
    <p:sldId id="271" r:id="rId17"/>
    <p:sldId id="272" r:id="rId18"/>
    <p:sldId id="285" r:id="rId31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D5BCC71-F063-4353-9763-89F6D6A53428}"/>
              </a:ext>
            </a:extLst>
          </p:cNvPr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5BD77C-B310-4FE4-938F-3B2228887AE8}"/>
              </a:ext>
            </a:extLst>
          </p:cNvPr>
          <p:cNvSpPr txBox="1"/>
          <p:nvPr/>
        </p:nvSpPr>
        <p:spPr>
          <a:xfrm>
            <a:off x="762000" y="1047750"/>
            <a:ext cx="59055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C9D3E0"/>
                </a:solidFill>
              </a:rPr>
              <a:t>5G 語音入門 · 2026-10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06DADBE-B2A4-42C1-B3B8-5B0FB3EC2AB6}"/>
              </a:ext>
            </a:extLst>
          </p:cNvPr>
          <p:cNvSpPr txBox="1"/>
          <p:nvPr/>
        </p:nvSpPr>
        <p:spPr>
          <a:xfrm>
            <a:off x="762000" y="1905000"/>
            <a:ext cx="62865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</a:rPr>
              <a:t>VoNR over IMS</a:t>
            </a:r>
          </a:p>
          <a:p>
            <a:pPr>
              <a:lnSpc>
                <a:spcPct val="105000"/>
              </a:lnSpc>
            </a:pPr>
            <a:r>
              <a:rPr sz="5400" b="1">
                <a:solidFill>
                  <a:srgbClr val="E8742A"/>
                </a:solidFill>
              </a:rPr>
              <a:t>× Kamailio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82C662B-8187-4C31-886C-A0B4D6D161E9}"/>
              </a:ext>
            </a:extLst>
          </p:cNvPr>
          <p:cNvSpPr txBox="1"/>
          <p:nvPr/>
        </p:nvSpPr>
        <p:spPr>
          <a:xfrm>
            <a:off x="762000" y="4191000"/>
            <a:ext cx="6096000" cy="4191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用 free5gc + Kamailio 跑一通 5G 語音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9CB442E-3B79-4BDF-B8B0-7828FD5B3844}"/>
              </a:ext>
            </a:extLst>
          </p:cNvPr>
          <p:cNvSpPr txBox="1"/>
          <p:nvPr/>
        </p:nvSpPr>
        <p:spPr>
          <a:xfrm>
            <a:off x="762000" y="4857750"/>
            <a:ext cx="6096000" cy="666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C9D3E0"/>
                </a:solidFill>
              </a:rPr>
              <a:t>IMS 基礎、kamailio-free5gc 的做法、NF 修改計畫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3B336EA-34BE-41AF-84A2-FA0EE175D70C}"/>
              </a:ext>
            </a:extLst>
          </p:cNvPr>
          <p:cNvSpPr txBox="1"/>
          <p:nvPr/>
        </p:nvSpPr>
        <p:spPr>
          <a:xfrm>
            <a:off x="7924800" y="1047750"/>
            <a:ext cx="381000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0B1B2E"/>
                </a:solidFill>
              </a:rPr>
              <a:t>專案組成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0353B6A-CAF4-435B-82D6-A062C58BEE1E}"/>
              </a:ext>
            </a:extLst>
          </p:cNvPr>
          <p:cNvSpPr/>
          <p:nvPr/>
        </p:nvSpPr>
        <p:spPr>
          <a:xfrm>
            <a:off x="7924800" y="1524000"/>
            <a:ext cx="3657600" cy="9144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2200" b="1">
                <a:solidFill>
                  <a:srgbClr val="0F4C81"/>
                </a:solidFill>
              </a:rPr>
              <a:t>  free5gc 4.2.3</a:t>
            </a:r>
          </a:p>
          <a:p>
            <a:pPr algn="l"/>
            <a:r>
              <a:rPr sz="1300">
                <a:solidFill>
                  <a:srgbClr val="5B6575"/>
                </a:solidFill>
              </a:rPr>
              <a:t>  5G Core（AMF / SMF / UPF / PCF …）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19C4869-541D-4F4E-8167-BF9D11989587}"/>
              </a:ext>
            </a:extLst>
          </p:cNvPr>
          <p:cNvSpPr/>
          <p:nvPr/>
        </p:nvSpPr>
        <p:spPr>
          <a:xfrm>
            <a:off x="7924800" y="2628900"/>
            <a:ext cx="3657600" cy="9144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2200" b="1">
                <a:solidFill>
                  <a:srgbClr val="E8742A"/>
                </a:solidFill>
              </a:rPr>
              <a:t>  Kamailio 6.1.4</a:t>
            </a:r>
          </a:p>
          <a:p>
            <a:pPr algn="l"/>
            <a:r>
              <a:rPr sz="1300">
                <a:solidFill>
                  <a:srgbClr val="5B6575"/>
                </a:solidFill>
              </a:rPr>
              <a:t>  P-CSCF / I-CSCF / S-CSCF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290BE89-421A-4686-A2B1-50BE238FEC7F}"/>
              </a:ext>
            </a:extLst>
          </p:cNvPr>
          <p:cNvSpPr/>
          <p:nvPr/>
        </p:nvSpPr>
        <p:spPr>
          <a:xfrm>
            <a:off x="7924800" y="3733800"/>
            <a:ext cx="3657600" cy="9144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2200" b="1">
                <a:solidFill>
                  <a:srgbClr val="E8742A"/>
                </a:solidFill>
              </a:rPr>
              <a:t>  PyHSS 2.0.0</a:t>
            </a:r>
          </a:p>
          <a:p>
            <a:pPr algn="l"/>
            <a:r>
              <a:rPr sz="1300">
                <a:solidFill>
                  <a:srgbClr val="5B6575"/>
                </a:solidFill>
              </a:rPr>
              <a:t>  IMS 用戶資料庫（Cx / Diameter）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1C1F391-855F-43DE-AC05-587938F16A23}"/>
              </a:ext>
            </a:extLst>
          </p:cNvPr>
          <p:cNvSpPr/>
          <p:nvPr/>
        </p:nvSpPr>
        <p:spPr>
          <a:xfrm>
            <a:off x="7924800" y="4838700"/>
            <a:ext cx="3657600" cy="9144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2200" b="1">
                <a:solidFill>
                  <a:srgbClr val="0F4C81"/>
                </a:solidFill>
              </a:rPr>
              <a:t>  free-ran-ue 2.5.0</a:t>
            </a:r>
          </a:p>
          <a:p>
            <a:pPr algn="l"/>
            <a:r>
              <a:rPr sz="1300">
                <a:solidFill>
                  <a:srgbClr val="5B6575"/>
                </a:solidFill>
              </a:rPr>
              <a:t>  模擬 gNB + UE，UE 內跑 SIPp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336ABF1-4B97-4C54-B15A-28A9DB242A17}"/>
              </a:ext>
            </a:extLst>
          </p:cNvPr>
          <p:cNvSpPr/>
          <p:nvPr/>
        </p:nvSpPr>
        <p:spPr>
          <a:xfrm>
            <a:off x="762000" y="1619250"/>
            <a:ext cx="5143500" cy="38100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BAD613E-8C1D-41AD-9499-4A1736164704}"/>
              </a:ext>
            </a:extLst>
          </p:cNvPr>
          <p:cNvSpPr/>
          <p:nvPr/>
        </p:nvSpPr>
        <p:spPr>
          <a:xfrm>
            <a:off x="6286500" y="1619250"/>
            <a:ext cx="5143500" cy="38100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2C55ACE-B378-45A5-A4A9-D589015C1499}"/>
              </a:ext>
            </a:extLst>
          </p:cNvPr>
          <p:cNvSpPr/>
          <p:nvPr/>
        </p:nvSpPr>
        <p:spPr>
          <a:xfrm>
            <a:off x="5829300" y="3276600"/>
            <a:ext cx="533400" cy="495300"/>
          </a:xfrm>
          <a:prstGeom prst="rightArrow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2D0C551-7A7E-4573-8F1A-A37AC36A972B}"/>
              </a:ext>
            </a:extLst>
          </p:cNvPr>
          <p:cNvSpPr txBox="1"/>
          <p:nvPr/>
        </p:nvSpPr>
        <p:spPr>
          <a:xfrm>
            <a:off x="762000" y="533400"/>
            <a:ext cx="106680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5GC 只管連線，不懂打電話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40F9391-8BDD-4E62-9B2E-147FE8DF578C}"/>
              </a:ext>
            </a:extLst>
          </p:cNvPr>
          <p:cNvSpPr txBox="1"/>
          <p:nvPr/>
        </p:nvSpPr>
        <p:spPr>
          <a:xfrm>
            <a:off x="1066800" y="1866900"/>
            <a:ext cx="45720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 b="1">
                <a:solidFill>
                  <a:srgbClr val="0F4C81"/>
                </a:solidFill>
              </a:rPr>
              <a:t>5GC 做的事：連線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548BFCF-D101-40CA-9EC9-A94EBA2ACFBA}"/>
              </a:ext>
            </a:extLst>
          </p:cNvPr>
          <p:cNvSpPr txBox="1"/>
          <p:nvPr/>
        </p:nvSpPr>
        <p:spPr>
          <a:xfrm>
            <a:off x="1066800" y="2438400"/>
            <a:ext cx="45720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認證能不能上網（5G-AKA）</a:t>
            </a:r>
            <a:br/>
            <a:r>
              <a:rPr sz="1300">
                <a:solidFill>
                  <a:srgbClr val="5B6575"/>
                </a:solidFill>
              </a:rPr>
              <a:t>AMF / AUSF / UDM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建立 PDU session、分配 IP</a:t>
            </a:r>
            <a:br/>
            <a:r>
              <a:rPr sz="1300">
                <a:solidFill>
                  <a:srgbClr val="5B6575"/>
                </a:solidFill>
              </a:rPr>
              <a:t>SMF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轉送封包</a:t>
            </a:r>
            <a:br/>
            <a:r>
              <a:rPr sz="1300">
                <a:solidFill>
                  <a:srgbClr val="5B6575"/>
                </a:solidFill>
              </a:rPr>
              <a:t>UPF</a:t>
            </a:r>
          </a:p>
          <a:p>
            <a:r>
              <a:rPr sz="1600" b="1">
                <a:solidFill>
                  <a:srgbClr val="14213D"/>
                </a:solidFill>
              </a:rPr>
              <a:t>決定 QoS 政策</a:t>
            </a:r>
            <a:br/>
            <a:r>
              <a:rPr sz="1300">
                <a:solidFill>
                  <a:srgbClr val="5B6575"/>
                </a:solidFill>
              </a:rPr>
              <a:t>PCF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8D233AF-37A0-4F13-8857-FAF4DDC76156}"/>
              </a:ext>
            </a:extLst>
          </p:cNvPr>
          <p:cNvSpPr txBox="1"/>
          <p:nvPr/>
        </p:nvSpPr>
        <p:spPr>
          <a:xfrm>
            <a:off x="6591300" y="1866900"/>
            <a:ext cx="45720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 b="1">
                <a:solidFill>
                  <a:srgbClr val="E8742A"/>
                </a:solidFill>
              </a:rPr>
              <a:t>打電話還缺：服務 → IMS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44F1DDD-3C07-4F9D-8773-163C1E7CF917}"/>
              </a:ext>
            </a:extLst>
          </p:cNvPr>
          <p:cNvSpPr txBox="1"/>
          <p:nvPr/>
        </p:nvSpPr>
        <p:spPr>
          <a:xfrm>
            <a:off x="6591300" y="2438400"/>
            <a:ext cx="45720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定址</a:t>
            </a:r>
            <a:br/>
            <a:r>
              <a:rPr sz="1300">
                <a:solidFill>
                  <a:srgbClr val="5B6575"/>
                </a:solidFill>
              </a:rPr>
              <a:t>這個號碼現在在哪個 IP？（註冊）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服務認證</a:t>
            </a:r>
            <a:br/>
            <a:r>
              <a:rPr sz="1300">
                <a:solidFill>
                  <a:srgbClr val="5B6575"/>
                </a:solidFill>
              </a:rPr>
              <a:t>有沒有權限用通話服務？（IMS AKA）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通話控制</a:t>
            </a:r>
            <a:br/>
            <a:r>
              <a:rPr sz="1300">
                <a:solidFill>
                  <a:srgbClr val="5B6575"/>
                </a:solidFill>
              </a:rPr>
              <a:t>響鈴、接聽、掛斷、轉接、保留</a:t>
            </a:r>
          </a:p>
          <a:p>
            <a:r>
              <a:rPr sz="1600" b="1">
                <a:solidFill>
                  <a:srgbClr val="14213D"/>
                </a:solidFill>
              </a:rPr>
              <a:t>向網路要語音 QoS</a:t>
            </a:r>
            <a:br/>
            <a:r>
              <a:rPr sz="1300">
                <a:solidFill>
                  <a:srgbClr val="5B6575"/>
                </a:solidFill>
              </a:rPr>
              <a:t>低延遲、保證頻寬（GBR）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1A4B76A-ACF6-4B49-94A9-10C97F855F5A}"/>
              </a:ext>
            </a:extLst>
          </p:cNvPr>
          <p:cNvSpPr txBox="1"/>
          <p:nvPr/>
        </p:nvSpPr>
        <p:spPr>
          <a:xfrm>
            <a:off x="762000" y="5753100"/>
            <a:ext cx="106680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4213D"/>
                </a:solidFill>
              </a:rPr>
              <a:t>VoLTE、VoNR 背後都是 IMS；</a:t>
            </a:r>
            <a:r>
              <a:rPr sz="1600">
                <a:solidFill>
                  <a:srgbClr val="5B6575"/>
                </a:solidFill>
              </a:rPr>
              <a:t>對 5GC 來說，它只是 N6 後面的一台 server。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4380D10-B2EE-43B1-872C-1ECCF58B0775}"/>
              </a:ext>
            </a:extLst>
          </p:cNvPr>
          <p:cNvSpPr/>
          <p:nvPr/>
        </p:nvSpPr>
        <p:spPr>
          <a:xfrm>
            <a:off x="6286500" y="666750"/>
            <a:ext cx="53340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1E11BD8-F83C-4103-B6D0-DFC380EBB7BF}"/>
              </a:ext>
            </a:extLst>
          </p:cNvPr>
          <p:cNvSpPr/>
          <p:nvPr/>
        </p:nvSpPr>
        <p:spPr>
          <a:xfrm>
            <a:off x="6286500" y="2495550"/>
            <a:ext cx="5334000" cy="18097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BD5532B-5838-4A4E-B474-11933F33BE36}"/>
              </a:ext>
            </a:extLst>
          </p:cNvPr>
          <p:cNvSpPr/>
          <p:nvPr/>
        </p:nvSpPr>
        <p:spPr>
          <a:xfrm>
            <a:off x="6286500" y="4514850"/>
            <a:ext cx="5334000" cy="18097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D00B4DA-9DEC-4E14-A223-5E6B99C83B73}"/>
              </a:ext>
            </a:extLst>
          </p:cNvPr>
          <p:cNvSpPr txBox="1"/>
          <p:nvPr/>
        </p:nvSpPr>
        <p:spPr>
          <a:xfrm>
            <a:off x="6553200" y="857250"/>
            <a:ext cx="4800600" cy="1238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4213D"/>
                </a:solidFill>
              </a:rPr>
              <a:t>服務層 Application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B6575"/>
                </a:solidFill>
              </a:rPr>
              <a:t>TAS 補充服務、語音信箱、會議</a:t>
            </a:r>
          </a:p>
          <a:p>
            <a:r>
              <a:rPr sz="1300" b="1">
                <a:solidFill>
                  <a:srgbClr val="E8742A"/>
                </a:solidFill>
              </a:rPr>
              <a:t>本專案沒有這一層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24C5665-F4E2-41FB-A052-7D091845EDA4}"/>
              </a:ext>
            </a:extLst>
          </p:cNvPr>
          <p:cNvSpPr txBox="1"/>
          <p:nvPr/>
        </p:nvSpPr>
        <p:spPr>
          <a:xfrm>
            <a:off x="6553200" y="2686050"/>
            <a:ext cx="4800600" cy="1428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控制層 Session Control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P / I / S-CSCF：SIP 註冊與路由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HSS：IMS 用戶資料庫</a:t>
            </a:r>
          </a:p>
          <a:p>
            <a:r>
              <a:rPr sz="1300" b="1">
                <a:solidFill>
                  <a:srgbClr val="0B1B2E"/>
                </a:solidFill>
              </a:rPr>
              <a:t>本專案：3 個 Kamailio + PyHSS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4F22FE1-FFDF-403D-8237-569678FDDBDE}"/>
              </a:ext>
            </a:extLst>
          </p:cNvPr>
          <p:cNvSpPr txBox="1"/>
          <p:nvPr/>
        </p:nvSpPr>
        <p:spPr>
          <a:xfrm>
            <a:off x="6553200" y="4686300"/>
            <a:ext cx="48006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接取層 Access：只負責把封包送到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1A13E603-F433-4473-B9C4-E29E51A157D4}"/>
              </a:ext>
            </a:extLst>
          </p:cNvPr>
          <p:cNvSpPr/>
          <p:nvPr/>
        </p:nvSpPr>
        <p:spPr>
          <a:xfrm>
            <a:off x="6553200" y="5257800"/>
            <a:ext cx="1524000" cy="8382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F4C81"/>
                </a:solidFill>
              </a:rPr>
              <a:t>5G NR + 5GC</a:t>
            </a:r>
          </a:p>
          <a:p>
            <a:pPr algn="ctr"/>
            <a:r>
              <a:rPr sz="1200">
                <a:solidFill>
                  <a:srgbClr val="E8742A"/>
                </a:solidFill>
              </a:rPr>
              <a:t>VoNR · 本專案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FC93F33-E4B0-4DEB-86B6-65D6907E8AD9}"/>
              </a:ext>
            </a:extLst>
          </p:cNvPr>
          <p:cNvSpPr/>
          <p:nvPr/>
        </p:nvSpPr>
        <p:spPr>
          <a:xfrm>
            <a:off x="8191500" y="5257800"/>
            <a:ext cx="1524000" cy="8382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F4C81"/>
                </a:solidFill>
              </a:rPr>
              <a:t>LTE + EPC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VoLTE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FF4239F-7341-4E8A-A67F-2F34BC6EB71A}"/>
              </a:ext>
            </a:extLst>
          </p:cNvPr>
          <p:cNvSpPr/>
          <p:nvPr/>
        </p:nvSpPr>
        <p:spPr>
          <a:xfrm>
            <a:off x="9829800" y="5257800"/>
            <a:ext cx="1524000" cy="8382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F4C81"/>
                </a:solidFill>
              </a:rPr>
              <a:t>Wi-Fi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VoWiFi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5AADEA5-6BC0-4528-890A-3939D3B34C65}"/>
              </a:ext>
            </a:extLst>
          </p:cNvPr>
          <p:cNvSpPr txBox="1"/>
          <p:nvPr/>
        </p:nvSpPr>
        <p:spPr>
          <a:xfrm>
            <a:off x="571500" y="571500"/>
            <a:ext cx="5334000" cy="1047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200" b="1">
                <a:solidFill>
                  <a:srgbClr val="14213D"/>
                </a:solidFill>
              </a:rPr>
              <a:t>IMS 是什麼？營運商自己的通話平台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B155F1F-B366-4555-8D5A-9B2F5638AA5B}"/>
              </a:ext>
            </a:extLst>
          </p:cNvPr>
          <p:cNvSpPr txBox="1"/>
          <p:nvPr/>
        </p:nvSpPr>
        <p:spPr>
          <a:xfrm>
            <a:off x="571500" y="1809750"/>
            <a:ext cx="53340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 b="1">
                <a:solidFill>
                  <a:srgbClr val="E8742A"/>
                </a:solidFill>
              </a:rPr>
              <a:t>IMS = IP Multimedia Subsystem</a:t>
            </a:r>
            <a:r>
              <a:rPr sz="1400">
                <a:solidFill>
                  <a:srgbClr val="5B6575"/>
                </a:solidFill>
              </a:rPr>
              <a:t>（IP 多媒體子系統）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A3032DF-A66C-4F98-8934-49989B6C05BC}"/>
              </a:ext>
            </a:extLst>
          </p:cNvPr>
          <p:cNvSpPr txBox="1"/>
          <p:nvPr/>
        </p:nvSpPr>
        <p:spPr>
          <a:xfrm>
            <a:off x="571500" y="2381250"/>
            <a:ext cx="5334000" cy="2190750"/>
          </a:xfrm>
        </p:spPr>
        <p:txBody>
          <a:bodyPr wrap="square" rtlCol="0" lIns="0" tIns="0" rIns="0" bIns="0" anchor="t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3GPP 定義、以 SIP 為核心的通話服務平台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與接取無關：同一套 IMS 服務 VoLTE、VoNR、VoWiFi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手機撥號器打的電話，在 4G／5G 上就是 IMS 的 SIP 通話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42B6F0F0-C025-4AB6-93D3-11C08B4AD3A7}"/>
              </a:ext>
            </a:extLst>
          </p:cNvPr>
          <p:cNvSpPr/>
          <p:nvPr/>
        </p:nvSpPr>
        <p:spPr>
          <a:xfrm>
            <a:off x="571500" y="4953000"/>
            <a:ext cx="5334000" cy="13716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742A"/>
                </a:solidFill>
              </a:rPr>
              <a:t>   比喻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4213D"/>
                </a:solidFill>
              </a:rPr>
              <a:t>   5GC 是公路，IMS 是電話公司的總機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9881155F-607C-4A5B-B82F-A24DF6BFFB41}"/>
              </a:ext>
            </a:extLst>
          </p:cNvPr>
          <p:cNvSpPr/>
          <p:nvPr/>
        </p:nvSpPr>
        <p:spPr>
          <a:xfrm>
            <a:off x="2857500" y="1333500"/>
            <a:ext cx="409575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C08F296-FAFD-43F1-9A63-F788F08CB4FB}"/>
              </a:ext>
            </a:extLst>
          </p:cNvPr>
          <p:cNvSpPr/>
          <p:nvPr/>
        </p:nvSpPr>
        <p:spPr>
          <a:xfrm>
            <a:off x="7143750" y="1333500"/>
            <a:ext cx="4381500" cy="41910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DDC6399-5DC0-4D46-8C1B-39238159BAB7}"/>
              </a:ext>
            </a:extLst>
          </p:cNvPr>
          <p:cNvSpPr/>
          <p:nvPr/>
        </p:nvSpPr>
        <p:spPr>
          <a:xfrm>
            <a:off x="666750" y="2609850"/>
            <a:ext cx="1085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CB64B52-9527-4F73-B869-28A924776274}"/>
              </a:ext>
            </a:extLst>
          </p:cNvPr>
          <p:cNvSpPr/>
          <p:nvPr/>
        </p:nvSpPr>
        <p:spPr>
          <a:xfrm>
            <a:off x="666750" y="3333750"/>
            <a:ext cx="1085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06F3F17-65AF-4E8D-84A1-DDC58FD3DBC4}"/>
              </a:ext>
            </a:extLst>
          </p:cNvPr>
          <p:cNvSpPr/>
          <p:nvPr/>
        </p:nvSpPr>
        <p:spPr>
          <a:xfrm>
            <a:off x="666750" y="4057650"/>
            <a:ext cx="1085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8745964-EB12-4415-8B07-8426A6643EAB}"/>
              </a:ext>
            </a:extLst>
          </p:cNvPr>
          <p:cNvSpPr/>
          <p:nvPr/>
        </p:nvSpPr>
        <p:spPr>
          <a:xfrm>
            <a:off x="666750" y="4781550"/>
            <a:ext cx="1085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FF784E3-3553-4B6B-BC89-5FDF18E30957}"/>
              </a:ext>
            </a:extLst>
          </p:cNvPr>
          <p:cNvSpPr txBox="1"/>
          <p:nvPr/>
        </p:nvSpPr>
        <p:spPr>
          <a:xfrm>
            <a:off x="666750" y="4762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為什麼不直接用 LINE 打就好？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7C67ABE-563E-4D28-B7C5-465A6F853882}"/>
              </a:ext>
            </a:extLst>
          </p:cNvPr>
          <p:cNvSpPr txBox="1"/>
          <p:nvPr/>
        </p:nvSpPr>
        <p:spPr>
          <a:xfrm>
            <a:off x="3086100" y="1524000"/>
            <a:ext cx="371475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700" b="1">
                <a:solidFill>
                  <a:srgbClr val="5B6575"/>
                </a:solidFill>
              </a:rPr>
              <a:t>OTT 通話（LINE、WhatsApp）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E640394-A219-4B3F-8579-D02990A84385}"/>
              </a:ext>
            </a:extLst>
          </p:cNvPr>
          <p:cNvSpPr txBox="1"/>
          <p:nvPr/>
        </p:nvSpPr>
        <p:spPr>
          <a:xfrm>
            <a:off x="7372350" y="1524000"/>
            <a:ext cx="40005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700" b="1">
                <a:solidFill>
                  <a:srgbClr val="E8742A"/>
                </a:solidFill>
              </a:rPr>
              <a:t>營運商 IMS 通話（VoNR）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481D719-F1F8-45DB-8650-82F293F2A3ED}"/>
              </a:ext>
            </a:extLst>
          </p:cNvPr>
          <p:cNvSpPr txBox="1"/>
          <p:nvPr/>
        </p:nvSpPr>
        <p:spPr>
          <a:xfrm>
            <a:off x="666750" y="20574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網路品質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0D90193-C58C-4EB0-B5F6-00EFE89CF10F}"/>
              </a:ext>
            </a:extLst>
          </p:cNvPr>
          <p:cNvSpPr txBox="1"/>
          <p:nvPr/>
        </p:nvSpPr>
        <p:spPr>
          <a:xfrm>
            <a:off x="3086100" y="20002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一般數據，跟下載搶頻寬（5QI 9）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08D9819-3435-4B20-A780-FBCE90F95225}"/>
              </a:ext>
            </a:extLst>
          </p:cNvPr>
          <p:cNvSpPr txBox="1"/>
          <p:nvPr/>
        </p:nvSpPr>
        <p:spPr>
          <a:xfrm>
            <a:off x="7372350" y="20002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保證頻寬的語音通道（5QI 1）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FDA6217-8252-43B9-B073-9CAEEC79D835}"/>
              </a:ext>
            </a:extLst>
          </p:cNvPr>
          <p:cNvSpPr txBox="1"/>
          <p:nvPr/>
        </p:nvSpPr>
        <p:spPr>
          <a:xfrm>
            <a:off x="666750" y="28194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怎麼認證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3C8D304-9C51-4813-A04D-6E71D80B52C5}"/>
              </a:ext>
            </a:extLst>
          </p:cNvPr>
          <p:cNvSpPr txBox="1"/>
          <p:nvPr/>
        </p:nvSpPr>
        <p:spPr>
          <a:xfrm>
            <a:off x="3086100" y="27622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App 帳號密碼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28CFC7C-319F-4B32-9275-8F7ABC1585AF}"/>
              </a:ext>
            </a:extLst>
          </p:cNvPr>
          <p:cNvSpPr txBox="1"/>
          <p:nvPr/>
        </p:nvSpPr>
        <p:spPr>
          <a:xfrm>
            <a:off x="7372350" y="27622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SIM 卡金鑰（IMS AKA）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8185BF1-FF63-449B-9E5F-82E2954B5BF9}"/>
              </a:ext>
            </a:extLst>
          </p:cNvPr>
          <p:cNvSpPr txBox="1"/>
          <p:nvPr/>
        </p:nvSpPr>
        <p:spPr>
          <a:xfrm>
            <a:off x="666750" y="35433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能打給誰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F3F428D-405F-4711-84D7-3E429ED27D25}"/>
              </a:ext>
            </a:extLst>
          </p:cNvPr>
          <p:cNvSpPr txBox="1"/>
          <p:nvPr/>
        </p:nvSpPr>
        <p:spPr>
          <a:xfrm>
            <a:off x="3086100" y="34861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只限同 App 使用者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1F0AFA6-E33B-4BF4-BDD4-BC54BC750EE1}"/>
              </a:ext>
            </a:extLst>
          </p:cNvPr>
          <p:cNvSpPr txBox="1"/>
          <p:nvPr/>
        </p:nvSpPr>
        <p:spPr>
          <a:xfrm>
            <a:off x="7372350" y="34861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任何電話號碼，可漫遊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05C8076-B97A-4474-B6F0-1243963454D3}"/>
              </a:ext>
            </a:extLst>
          </p:cNvPr>
          <p:cNvSpPr txBox="1"/>
          <p:nvPr/>
        </p:nvSpPr>
        <p:spPr>
          <a:xfrm>
            <a:off x="666750" y="42672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緊急電話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93A606E-1DDC-440E-B62A-00B72AB93736}"/>
              </a:ext>
            </a:extLst>
          </p:cNvPr>
          <p:cNvSpPr txBox="1"/>
          <p:nvPr/>
        </p:nvSpPr>
        <p:spPr>
          <a:xfrm>
            <a:off x="3086100" y="42100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不支援 112／119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CC7DD452-CA10-4833-BAA9-F56EBE7D00E1}"/>
              </a:ext>
            </a:extLst>
          </p:cNvPr>
          <p:cNvSpPr txBox="1"/>
          <p:nvPr/>
        </p:nvSpPr>
        <p:spPr>
          <a:xfrm>
            <a:off x="7372350" y="42100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支援且優先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FD8A418-9B6C-4AF1-A431-C55803E53E0C}"/>
              </a:ext>
            </a:extLst>
          </p:cNvPr>
          <p:cNvSpPr txBox="1"/>
          <p:nvPr/>
        </p:nvSpPr>
        <p:spPr>
          <a:xfrm>
            <a:off x="666750" y="49911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使用方式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AA48B6A-EF55-436E-A2FB-16CB4E0F79E6}"/>
              </a:ext>
            </a:extLst>
          </p:cNvPr>
          <p:cNvSpPr txBox="1"/>
          <p:nvPr/>
        </p:nvSpPr>
        <p:spPr>
          <a:xfrm>
            <a:off x="3086100" y="49339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另裝 App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158A1DE-4CB6-4E49-AF0B-D5B66235D33B}"/>
              </a:ext>
            </a:extLst>
          </p:cNvPr>
          <p:cNvSpPr txBox="1"/>
          <p:nvPr/>
        </p:nvSpPr>
        <p:spPr>
          <a:xfrm>
            <a:off x="7372350" y="49339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內建撥號器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76C380A-B543-4518-97DC-3E9B5B3EC91B}"/>
              </a:ext>
            </a:extLst>
          </p:cNvPr>
          <p:cNvSpPr txBox="1"/>
          <p:nvPr/>
        </p:nvSpPr>
        <p:spPr>
          <a:xfrm>
            <a:off x="666750" y="5810250"/>
            <a:ext cx="10858500" cy="476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 b="1">
                <a:solidFill>
                  <a:srgbClr val="E8742A"/>
                </a:solidFill>
              </a:rPr>
              <a:t>關鍵差別：</a:t>
            </a:r>
            <a:r>
              <a:rPr sz="1800">
                <a:solidFill>
                  <a:srgbClr val="14213D"/>
                </a:solidFill>
              </a:rPr>
              <a:t>網路知道這是通話，才能特別照顧它。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3C1D903-7FD4-402F-B19B-6BCC54BD9EA7}"/>
              </a:ext>
            </a:extLst>
          </p:cNvPr>
          <p:cNvSpPr/>
          <p:nvPr/>
        </p:nvSpPr>
        <p:spPr>
          <a:xfrm>
            <a:off x="762000" y="1676400"/>
            <a:ext cx="33528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79846CC-C81B-443C-926B-7F9FE32908B4}"/>
              </a:ext>
            </a:extLst>
          </p:cNvPr>
          <p:cNvSpPr/>
          <p:nvPr/>
        </p:nvSpPr>
        <p:spPr>
          <a:xfrm>
            <a:off x="4419600" y="1676400"/>
            <a:ext cx="33528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C6DDC01-327E-43C0-A0F2-57F3DE6F0A22}"/>
              </a:ext>
            </a:extLst>
          </p:cNvPr>
          <p:cNvSpPr/>
          <p:nvPr/>
        </p:nvSpPr>
        <p:spPr>
          <a:xfrm>
            <a:off x="8077200" y="1676400"/>
            <a:ext cx="3352800" cy="37147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5EAC660-D0BB-43B1-A20E-D53DADF78BCF}"/>
              </a:ext>
            </a:extLst>
          </p:cNvPr>
          <p:cNvSpPr txBox="1"/>
          <p:nvPr/>
        </p:nvSpPr>
        <p:spPr>
          <a:xfrm>
            <a:off x="762000" y="533400"/>
            <a:ext cx="106680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SIP 談、SDP 描述、RTP 傳聲音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F669F5A-2E5C-4E83-995F-AEE7568F2B68}"/>
              </a:ext>
            </a:extLst>
          </p:cNvPr>
          <p:cNvSpPr txBox="1"/>
          <p:nvPr/>
        </p:nvSpPr>
        <p:spPr>
          <a:xfrm>
            <a:off x="762000" y="1162050"/>
            <a:ext cx="10668000" cy="3048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信令走 proxy，聲音兩端直送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4D2F5B3-F52B-4D2F-8591-B44BD2896DF9}"/>
              </a:ext>
            </a:extLst>
          </p:cNvPr>
          <p:cNvSpPr txBox="1"/>
          <p:nvPr/>
        </p:nvSpPr>
        <p:spPr>
          <a:xfrm>
            <a:off x="1028700" y="1943100"/>
            <a:ext cx="2857500" cy="3238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SIP</a:t>
            </a:r>
          </a:p>
          <a:p>
            <a:pPr>
              <a:spcAft>
                <a:spcPts val="600"/>
              </a:spcAft>
            </a:pPr>
            <a:r>
              <a:rPr sz="1300" i="1">
                <a:solidFill>
                  <a:srgbClr val="5B6575"/>
                </a:solidFill>
              </a:rPr>
              <a:t>Session Initiation Protocol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742A"/>
                </a:solidFill>
              </a:rPr>
              <a:t>信令：誰打給誰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RFC 3261，純文字，長得像 HTTP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REGISTER、INVITE、ACK、BYE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經 P / I / S-CSCF 轉送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193BDB6-1AAE-410C-9917-0F818CDB912B}"/>
              </a:ext>
            </a:extLst>
          </p:cNvPr>
          <p:cNvSpPr txBox="1"/>
          <p:nvPr/>
        </p:nvSpPr>
        <p:spPr>
          <a:xfrm>
            <a:off x="4686300" y="1943100"/>
            <a:ext cx="2857500" cy="164084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SDP</a:t>
            </a:r>
          </a:p>
          <a:p>
            <a:pPr>
              <a:spcAft>
                <a:spcPts val="600"/>
              </a:spcAft>
            </a:pPr>
            <a:r>
              <a:rPr sz="1300" i="1">
                <a:solidFill>
                  <a:srgbClr val="5B6575"/>
                </a:solidFill>
              </a:rPr>
              <a:t>Session Description Protocol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742A"/>
                </a:solidFill>
              </a:rPr>
              <a:t>媒體描述：聲音送哪</a:t>
            </a:r>
          </a:p>
          <a:p>
            <a:r>
              <a:rPr sz="1400">
                <a:solidFill>
                  <a:srgbClr val="14213D"/>
                </a:solidFill>
              </a:rPr>
              <a:t>放在 SIP body，offer 與 answer 各一份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82FDCE6-1C56-41EE-8933-2686A8B2055E}"/>
              </a:ext>
            </a:extLst>
          </p:cNvPr>
          <p:cNvSpPr/>
          <p:nvPr/>
        </p:nvSpPr>
        <p:spPr>
          <a:xfrm>
            <a:off x="4686300" y="3619500"/>
            <a:ext cx="2819400" cy="1428750"/>
          </a:xfrm>
          <a:prstGeom prst="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14213D"/>
                </a:solidFill>
                <a:latin typeface="DejaVu Sans Mono"/>
                <a:ea typeface="DejaVu Sans Mono"/>
              </a:rPr>
              <a:t>  c=IN IP4 10.62.0.1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5B6575"/>
                </a:solidFill>
              </a:rPr>
              <a:t>    ← 聲音送到這個 IP</a:t>
            </a:r>
          </a:p>
          <a:p>
            <a:pPr algn="l"/>
            <a:r>
              <a:rPr sz="1300">
                <a:solidFill>
                  <a:srgbClr val="14213D"/>
                </a:solidFill>
                <a:latin typeface="DejaVu Sans Mono"/>
                <a:ea typeface="DejaVu Sans Mono"/>
              </a:rPr>
              <a:t>  m=audio 6000 RTP/AVP 0</a:t>
            </a:r>
          </a:p>
          <a:p>
            <a:pPr algn="l"/>
            <a:r>
              <a:rPr sz="1200">
                <a:solidFill>
                  <a:srgbClr val="5B6575"/>
                </a:solidFill>
              </a:rPr>
              <a:t>    ← port，codec 0 = PCMU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02C513B-DD61-4BF2-9C0D-267A0ECABAC9}"/>
              </a:ext>
            </a:extLst>
          </p:cNvPr>
          <p:cNvSpPr txBox="1"/>
          <p:nvPr/>
        </p:nvSpPr>
        <p:spPr>
          <a:xfrm>
            <a:off x="8343900" y="1943100"/>
            <a:ext cx="2857500" cy="3238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RTP</a:t>
            </a:r>
          </a:p>
          <a:p>
            <a:pPr>
              <a:spcAft>
                <a:spcPts val="600"/>
              </a:spcAft>
            </a:pPr>
            <a:r>
              <a:rPr sz="1300" i="1">
                <a:solidFill>
                  <a:srgbClr val="C9D3E0"/>
                </a:solidFill>
              </a:rPr>
              <a:t>Real-time Transport Protocol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742A"/>
                </a:solidFill>
              </a:rPr>
              <a:t>真正的語音封包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C9D3E0"/>
                </a:solidFill>
              </a:rPr>
              <a:t>接通後兩端直接互送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C9D3E0"/>
                </a:solidFill>
              </a:rPr>
              <a:t>不經過任何 CSCF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C9D3E0"/>
                </a:solidFill>
              </a:rPr>
              <a:t>本專案在 UPF 內轉給對方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6A5A1B6-2B0D-46BF-8352-301088ED6D76}"/>
              </a:ext>
            </a:extLst>
          </p:cNvPr>
          <p:cNvSpPr/>
          <p:nvPr/>
        </p:nvSpPr>
        <p:spPr>
          <a:xfrm>
            <a:off x="5715000" y="571500"/>
            <a:ext cx="5905500" cy="31432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C06AB74-A3C5-4DF4-97F3-00D1368E428A}"/>
              </a:ext>
            </a:extLst>
          </p:cNvPr>
          <p:cNvSpPr txBox="1"/>
          <p:nvPr/>
        </p:nvSpPr>
        <p:spPr>
          <a:xfrm>
            <a:off x="5943600" y="800100"/>
            <a:ext cx="55245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E8742A"/>
                </a:solidFill>
                <a:latin typeface="DejaVu Sans Mono"/>
                <a:ea typeface="DejaVu Sans Mono"/>
              </a:rPr>
              <a:t>① INVITE sip:208930000000002@ims.mnc093.mcc208.3gppnetwork.org SIP/2.0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② Via: SIP/2.0/UDP 10.62.0.1:5060;branch=z9hG4bK...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③ From: &lt;sip:208930000000001@ims...&gt;;tag=abc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   To: &lt;sip:208930000000002@ims...&gt;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   Call-ID: 12345@10.62.0.1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   CSeq: 1 INVITE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④ Contact: &lt;sip:208930000000001@10.62.0.1:5060&gt;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   Content-Type: application/sdp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9D3E0"/>
                </a:solidFill>
                <a:latin typeface="DejaVu Sans Mono"/>
                <a:ea typeface="DejaVu Sans Mono"/>
              </a:rPr>
              <a:t>⑤ v=0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9D3E0"/>
                </a:solidFill>
                <a:latin typeface="DejaVu Sans Mono"/>
                <a:ea typeface="DejaVu Sans Mono"/>
              </a:rPr>
              <a:t>   c=IN IP4 10.62.0.1        ← 聲音送到這個 IP</a:t>
            </a:r>
          </a:p>
          <a:p>
            <a:r>
              <a:rPr sz="1200">
                <a:solidFill>
                  <a:srgbClr val="C9D3E0"/>
                </a:solidFill>
                <a:latin typeface="DejaVu Sans Mono"/>
                <a:ea typeface="DejaVu Sans Mono"/>
              </a:rPr>
              <a:t>   m=audio 6000 RTP/AVP 0    ← port 6000，PCMU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20539CB-056B-419C-B921-BA1BAAE53C7A}"/>
              </a:ext>
            </a:extLst>
          </p:cNvPr>
          <p:cNvSpPr/>
          <p:nvPr/>
        </p:nvSpPr>
        <p:spPr>
          <a:xfrm>
            <a:off x="5715000" y="3905250"/>
            <a:ext cx="5905500" cy="16764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742A"/>
                </a:solidFill>
              </a:rPr>
              <a:t>   IMS 版 SIP（TS 24.229）多了什麼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4213D"/>
                </a:solidFill>
              </a:rPr>
              <a:t>   • Path / Service-Route：之後要經過的 proxy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4213D"/>
                </a:solidFill>
              </a:rPr>
              <a:t>   • P-Asserted-Identity：網路擔保的來電身分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4213D"/>
                </a:solidFill>
              </a:rPr>
              <a:t>   • P-Visited-Network-ID：漫遊政策用</a:t>
            </a:r>
          </a:p>
          <a:p>
            <a:pPr algn="l"/>
            <a:r>
              <a:rPr sz="1300">
                <a:solidFill>
                  <a:srgbClr val="14213D"/>
                </a:solidFill>
              </a:rPr>
              <a:t>   • Authorization：AKA 答案（HTTP Digest 格式）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0CD1E18-A9BC-4B16-BB75-2F91671ED9ED}"/>
              </a:ext>
            </a:extLst>
          </p:cNvPr>
          <p:cNvSpPr txBox="1"/>
          <p:nvPr/>
        </p:nvSpPr>
        <p:spPr>
          <a:xfrm>
            <a:off x="571500" y="533400"/>
            <a:ext cx="485775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拆開一則 SIP INVITE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3188637-B09B-44E8-B50E-214F5696FD98}"/>
              </a:ext>
            </a:extLst>
          </p:cNvPr>
          <p:cNvSpPr txBox="1"/>
          <p:nvPr/>
        </p:nvSpPr>
        <p:spPr>
          <a:xfrm>
            <a:off x="571500" y="1295400"/>
            <a:ext cx="4857750" cy="4286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E8742A"/>
                </a:solidFill>
              </a:rPr>
              <a:t>① Request line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動作＋對象（被叫的 IMPU），像 HTTP 的 GET 網址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② Via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回程路徑，每過一個 proxy 疊一層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③ From / To / Call-ID / CSeq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誰打給誰、是哪一通電話、這是第幾則訊息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④ Contact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之後找我的位址；註冊時 S-CSCF 記的就是它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0F4C81"/>
                </a:solidFill>
              </a:rPr>
              <a:t>⑤ 空行之後是 SDP body</a:t>
            </a:r>
          </a:p>
          <a:p>
            <a:r>
              <a:rPr sz="1400">
                <a:solidFill>
                  <a:srgbClr val="14213D"/>
                </a:solidFill>
              </a:rPr>
              <a:t>聲音的 IP、port、codec；P-CSCF 讀它來要 QoS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DE4F2D3-5C33-492D-81CE-AE4256DF0073}"/>
              </a:ext>
            </a:extLst>
          </p:cNvPr>
          <p:cNvSpPr/>
          <p:nvPr/>
        </p:nvSpPr>
        <p:spPr>
          <a:xfrm>
            <a:off x="571500" y="5810250"/>
            <a:ext cx="20574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100 Trying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處理中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97D44E2-3ECA-479B-BC46-F27EDE45EFD5}"/>
              </a:ext>
            </a:extLst>
          </p:cNvPr>
          <p:cNvSpPr/>
          <p:nvPr/>
        </p:nvSpPr>
        <p:spPr>
          <a:xfrm>
            <a:off x="2781300" y="5810250"/>
            <a:ext cx="20574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180 Ringing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響鈴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F52E620-5FED-4717-8E12-D0B1BAF2AF54}"/>
              </a:ext>
            </a:extLst>
          </p:cNvPr>
          <p:cNvSpPr/>
          <p:nvPr/>
        </p:nvSpPr>
        <p:spPr>
          <a:xfrm>
            <a:off x="4991100" y="5810250"/>
            <a:ext cx="2057400" cy="5905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E8742A"/>
                </a:solidFill>
              </a:rPr>
              <a:t>200 OK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接聽＋SDP answer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7C4B648-0EF4-4017-857A-D4D00770B194}"/>
              </a:ext>
            </a:extLst>
          </p:cNvPr>
          <p:cNvSpPr/>
          <p:nvPr/>
        </p:nvSpPr>
        <p:spPr>
          <a:xfrm>
            <a:off x="7200900" y="5810250"/>
            <a:ext cx="20574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401 Unauthorized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要先認證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1DBD564-77AF-46E4-8524-6C09A3E04D34}"/>
              </a:ext>
            </a:extLst>
          </p:cNvPr>
          <p:cNvSpPr/>
          <p:nvPr/>
        </p:nvSpPr>
        <p:spPr>
          <a:xfrm>
            <a:off x="9410700" y="5810250"/>
            <a:ext cx="22098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404 Not Found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找不到人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AAFC1B66-984F-4CD6-94B2-1097911F1223}"/>
              </a:ext>
            </a:extLst>
          </p:cNvPr>
          <p:cNvSpPr/>
          <p:nvPr/>
        </p:nvSpPr>
        <p:spPr>
          <a:xfrm>
            <a:off x="762000" y="1428750"/>
            <a:ext cx="52197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8A26A9F-457B-4562-A418-2B351759D454}"/>
              </a:ext>
            </a:extLst>
          </p:cNvPr>
          <p:cNvSpPr/>
          <p:nvPr/>
        </p:nvSpPr>
        <p:spPr>
          <a:xfrm>
            <a:off x="6210300" y="1428750"/>
            <a:ext cx="52197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067AB04-D315-4EAF-BE3B-1827582F0F00}"/>
              </a:ext>
            </a:extLst>
          </p:cNvPr>
          <p:cNvSpPr/>
          <p:nvPr/>
        </p:nvSpPr>
        <p:spPr>
          <a:xfrm>
            <a:off x="762000" y="3676650"/>
            <a:ext cx="52197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0F6F3E6-82A5-4C6F-8022-A82EA97A29B6}"/>
              </a:ext>
            </a:extLst>
          </p:cNvPr>
          <p:cNvSpPr/>
          <p:nvPr/>
        </p:nvSpPr>
        <p:spPr>
          <a:xfrm>
            <a:off x="6210300" y="3676650"/>
            <a:ext cx="5219700" cy="20574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BC415E3-CB6E-4117-B227-9ABF3DCBAF3F}"/>
              </a:ext>
            </a:extLst>
          </p:cNvPr>
          <p:cNvSpPr txBox="1"/>
          <p:nvPr/>
        </p:nvSpPr>
        <p:spPr>
          <a:xfrm>
            <a:off x="762000" y="476250"/>
            <a:ext cx="106680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IMS 核心：三種 CSCF + HSS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0549F35-6B51-449F-8003-C53F182D9358}"/>
              </a:ext>
            </a:extLst>
          </p:cNvPr>
          <p:cNvSpPr txBox="1"/>
          <p:nvPr/>
        </p:nvSpPr>
        <p:spPr>
          <a:xfrm>
            <a:off x="1028700" y="1619250"/>
            <a:ext cx="4724400" cy="1714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E8742A"/>
                </a:solidFill>
              </a:rPr>
              <a:t>P-CSCF</a:t>
            </a:r>
            <a:r>
              <a:rPr sz="1600">
                <a:solidFill>
                  <a:srgbClr val="5B6575"/>
                </a:solidFill>
              </a:rPr>
              <a:t>   門口接待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UE 的唯一入口（Gm）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註冊時加 Path，讓來電也繞回自己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扮演 AF，依 SDP 向 PCF 要 QoS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CB6AF02-967D-4418-BF9F-81CAA1A8DAEC}"/>
              </a:ext>
            </a:extLst>
          </p:cNvPr>
          <p:cNvSpPr txBox="1"/>
          <p:nvPr/>
        </p:nvSpPr>
        <p:spPr>
          <a:xfrm>
            <a:off x="6477000" y="1619250"/>
            <a:ext cx="4724400" cy="1714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E8742A"/>
                </a:solidFill>
              </a:rPr>
              <a:t>I-CSCF</a:t>
            </a:r>
            <a:r>
              <a:rPr sz="1600">
                <a:solidFill>
                  <a:srgbClr val="5B6575"/>
                </a:solidFill>
              </a:rPr>
              <a:t>   總機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網路入口，不存狀態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UAR：該由哪台 S-CSCF 服務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LIR：被叫在哪台 S-CSCF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D70CEBD-05DD-474D-9689-4712274568FD}"/>
              </a:ext>
            </a:extLst>
          </p:cNvPr>
          <p:cNvSpPr txBox="1"/>
          <p:nvPr/>
        </p:nvSpPr>
        <p:spPr>
          <a:xfrm>
            <a:off x="1028700" y="3867150"/>
            <a:ext cx="4724400" cy="1714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E8742A"/>
                </a:solidFill>
              </a:rPr>
              <a:t>S-CSCF</a:t>
            </a:r>
            <a:r>
              <a:rPr sz="1600">
                <a:solidFill>
                  <a:srgbClr val="5B6575"/>
                </a:solidFill>
              </a:rPr>
              <a:t>   專屬承辦人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MAR → 401 → IMS AKA 認證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SAR 登記並取回 profile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來電沿 Path 送回 P-CSCF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F8A65CB-A9B0-4CE3-8CEB-923A1CBDB422}"/>
              </a:ext>
            </a:extLst>
          </p:cNvPr>
          <p:cNvSpPr txBox="1"/>
          <p:nvPr/>
        </p:nvSpPr>
        <p:spPr>
          <a:xfrm>
            <a:off x="6477000" y="3867150"/>
            <a:ext cx="4724400" cy="1714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E8742A"/>
                </a:solidFill>
              </a:rPr>
              <a:t>HSS</a:t>
            </a:r>
            <a:r>
              <a:rPr sz="1600">
                <a:solidFill>
                  <a:srgbClr val="5B6575"/>
                </a:solidFill>
              </a:rPr>
              <a:t>   客戶資料室（PyHSS）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IMPI / IMPU 身分、金鑰、user profile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CSCF 經 Cx（Diameter）查詢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與 UDR 分開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6F55AE7-6E72-4365-BFD1-0EB1DBBD352B}"/>
              </a:ext>
            </a:extLst>
          </p:cNvPr>
          <p:cNvSpPr txBox="1"/>
          <p:nvPr/>
        </p:nvSpPr>
        <p:spPr>
          <a:xfrm>
            <a:off x="762000" y="6000750"/>
            <a:ext cx="106680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三個 CSCF 都是 Kamailio，只差在模組與 kamailio.cfg。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866334D-BF6E-49A2-AE47-C98DE4BE47B8}"/>
              </a:ext>
            </a:extLst>
          </p:cNvPr>
          <p:cNvSpPr/>
          <p:nvPr/>
        </p:nvSpPr>
        <p:spPr>
          <a:xfrm>
            <a:off x="6086475" y="2038350"/>
            <a:ext cx="19050" cy="3810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57C6C50-BFAB-47D8-92A1-5B424AA82322}"/>
              </a:ext>
            </a:extLst>
          </p:cNvPr>
          <p:cNvSpPr/>
          <p:nvPr/>
        </p:nvSpPr>
        <p:spPr>
          <a:xfrm>
            <a:off x="2343150" y="2419350"/>
            <a:ext cx="7505700" cy="190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2ADEAFB-C2F5-4E25-A1E0-81A2266D7FA7}"/>
              </a:ext>
            </a:extLst>
          </p:cNvPr>
          <p:cNvSpPr/>
          <p:nvPr/>
        </p:nvSpPr>
        <p:spPr>
          <a:xfrm>
            <a:off x="2343150" y="2419350"/>
            <a:ext cx="19050" cy="285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F4A2A92-A916-45A3-B023-3748A7641EC3}"/>
              </a:ext>
            </a:extLst>
          </p:cNvPr>
          <p:cNvSpPr/>
          <p:nvPr/>
        </p:nvSpPr>
        <p:spPr>
          <a:xfrm>
            <a:off x="6086475" y="2419350"/>
            <a:ext cx="19050" cy="285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337C660-E0BB-4423-B817-2DE33E97A759}"/>
              </a:ext>
            </a:extLst>
          </p:cNvPr>
          <p:cNvSpPr/>
          <p:nvPr/>
        </p:nvSpPr>
        <p:spPr>
          <a:xfrm>
            <a:off x="9829800" y="2419350"/>
            <a:ext cx="19050" cy="285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40B62C7-568B-44C2-80F7-E1C403AA434C}"/>
              </a:ext>
            </a:extLst>
          </p:cNvPr>
          <p:cNvSpPr/>
          <p:nvPr/>
        </p:nvSpPr>
        <p:spPr>
          <a:xfrm>
            <a:off x="3714750" y="1181100"/>
            <a:ext cx="4762500" cy="8572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IMSI  208930000000001</a:t>
            </a:r>
          </a:p>
          <a:p>
            <a:pPr algn="ctr"/>
            <a:r>
              <a:rPr sz="1300">
                <a:solidFill>
                  <a:srgbClr val="C9D3E0"/>
                </a:solidFill>
              </a:rPr>
              <a:t>MCC 208 + MNC 93 + 用戶編號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BC66667-4BA6-4028-ABFC-71118EBAB38E}"/>
              </a:ext>
            </a:extLst>
          </p:cNvPr>
          <p:cNvSpPr/>
          <p:nvPr/>
        </p:nvSpPr>
        <p:spPr>
          <a:xfrm>
            <a:off x="666750" y="2705100"/>
            <a:ext cx="3352800" cy="276225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A2BDD5A-3CD2-441F-8BED-C549191F8179}"/>
              </a:ext>
            </a:extLst>
          </p:cNvPr>
          <p:cNvSpPr/>
          <p:nvPr/>
        </p:nvSpPr>
        <p:spPr>
          <a:xfrm>
            <a:off x="4419600" y="2705100"/>
            <a:ext cx="3352800" cy="2762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11E18C8-BD64-423A-BA81-8AD4B8D25F9E}"/>
              </a:ext>
            </a:extLst>
          </p:cNvPr>
          <p:cNvSpPr/>
          <p:nvPr/>
        </p:nvSpPr>
        <p:spPr>
          <a:xfrm>
            <a:off x="8172450" y="2705100"/>
            <a:ext cx="3352800" cy="2762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696DA2B-1C51-4810-AD6A-26AE6793CA14}"/>
              </a:ext>
            </a:extLst>
          </p:cNvPr>
          <p:cNvSpPr txBox="1"/>
          <p:nvPr/>
        </p:nvSpPr>
        <p:spPr>
          <a:xfrm>
            <a:off x="666750" y="4381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一個 IMSI，三種身分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8CD8AB4-ABAD-47DD-9150-8E634C90225F}"/>
              </a:ext>
            </a:extLst>
          </p:cNvPr>
          <p:cNvSpPr txBox="1"/>
          <p:nvPr/>
        </p:nvSpPr>
        <p:spPr>
          <a:xfrm>
            <a:off x="895350" y="2895600"/>
            <a:ext cx="2895600" cy="2381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0F4C81"/>
                </a:solidFill>
              </a:rPr>
              <a:t>SUPI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13D"/>
                </a:solidFill>
              </a:rPr>
              <a:t>5G 核心網的身分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0F4C81"/>
                </a:solidFill>
                <a:latin typeface="DejaVu Sans Mono"/>
                <a:ea typeface="DejaVu Sans Mono"/>
              </a:rPr>
              <a:t>imsi-208930000000001</a:t>
            </a:r>
          </a:p>
          <a:p>
            <a:r>
              <a:rPr sz="1400">
                <a:solidFill>
                  <a:srgbClr val="5B6575"/>
                </a:solidFill>
              </a:rPr>
              <a:t>存在 UDR，5G 註冊用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09C6D04-DA7C-4B57-8BB8-1A92490B454E}"/>
              </a:ext>
            </a:extLst>
          </p:cNvPr>
          <p:cNvSpPr txBox="1"/>
          <p:nvPr/>
        </p:nvSpPr>
        <p:spPr>
          <a:xfrm>
            <a:off x="4648200" y="2895600"/>
            <a:ext cx="2895600" cy="2381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E8742A"/>
                </a:solidFill>
              </a:rPr>
              <a:t>IMPI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13D"/>
                </a:solidFill>
              </a:rPr>
              <a:t>IMS 私有身分 ≈ 帳號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742A"/>
                </a:solidFill>
                <a:latin typeface="DejaVu Sans Mono"/>
                <a:ea typeface="DejaVu Sans Mono"/>
              </a:rPr>
              <a:t>208930000000001@ims.mnc093.mcc208.3gppnetwork.org</a:t>
            </a:r>
          </a:p>
          <a:p>
            <a:r>
              <a:rPr sz="1400">
                <a:solidFill>
                  <a:srgbClr val="5B6575"/>
                </a:solidFill>
              </a:rPr>
              <a:t>綁認證金鑰，只有 HSS、S-CSCF 看得到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3827D56-C2DA-483C-B7DF-AAAECE7104B1}"/>
              </a:ext>
            </a:extLst>
          </p:cNvPr>
          <p:cNvSpPr txBox="1"/>
          <p:nvPr/>
        </p:nvSpPr>
        <p:spPr>
          <a:xfrm>
            <a:off x="8401050" y="2895600"/>
            <a:ext cx="2895600" cy="2381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E8742A"/>
                </a:solidFill>
              </a:rPr>
              <a:t>IMPU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13D"/>
                </a:solidFill>
              </a:rPr>
              <a:t>IMS 公開身分 ≈ 電話號碼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742A"/>
                </a:solidFill>
                <a:latin typeface="DejaVu Sans Mono"/>
                <a:ea typeface="DejaVu Sans Mono"/>
              </a:rPr>
              <a:t>sip:208930000000001@ims.mnc093.mcc208.3gppnetwork.org</a:t>
            </a:r>
          </a:p>
          <a:p>
            <a:r>
              <a:rPr sz="1400">
                <a:solidFill>
                  <a:srgbClr val="5B6575"/>
                </a:solidFill>
              </a:rPr>
              <a:t>別人撥的號碼，可以有多個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AFC5BD0-8375-4CEE-AB3A-F3301C13254C}"/>
              </a:ext>
            </a:extLst>
          </p:cNvPr>
          <p:cNvSpPr txBox="1"/>
          <p:nvPr/>
        </p:nvSpPr>
        <p:spPr>
          <a:xfrm>
            <a:off x="666750" y="5676900"/>
            <a:ext cx="10858500" cy="762000"/>
          </a:xfrm>
        </p:spPr>
        <p:txBody>
          <a:bodyPr wrap="square" rtlCol="0" lIns="0" tIns="0" rIns="0" bIns="0" anchor="t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無 ISIM 時依 TS 23.003 從 IMSI 推導（MNC 補成三位：mnc093）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UDR 與 PyHSS 各存一份金鑰、SQN 各自計數，所以要認證兩次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9531B0AE-30C9-4A23-A092-3DCCD6EE9BBC}"/>
              </a:ext>
            </a:extLst>
          </p:cNvPr>
          <p:cNvSpPr/>
          <p:nvPr/>
        </p:nvSpPr>
        <p:spPr>
          <a:xfrm>
            <a:off x="1695450" y="2124075"/>
            <a:ext cx="8801100" cy="38100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A7A2C77-DC72-4578-9FC0-28534C24349A}"/>
              </a:ext>
            </a:extLst>
          </p:cNvPr>
          <p:cNvSpPr/>
          <p:nvPr/>
        </p:nvSpPr>
        <p:spPr>
          <a:xfrm>
            <a:off x="1428750" y="1876425"/>
            <a:ext cx="533400" cy="533400"/>
          </a:xfrm>
          <a:prstGeom prst="ellipse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943C702-9A58-4FD0-9355-F778658D6F50}"/>
              </a:ext>
            </a:extLst>
          </p:cNvPr>
          <p:cNvSpPr/>
          <p:nvPr/>
        </p:nvSpPr>
        <p:spPr>
          <a:xfrm>
            <a:off x="3629025" y="1876425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4CFA3A4-C048-454B-A419-097C9E3889EF}"/>
              </a:ext>
            </a:extLst>
          </p:cNvPr>
          <p:cNvSpPr/>
          <p:nvPr/>
        </p:nvSpPr>
        <p:spPr>
          <a:xfrm>
            <a:off x="5829300" y="1876425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AA44B58-B965-4408-A9E2-1DD822F7B182}"/>
              </a:ext>
            </a:extLst>
          </p:cNvPr>
          <p:cNvSpPr/>
          <p:nvPr/>
        </p:nvSpPr>
        <p:spPr>
          <a:xfrm>
            <a:off x="8029575" y="1876425"/>
            <a:ext cx="533400" cy="533400"/>
          </a:xfrm>
          <a:prstGeom prst="ellipse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2327170-54C1-466E-9CE0-057D04305FC2}"/>
              </a:ext>
            </a:extLst>
          </p:cNvPr>
          <p:cNvSpPr/>
          <p:nvPr/>
        </p:nvSpPr>
        <p:spPr>
          <a:xfrm>
            <a:off x="10229850" y="1876425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38D0E1F-5914-4791-AA0B-5AAB9DBEB3F0}"/>
              </a:ext>
            </a:extLst>
          </p:cNvPr>
          <p:cNvSpPr/>
          <p:nvPr/>
        </p:nvSpPr>
        <p:spPr>
          <a:xfrm>
            <a:off x="666750" y="2667000"/>
            <a:ext cx="2057400" cy="27622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706040A-D0A2-4168-A8A3-93809F73BA2D}"/>
              </a:ext>
            </a:extLst>
          </p:cNvPr>
          <p:cNvSpPr/>
          <p:nvPr/>
        </p:nvSpPr>
        <p:spPr>
          <a:xfrm>
            <a:off x="2867025" y="2667000"/>
            <a:ext cx="2057400" cy="2762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958A18E-82ED-4B58-A71F-6C896D5BC7A8}"/>
              </a:ext>
            </a:extLst>
          </p:cNvPr>
          <p:cNvSpPr/>
          <p:nvPr/>
        </p:nvSpPr>
        <p:spPr>
          <a:xfrm>
            <a:off x="5067300" y="2667000"/>
            <a:ext cx="2057400" cy="2762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E81A2A29-E7DB-48DE-82F8-097A9E0A4ADD}"/>
              </a:ext>
            </a:extLst>
          </p:cNvPr>
          <p:cNvSpPr/>
          <p:nvPr/>
        </p:nvSpPr>
        <p:spPr>
          <a:xfrm>
            <a:off x="7267575" y="2667000"/>
            <a:ext cx="2057400" cy="276225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642A2EC-7DE9-452C-A601-D173BC2E4006}"/>
              </a:ext>
            </a:extLst>
          </p:cNvPr>
          <p:cNvSpPr/>
          <p:nvPr/>
        </p:nvSpPr>
        <p:spPr>
          <a:xfrm>
            <a:off x="9467850" y="2667000"/>
            <a:ext cx="2057400" cy="2762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2799616-AD68-4A83-8FAA-65E96C68A697}"/>
              </a:ext>
            </a:extLst>
          </p:cNvPr>
          <p:cNvSpPr txBox="1"/>
          <p:nvPr/>
        </p:nvSpPr>
        <p:spPr>
          <a:xfrm>
            <a:off x="666750" y="4762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IMS AKA：用 SIM 卡證明你是你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57CA362-AA93-428A-B2A4-60AC22F93BDF}"/>
              </a:ext>
            </a:extLst>
          </p:cNvPr>
          <p:cNvSpPr txBox="1"/>
          <p:nvPr/>
        </p:nvSpPr>
        <p:spPr>
          <a:xfrm>
            <a:off x="666750" y="11049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5B6575"/>
                </a:solidFill>
              </a:rPr>
              <a:t>像考試：只傳題目和答案，金鑰不上網；手機也會驗證網路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E805467-B4CD-4347-98AA-402D8C15E90A}"/>
              </a:ext>
            </a:extLst>
          </p:cNvPr>
          <p:cNvSpPr txBox="1"/>
          <p:nvPr/>
        </p:nvSpPr>
        <p:spPr>
          <a:xfrm>
            <a:off x="838200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</a:rPr>
              <a:t>前提：共享祕密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9D3E0"/>
                </a:solidFill>
              </a:rPr>
              <a:t>SIM 與 HSS 存同一把金鑰 K</a:t>
            </a:r>
          </a:p>
          <a:p>
            <a:r>
              <a:rPr sz="1300" b="1">
                <a:solidFill>
                  <a:srgbClr val="E8742A"/>
                </a:solidFill>
              </a:rPr>
              <a:t>K 不上網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1577F42-3A7D-4F7D-AB52-FD347D5BBC16}"/>
              </a:ext>
            </a:extLst>
          </p:cNvPr>
          <p:cNvSpPr txBox="1"/>
          <p:nvPr/>
        </p:nvSpPr>
        <p:spPr>
          <a:xfrm>
            <a:off x="3038475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13D"/>
                </a:solidFill>
              </a:rPr>
              <a:t>出題（MAR）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13D"/>
                </a:solidFill>
              </a:rPr>
              <a:t>S-CSCF 向 HSS 要向量：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>
                <a:solidFill>
                  <a:srgbClr val="14213D"/>
                </a:solidFill>
              </a:rPr>
              <a:t>RAND 隨機題目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>
                <a:solidFill>
                  <a:srgbClr val="14213D"/>
                </a:solidFill>
              </a:rPr>
              <a:t>AUTN 網路的證明</a:t>
            </a:r>
          </a:p>
          <a:p>
            <a:pPr marL="228600" indent="-228600">
              <a:buChar char="•"/>
            </a:pPr>
            <a:r>
              <a:rPr sz="1300">
                <a:solidFill>
                  <a:srgbClr val="14213D"/>
                </a:solidFill>
              </a:rPr>
              <a:t>XRES 標準答案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441B138-46C4-4ADB-98E9-4B3F939A4D5E}"/>
              </a:ext>
            </a:extLst>
          </p:cNvPr>
          <p:cNvSpPr txBox="1"/>
          <p:nvPr/>
        </p:nvSpPr>
        <p:spPr>
          <a:xfrm>
            <a:off x="5238750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13D"/>
                </a:solidFill>
              </a:rPr>
              <a:t>發題（401）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13D"/>
                </a:solidFill>
              </a:rPr>
              <a:t>401 帶 RAND + AUTN</a:t>
            </a:r>
          </a:p>
          <a:p>
            <a:r>
              <a:rPr sz="1300">
                <a:solidFill>
                  <a:srgbClr val="5B6575"/>
                </a:solidFill>
              </a:rPr>
              <a:t>XRES 不送出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B3DEF6B-0990-4019-A0EC-A92A2BD69623}"/>
              </a:ext>
            </a:extLst>
          </p:cNvPr>
          <p:cNvSpPr txBox="1"/>
          <p:nvPr/>
        </p:nvSpPr>
        <p:spPr>
          <a:xfrm>
            <a:off x="7439025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4C81"/>
                </a:solidFill>
              </a:rPr>
              <a:t>作答（UE）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13D"/>
                </a:solidFill>
              </a:rPr>
              <a:t>SIM 驗 AUTN，假網路就拒絕</a:t>
            </a:r>
          </a:p>
          <a:p>
            <a:r>
              <a:rPr sz="1300">
                <a:solidFill>
                  <a:srgbClr val="14213D"/>
                </a:solidFill>
              </a:rPr>
              <a:t>再算出答案 RES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E020BBF-6103-4974-84EA-AB1850F33DB0}"/>
              </a:ext>
            </a:extLst>
          </p:cNvPr>
          <p:cNvSpPr txBox="1"/>
          <p:nvPr/>
        </p:nvSpPr>
        <p:spPr>
          <a:xfrm>
            <a:off x="9639300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E8742A"/>
                </a:solidFill>
              </a:rPr>
              <a:t>對答案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13D"/>
                </a:solidFill>
              </a:rPr>
              <a:t>REGISTER 帶 RES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13D"/>
                </a:solidFill>
              </a:rPr>
              <a:t>S-CSCF 比對 RES = XRES</a:t>
            </a:r>
          </a:p>
          <a:p>
            <a:r>
              <a:rPr sz="1300" b="1">
                <a:solidFill>
                  <a:srgbClr val="14213D"/>
                </a:solidFill>
              </a:rPr>
              <a:t>通過 → SAR → 200 OK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26470F2-7217-4E18-ACC0-19A19AAB48D8}"/>
              </a:ext>
            </a:extLst>
          </p:cNvPr>
          <p:cNvSpPr txBox="1"/>
          <p:nvPr/>
        </p:nvSpPr>
        <p:spPr>
          <a:xfrm>
            <a:off x="666750" y="5715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4213D"/>
                </a:solidFill>
              </a:rPr>
              <a:t>技術名詞：</a:t>
            </a:r>
            <a:r>
              <a:rPr sz="1400">
                <a:solidFill>
                  <a:srgbClr val="5B6575"/>
                </a:solidFill>
              </a:rPr>
              <a:t>Milenage；SIP 中稱 AKAv1-MD5。SQN 不同步時 UE 回 AUTS，觸發重新同步。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49B33F4-4BD8-4FDC-BAE2-FE59AEF4515A}"/>
              </a:ext>
            </a:extLst>
          </p:cNvPr>
          <p:cNvSpPr/>
          <p:nvPr/>
        </p:nvSpPr>
        <p:spPr>
          <a:xfrm>
            <a:off x="4000500" y="1123950"/>
            <a:ext cx="7620000" cy="2114550"/>
          </a:xfrm>
          <a:prstGeom prst="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F8D85F9-7DDD-4495-BB2E-CCB56B19ACF4}"/>
              </a:ext>
            </a:extLst>
          </p:cNvPr>
          <p:cNvSpPr/>
          <p:nvPr/>
        </p:nvSpPr>
        <p:spPr>
          <a:xfrm>
            <a:off x="4000500" y="3448050"/>
            <a:ext cx="7620000" cy="1905000"/>
          </a:xfrm>
          <a:prstGeom prst="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12D3755-E205-40D4-AFA7-41F3FBA8BF22}"/>
              </a:ext>
            </a:extLst>
          </p:cNvPr>
          <p:cNvSpPr/>
          <p:nvPr/>
        </p:nvSpPr>
        <p:spPr>
          <a:xfrm>
            <a:off x="44672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2BDA43B-A854-4D79-9836-8A89CECE15AF}"/>
              </a:ext>
            </a:extLst>
          </p:cNvPr>
          <p:cNvSpPr/>
          <p:nvPr/>
        </p:nvSpPr>
        <p:spPr>
          <a:xfrm>
            <a:off x="61817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3A3E8EF-92D1-4EDB-A195-FA9FF296F092}"/>
              </a:ext>
            </a:extLst>
          </p:cNvPr>
          <p:cNvSpPr/>
          <p:nvPr/>
        </p:nvSpPr>
        <p:spPr>
          <a:xfrm>
            <a:off x="78962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3A0E634-3AF9-41CF-9C00-B888A67E2E1A}"/>
              </a:ext>
            </a:extLst>
          </p:cNvPr>
          <p:cNvSpPr/>
          <p:nvPr/>
        </p:nvSpPr>
        <p:spPr>
          <a:xfrm>
            <a:off x="96107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94BD6E7-EB75-42DD-9098-C98BB9E98311}"/>
              </a:ext>
            </a:extLst>
          </p:cNvPr>
          <p:cNvSpPr/>
          <p:nvPr/>
        </p:nvSpPr>
        <p:spPr>
          <a:xfrm>
            <a:off x="111347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587D05D-0969-4F79-A367-419A9F9FBB7E}"/>
              </a:ext>
            </a:extLst>
          </p:cNvPr>
          <p:cNvSpPr/>
          <p:nvPr/>
        </p:nvSpPr>
        <p:spPr>
          <a:xfrm>
            <a:off x="4000500" y="571500"/>
            <a:ext cx="952500" cy="381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UE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49F3577-ED69-4054-8CBD-52F6001EA510}"/>
              </a:ext>
            </a:extLst>
          </p:cNvPr>
          <p:cNvSpPr/>
          <p:nvPr/>
        </p:nvSpPr>
        <p:spPr>
          <a:xfrm>
            <a:off x="57150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P-CSCF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EAC600F-8D26-4446-A456-C50637CE0222}"/>
              </a:ext>
            </a:extLst>
          </p:cNvPr>
          <p:cNvSpPr/>
          <p:nvPr/>
        </p:nvSpPr>
        <p:spPr>
          <a:xfrm>
            <a:off x="74295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I-CSCF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CBE9056-C7C1-4321-A4C4-A15FDAFACDA4}"/>
              </a:ext>
            </a:extLst>
          </p:cNvPr>
          <p:cNvSpPr/>
          <p:nvPr/>
        </p:nvSpPr>
        <p:spPr>
          <a:xfrm>
            <a:off x="91440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S-CSCF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18C048F-DB80-44AC-9558-70A6C917F224}"/>
              </a:ext>
            </a:extLst>
          </p:cNvPr>
          <p:cNvSpPr/>
          <p:nvPr/>
        </p:nvSpPr>
        <p:spPr>
          <a:xfrm>
            <a:off x="10706100" y="571500"/>
            <a:ext cx="876300" cy="3810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HSS</a:t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3D627CCD-C015-4312-B502-431C7D17B31D}"/>
              </a:ext>
            </a:extLst>
          </p:cNvPr>
          <p:cNvCxnSpPr/>
          <p:nvPr/>
        </p:nvCxnSpPr>
        <p:spPr>
          <a:xfrm>
            <a:off x="4476750" y="1428750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F40A734E-4B94-4524-A022-E58FD71BB534}"/>
              </a:ext>
            </a:extLst>
          </p:cNvPr>
          <p:cNvCxnSpPr/>
          <p:nvPr/>
        </p:nvCxnSpPr>
        <p:spPr>
          <a:xfrm>
            <a:off x="6191250" y="176212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FABEC2A9-0A52-4BAB-9D02-70B404AA3E2F}"/>
              </a:ext>
            </a:extLst>
          </p:cNvPr>
          <p:cNvCxnSpPr/>
          <p:nvPr/>
        </p:nvCxnSpPr>
        <p:spPr>
          <a:xfrm>
            <a:off x="7905750" y="2095500"/>
            <a:ext cx="3238500" cy="9525"/>
          </a:xfrm>
          <a:prstGeom prst="straightConnector1">
            <a:avLst/>
          </a:prstGeom>
          <a:ln w="19050" cap="flat">
            <a:solidFill>
              <a:srgbClr val="0F4C81"/>
            </a:solidFill>
            <a:tailEnd type="triangle" w="med" len="med"/>
          </a:ln>
        </p:spPr>
      </p:cxn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FD7EAEF4-1E0B-4BB5-82F3-82B2E1EE499B}"/>
              </a:ext>
            </a:extLst>
          </p:cNvPr>
          <p:cNvCxnSpPr/>
          <p:nvPr/>
        </p:nvCxnSpPr>
        <p:spPr>
          <a:xfrm>
            <a:off x="7905750" y="242887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9" name="Straight Connector 19">
            <a:extLst>
              <a:ext uri="{FF2B5EF4-FFF2-40B4-BE49-F238E27FC236}">
                <a16:creationId xmlns:a16="http://schemas.microsoft.com/office/drawing/2014/main" id="{1C51AFA3-139A-4769-AB9C-40A487C0FD91}"/>
              </a:ext>
            </a:extLst>
          </p:cNvPr>
          <p:cNvCxnSpPr/>
          <p:nvPr/>
        </p:nvCxnSpPr>
        <p:spPr>
          <a:xfrm>
            <a:off x="9620250" y="2762250"/>
            <a:ext cx="1524000" cy="9525"/>
          </a:xfrm>
          <a:prstGeom prst="straightConnector1">
            <a:avLst/>
          </a:prstGeom>
          <a:ln w="19050" cap="flat">
            <a:solidFill>
              <a:srgbClr val="0F4C81"/>
            </a:solidFill>
            <a:tailEnd type="triangle" w="med" len="med"/>
          </a:ln>
        </p:spPr>
      </p:cxn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7FA43639-482F-4962-9E7B-B79E784B3C53}"/>
              </a:ext>
            </a:extLst>
          </p:cNvPr>
          <p:cNvCxnSpPr/>
          <p:nvPr/>
        </p:nvCxnSpPr>
        <p:spPr>
          <a:xfrm flipH="1">
            <a:off x="4476750" y="3124200"/>
            <a:ext cx="5143500" cy="9525"/>
          </a:xfrm>
          <a:prstGeom prst="straightConnector1">
            <a:avLst/>
          </a:prstGeom>
          <a:ln w="2540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8CA3CB82-BEFA-4FAE-9C02-9171F8B65CFB}"/>
              </a:ext>
            </a:extLst>
          </p:cNvPr>
          <p:cNvCxnSpPr/>
          <p:nvPr/>
        </p:nvCxnSpPr>
        <p:spPr>
          <a:xfrm>
            <a:off x="4476750" y="376237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155190B0-C232-49FB-9597-89D20B93B27E}"/>
              </a:ext>
            </a:extLst>
          </p:cNvPr>
          <p:cNvCxnSpPr/>
          <p:nvPr/>
        </p:nvCxnSpPr>
        <p:spPr>
          <a:xfrm>
            <a:off x="6191250" y="4095750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79D4ECF8-77E4-47E6-9067-15F9FE316D86}"/>
              </a:ext>
            </a:extLst>
          </p:cNvPr>
          <p:cNvCxnSpPr/>
          <p:nvPr/>
        </p:nvCxnSpPr>
        <p:spPr>
          <a:xfrm>
            <a:off x="7905750" y="442912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24" name="Straight Connector 24">
            <a:extLst>
              <a:ext uri="{FF2B5EF4-FFF2-40B4-BE49-F238E27FC236}">
                <a16:creationId xmlns:a16="http://schemas.microsoft.com/office/drawing/2014/main" id="{8024CE2F-A480-4872-A597-01883CD2D815}"/>
              </a:ext>
            </a:extLst>
          </p:cNvPr>
          <p:cNvCxnSpPr/>
          <p:nvPr/>
        </p:nvCxnSpPr>
        <p:spPr>
          <a:xfrm>
            <a:off x="9620250" y="4762500"/>
            <a:ext cx="1524000" cy="9525"/>
          </a:xfrm>
          <a:prstGeom prst="straightConnector1">
            <a:avLst/>
          </a:prstGeom>
          <a:ln w="19050" cap="flat">
            <a:solidFill>
              <a:srgbClr val="0F4C81"/>
            </a:solidFill>
            <a:tailEnd type="triangle" w="med" len="med"/>
          </a:ln>
        </p:spPr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E6C7EABA-22E6-4757-852A-BE9FFF3D062F}"/>
              </a:ext>
            </a:extLst>
          </p:cNvPr>
          <p:cNvCxnSpPr/>
          <p:nvPr/>
        </p:nvCxnSpPr>
        <p:spPr>
          <a:xfrm flipH="1">
            <a:off x="4476750" y="5191125"/>
            <a:ext cx="5143500" cy="9525"/>
          </a:xfrm>
          <a:prstGeom prst="straightConnector1">
            <a:avLst/>
          </a:prstGeom>
          <a:ln w="25400" cap="flat">
            <a:solidFill>
              <a:srgbClr val="E8742A"/>
            </a:solidFill>
            <a:tailEnd type="triangle" w="med" len="med"/>
          </a:ln>
        </p:spPr>
      </p:cxnSp>
      <p:sp>
        <p:nvSpPr>
          <p:cNvPr id="26" name="Shape 26">
            <a:extLst>
              <a:ext uri="{FF2B5EF4-FFF2-40B4-BE49-F238E27FC236}">
                <a16:creationId xmlns:a16="http://schemas.microsoft.com/office/drawing/2014/main" id="{75E66FCA-7032-46B1-B494-77BE8EAC4878}"/>
              </a:ext>
            </a:extLst>
          </p:cNvPr>
          <p:cNvSpPr/>
          <p:nvPr/>
        </p:nvSpPr>
        <p:spPr>
          <a:xfrm>
            <a:off x="5334000" y="5448300"/>
            <a:ext cx="20955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42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14213D"/>
                </a:solidFill>
              </a:rPr>
              <a:t>記下 IMPU ↔ contact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6F65B13-1ECF-46D2-8BE0-79320507CBCD}"/>
              </a:ext>
            </a:extLst>
          </p:cNvPr>
          <p:cNvSpPr txBox="1"/>
          <p:nvPr/>
        </p:nvSpPr>
        <p:spPr>
          <a:xfrm>
            <a:off x="4533900" y="1200150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REGISTER（無憑證）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F79C6A1-FBD4-4410-88F5-8BED11589F32}"/>
              </a:ext>
            </a:extLst>
          </p:cNvPr>
          <p:cNvSpPr txBox="1"/>
          <p:nvPr/>
        </p:nvSpPr>
        <p:spPr>
          <a:xfrm>
            <a:off x="6248400" y="153352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 + Path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A818E2E-FE14-4F7F-AED5-562ABD0C717C}"/>
              </a:ext>
            </a:extLst>
          </p:cNvPr>
          <p:cNvSpPr txBox="1"/>
          <p:nvPr/>
        </p:nvSpPr>
        <p:spPr>
          <a:xfrm>
            <a:off x="7962900" y="1866900"/>
            <a:ext cx="3143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 b="1">
                <a:solidFill>
                  <a:srgbClr val="0F4C81"/>
                </a:solidFill>
              </a:rPr>
              <a:t>UAR / UAA：該給哪台 S-CSCF？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FB274C0-1932-4291-AA67-ABA76B3BE438}"/>
              </a:ext>
            </a:extLst>
          </p:cNvPr>
          <p:cNvSpPr txBox="1"/>
          <p:nvPr/>
        </p:nvSpPr>
        <p:spPr>
          <a:xfrm>
            <a:off x="7962900" y="220027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95DE1C4B-AE24-4805-AE35-E5C55574F17F}"/>
              </a:ext>
            </a:extLst>
          </p:cNvPr>
          <p:cNvSpPr txBox="1"/>
          <p:nvPr/>
        </p:nvSpPr>
        <p:spPr>
          <a:xfrm>
            <a:off x="9658350" y="2533650"/>
            <a:ext cx="14287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 b="1">
                <a:solidFill>
                  <a:srgbClr val="0F4C81"/>
                </a:solidFill>
              </a:rPr>
              <a:t>MAR / MAA 向量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D90D2846-711A-4247-85AC-1A0E70119C57}"/>
              </a:ext>
            </a:extLst>
          </p:cNvPr>
          <p:cNvSpPr txBox="1"/>
          <p:nvPr/>
        </p:nvSpPr>
        <p:spPr>
          <a:xfrm>
            <a:off x="4533900" y="2876550"/>
            <a:ext cx="5048250" cy="2095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742A"/>
                </a:solidFill>
              </a:rPr>
              <a:t>401 Unauthorized（RAND, AUTN）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C0A8BCCE-268D-47E0-ACED-808FF735F9DC}"/>
              </a:ext>
            </a:extLst>
          </p:cNvPr>
          <p:cNvSpPr txBox="1"/>
          <p:nvPr/>
        </p:nvSpPr>
        <p:spPr>
          <a:xfrm>
            <a:off x="4533900" y="353377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REGISTER（帶 RES）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7D1C7DD9-09F6-419D-B955-D8176B95D09F}"/>
              </a:ext>
            </a:extLst>
          </p:cNvPr>
          <p:cNvSpPr txBox="1"/>
          <p:nvPr/>
        </p:nvSpPr>
        <p:spPr>
          <a:xfrm>
            <a:off x="6248400" y="3867150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D4F5F388-CAFB-4F32-8746-582E8A5AD833}"/>
              </a:ext>
            </a:extLst>
          </p:cNvPr>
          <p:cNvSpPr txBox="1"/>
          <p:nvPr/>
        </p:nvSpPr>
        <p:spPr>
          <a:xfrm>
            <a:off x="7962900" y="420052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REGISTER（不必再 UAR）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21A17D0E-9AF2-423C-9BEF-B5CE6BE09243}"/>
              </a:ext>
            </a:extLst>
          </p:cNvPr>
          <p:cNvSpPr txBox="1"/>
          <p:nvPr/>
        </p:nvSpPr>
        <p:spPr>
          <a:xfrm>
            <a:off x="9658350" y="4533900"/>
            <a:ext cx="14287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 b="1">
                <a:solidFill>
                  <a:srgbClr val="0F4C81"/>
                </a:solidFill>
              </a:rPr>
              <a:t>SAR / SAA profile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9156D96E-6ED4-4FD7-8107-D62CB2FB22F7}"/>
              </a:ext>
            </a:extLst>
          </p:cNvPr>
          <p:cNvSpPr txBox="1"/>
          <p:nvPr/>
        </p:nvSpPr>
        <p:spPr>
          <a:xfrm>
            <a:off x="4533900" y="4943475"/>
            <a:ext cx="5048250" cy="2095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742A"/>
                </a:solidFill>
              </a:rPr>
              <a:t>200 OK：註冊完成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02991A88-71D8-419B-8D2D-B74C660F7729}"/>
              </a:ext>
            </a:extLst>
          </p:cNvPr>
          <p:cNvSpPr txBox="1"/>
          <p:nvPr/>
        </p:nvSpPr>
        <p:spPr>
          <a:xfrm>
            <a:off x="476250" y="533400"/>
            <a:ext cx="34290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14213D"/>
                </a:solidFill>
              </a:rPr>
              <a:t>IMS 註冊的訊息階梯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00FEDA8D-D08F-4440-BA94-BEBF3972854A}"/>
              </a:ext>
            </a:extLst>
          </p:cNvPr>
          <p:cNvSpPr txBox="1"/>
          <p:nvPr/>
        </p:nvSpPr>
        <p:spPr>
          <a:xfrm>
            <a:off x="476250" y="1714500"/>
            <a:ext cx="3238500" cy="457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F4C81"/>
                </a:solidFill>
              </a:rPr>
              <a:t>藍底：第 1 回合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不帶憑證，只為換到 401 題目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E8742A"/>
                </a:solidFill>
              </a:rPr>
              <a:t>橘底：第 2 回合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帶 RES 再送；對了就 SAR 登記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213D"/>
                </a:solidFill>
              </a:rPr>
              <a:t>Path 為什麼重要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來電靠它繞回 P-CSCF；少了它，被叫端無法要 QoS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ree5GC 接 IMS：資料路徑與政策控制"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438150" y="247650"/>
            <a:ext cx="11334750" cy="4857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2700" b="1">
                <a:solidFill>
                  <a:srgbClr val="14213D"/>
                </a:solidFill>
                <a:latin typeface="Noto Sans CJK TC"/>
                <a:ea typeface="Noto Sans CJK TC"/>
                <a:cs typeface="Noto Sans CJK TC"/>
              </a:rPr>
              <a:t>free5GC 接 IMS：資料路徑與政策控制</a:t>
            </a:r>
            <a:endParaRPr lang="zh-TW" sz="2700"/>
          </a:p>
        </p:txBody>
      </p:sp>
      <p:sp>
        <p:nvSpPr>
          <p:cNvPr id="4" name="subtitle"/>
          <p:cNvSpPr txBox="1"/>
          <p:nvPr/>
        </p:nvSpPr>
        <p:spPr>
          <a:xfrm>
            <a:off x="457200" y="838200"/>
            <a:ext cx="11334750" cy="285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57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IMS 媒體需求 → PCF 決策 → SMF session / QoS policy → UPF 規則下發</a:t>
            </a:r>
            <a:endParaRPr lang="zh-TW" sz="1575"/>
          </a:p>
        </p:txBody>
      </p:sp>
      <p:sp>
        <p:nvSpPr>
          <p:cNvPr id="5" name="access-domain"/>
          <p:cNvSpPr/>
          <p:nvPr/>
        </p:nvSpPr>
        <p:spPr>
          <a:xfrm>
            <a:off x="438150" y="1352550"/>
            <a:ext cx="2247900" cy="4114800"/>
          </a:xfrm>
          <a:prstGeom prst="roundRect">
            <a:avLst>
              <a:gd name="adj" fmla="val 11000"/>
            </a:avLst>
          </a:prstGeom>
          <a:solidFill>
            <a:srgbClr val="EEF1F5"/>
          </a:solidFill>
          <a:ln>
            <a:noFill/>
          </a:ln>
        </p:spPr>
      </p:sp>
      <p:sp>
        <p:nvSpPr>
          <p:cNvPr id="6" name="core-domain"/>
          <p:cNvSpPr/>
          <p:nvPr/>
        </p:nvSpPr>
        <p:spPr>
          <a:xfrm>
            <a:off x="2876550" y="1352550"/>
            <a:ext cx="3067050" cy="4114800"/>
          </a:xfrm>
          <a:prstGeom prst="roundRect">
            <a:avLst>
              <a:gd name="adj" fmla="val 11000"/>
            </a:avLst>
          </a:prstGeom>
          <a:solidFill>
            <a:srgbClr val="E8F1F9"/>
          </a:solidFill>
          <a:ln>
            <a:noFill/>
          </a:ln>
        </p:spPr>
      </p:sp>
      <p:sp>
        <p:nvSpPr>
          <p:cNvPr id="7" name="ims-domain"/>
          <p:cNvSpPr/>
          <p:nvPr/>
        </p:nvSpPr>
        <p:spPr>
          <a:xfrm>
            <a:off x="6191250" y="1352550"/>
            <a:ext cx="5562600" cy="4114800"/>
          </a:xfrm>
          <a:prstGeom prst="roundRect">
            <a:avLst>
              <a:gd name="adj" fmla="val 11000"/>
            </a:avLst>
          </a:prstGeom>
          <a:solidFill>
            <a:srgbClr val="FCEBDD"/>
          </a:solidFill>
          <a:ln>
            <a:noFill/>
          </a:ln>
        </p:spPr>
      </p:sp>
      <p:sp>
        <p:nvSpPr>
          <p:cNvPr id="8" name="access-title"/>
          <p:cNvSpPr txBox="1"/>
          <p:nvPr/>
        </p:nvSpPr>
        <p:spPr>
          <a:xfrm>
            <a:off x="609600" y="1485900"/>
            <a:ext cx="1952625" cy="2952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725" b="1">
                <a:solidFill>
                  <a:srgbClr val="0F4C81"/>
                </a:solidFill>
                <a:latin typeface="Noto Sans CJK TC"/>
                <a:ea typeface="Noto Sans CJK TC"/>
                <a:cs typeface="Noto Sans CJK TC"/>
              </a:rPr>
              <a:t>UE / RAN</a:t>
            </a:r>
            <a:endParaRPr lang="zh-TW" sz="1725"/>
          </a:p>
        </p:txBody>
      </p:sp>
      <p:sp>
        <p:nvSpPr>
          <p:cNvPr id="9" name="core-title"/>
          <p:cNvSpPr txBox="1"/>
          <p:nvPr/>
        </p:nvSpPr>
        <p:spPr>
          <a:xfrm>
            <a:off x="3067050" y="1485900"/>
            <a:ext cx="2571750" cy="2952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725" b="1">
                <a:solidFill>
                  <a:srgbClr val="0F4C81"/>
                </a:solidFill>
                <a:latin typeface="Noto Sans CJK TC"/>
                <a:ea typeface="Noto Sans CJK TC"/>
                <a:cs typeface="Noto Sans CJK TC"/>
              </a:rPr>
              <a:t>5GC · free5GC</a:t>
            </a:r>
            <a:endParaRPr lang="zh-TW" sz="1725"/>
          </a:p>
        </p:txBody>
      </p:sp>
      <p:sp>
        <p:nvSpPr>
          <p:cNvPr id="10" name="ims-title"/>
          <p:cNvSpPr txBox="1"/>
          <p:nvPr/>
        </p:nvSpPr>
        <p:spPr>
          <a:xfrm>
            <a:off x="6400800" y="1485900"/>
            <a:ext cx="2571750" cy="2952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725" b="1">
                <a:solidFill>
                  <a:srgbClr val="E8742A"/>
                </a:solidFill>
                <a:latin typeface="Noto Sans CJK TC"/>
                <a:ea typeface="Noto Sans CJK TC"/>
                <a:cs typeface="Noto Sans CJK TC"/>
              </a:rPr>
              <a:t>IMS</a:t>
            </a:r>
            <a:endParaRPr lang="zh-TW" sz="1725"/>
          </a:p>
        </p:txBody>
      </p:sp>
      <p:sp>
        <p:nvSpPr>
          <p:cNvPr id="11" name="ims-data-network"/>
          <p:cNvSpPr/>
          <p:nvPr/>
        </p:nvSpPr>
        <p:spPr>
          <a:xfrm>
            <a:off x="6429375" y="3371850"/>
            <a:ext cx="5248275" cy="2066925"/>
          </a:xfrm>
          <a:prstGeom prst="roundRect">
            <a:avLst>
              <a:gd name="adj" fmla="val 11000"/>
            </a:avLst>
          </a:prstGeom>
          <a:solidFill>
            <a:srgbClr val="FFF9F4"/>
          </a:solidFill>
          <a:ln w="13335" cap="rnd">
            <a:solidFill>
              <a:srgbClr val="E8742A"/>
            </a:solidFill>
            <a:prstDash val="solid"/>
            <a:round/>
          </a:ln>
        </p:spPr>
      </p:sp>
      <p:sp>
        <p:nvSpPr>
          <p:cNvPr id="12" name="dn-title"/>
          <p:cNvSpPr txBox="1"/>
          <p:nvPr/>
        </p:nvSpPr>
        <p:spPr>
          <a:xfrm>
            <a:off x="7810500" y="3514725"/>
            <a:ext cx="1971675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425" b="1">
                <a:solidFill>
                  <a:srgbClr val="E8742A"/>
                </a:solidFill>
                <a:latin typeface="Noto Sans CJK TC"/>
                <a:ea typeface="Noto Sans CJK TC"/>
                <a:cs typeface="Noto Sans CJK TC"/>
              </a:rPr>
              <a:t>IMS Data Network</a:t>
            </a:r>
            <a:endParaRPr lang="zh-TW" sz="1425"/>
          </a:p>
        </p:txBody>
      </p:sp>
      <p:sp>
        <p:nvSpPr>
          <p:cNvPr id="13" name="dn-subtitle"/>
          <p:cNvSpPr txBox="1"/>
          <p:nvPr/>
        </p:nvSpPr>
        <p:spPr>
          <a:xfrm>
            <a:off x="7829550" y="3781425"/>
            <a:ext cx="1952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12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N6 的 DN 端</a:t>
            </a:r>
            <a:endParaRPr lang="zh-TW" sz="1125"/>
          </a:p>
        </p:txBody>
      </p:sp>
      <p:cxnSp>
        <p:nvCxnSpPr>
          <p:cNvPr id="14" name="n5-af-to-pcf-0"/>
          <p:cNvCxnSpPr/>
          <p:nvPr/>
        </p:nvCxnSpPr>
        <p:spPr>
          <a:xfrm flipH="1">
            <a:off x="4429125" y="2419350"/>
            <a:ext cx="2286000" cy="0"/>
          </a:xfrm>
          <a:prstGeom prst="line">
            <a:avLst/>
          </a:prstGeom>
          <a:ln w="22860" cap="rnd">
            <a:solidFill>
              <a:srgbClr val="14213D"/>
            </a:solidFill>
            <a:prstDash val="solid"/>
            <a:round/>
            <a:tailEnd type="triangle" w="sm" len="sm"/>
          </a:ln>
        </p:spPr>
      </p:cxnSp>
      <p:cxnSp>
        <p:nvCxnSpPr>
          <p:cNvPr id="15" name="n7-pcf-to-smf-0"/>
          <p:cNvCxnSpPr/>
          <p:nvPr/>
        </p:nvCxnSpPr>
        <p:spPr>
          <a:xfrm>
            <a:off x="3771900" y="2781300"/>
            <a:ext cx="0" cy="609600"/>
          </a:xfrm>
          <a:prstGeom prst="line">
            <a:avLst/>
          </a:prstGeom>
          <a:ln w="22860" cap="rnd">
            <a:solidFill>
              <a:srgbClr val="14213D"/>
            </a:solidFill>
            <a:prstDash val="solid"/>
            <a:round/>
            <a:tailEnd type="triangle" w="sm" len="sm"/>
          </a:ln>
        </p:spPr>
      </p:cxnSp>
      <p:cxnSp>
        <p:nvCxnSpPr>
          <p:cNvPr id="16" name="n4-smf-to-upf-0"/>
          <p:cNvCxnSpPr/>
          <p:nvPr/>
        </p:nvCxnSpPr>
        <p:spPr>
          <a:xfrm>
            <a:off x="3771900" y="4019550"/>
            <a:ext cx="0" cy="609600"/>
          </a:xfrm>
          <a:prstGeom prst="line">
            <a:avLst/>
          </a:prstGeom>
          <a:ln w="22860" cap="rnd">
            <a:solidFill>
              <a:srgbClr val="14213D"/>
            </a:solidFill>
            <a:prstDash val="solid"/>
            <a:round/>
            <a:tailEnd type="triangle" w="sm" len="sm"/>
          </a:ln>
        </p:spPr>
      </p:cxnSp>
      <p:cxnSp>
        <p:nvCxnSpPr>
          <p:cNvPr id="17" name="custom-pcscf-to-adapter-0"/>
          <p:cNvCxnSpPr/>
          <p:nvPr/>
        </p:nvCxnSpPr>
        <p:spPr>
          <a:xfrm flipV="1">
            <a:off x="7343775" y="2790825"/>
            <a:ext cx="0" cy="1838325"/>
          </a:xfrm>
          <a:prstGeom prst="line">
            <a:avLst/>
          </a:prstGeom>
          <a:ln w="22860" cap="rnd">
            <a:solidFill>
              <a:srgbClr val="786B65"/>
            </a:solidFill>
            <a:prstDash val="dash"/>
            <a:round/>
            <a:tailEnd type="triangle" w="sm" len="sm"/>
          </a:ln>
        </p:spPr>
      </p:cxnSp>
      <p:cxnSp>
        <p:nvCxnSpPr>
          <p:cNvPr id="18" name="uu-ue-to-gnb-0"/>
          <p:cNvCxnSpPr/>
          <p:nvPr/>
        </p:nvCxnSpPr>
        <p:spPr>
          <a:xfrm>
            <a:off x="1333500" y="4943475"/>
            <a:ext cx="466725" cy="0"/>
          </a:xfrm>
          <a:prstGeom prst="line">
            <a:avLst/>
          </a:prstGeom>
          <a:ln w="40005" cap="rnd">
            <a:solidFill>
              <a:srgbClr val="2877B5"/>
            </a:solidFill>
            <a:prstDash val="solid"/>
            <a:round/>
            <a:tailEnd type="triangle" w="sm" len="sm"/>
          </a:ln>
        </p:spPr>
      </p:cxnSp>
      <p:cxnSp>
        <p:nvCxnSpPr>
          <p:cNvPr id="19" name="n3-gnb-to-upf-0"/>
          <p:cNvCxnSpPr/>
          <p:nvPr/>
        </p:nvCxnSpPr>
        <p:spPr>
          <a:xfrm>
            <a:off x="2543175" y="4943475"/>
            <a:ext cx="571500" cy="0"/>
          </a:xfrm>
          <a:prstGeom prst="line">
            <a:avLst/>
          </a:prstGeom>
          <a:ln w="40005" cap="rnd">
            <a:solidFill>
              <a:srgbClr val="2877B5"/>
            </a:solidFill>
            <a:prstDash val="solid"/>
            <a:round/>
            <a:tailEnd type="triangle" w="sm" len="sm"/>
          </a:ln>
        </p:spPr>
      </p:cxnSp>
      <p:cxnSp>
        <p:nvCxnSpPr>
          <p:cNvPr id="20" name="n6-upf-to-dn-0"/>
          <p:cNvCxnSpPr/>
          <p:nvPr/>
        </p:nvCxnSpPr>
        <p:spPr>
          <a:xfrm>
            <a:off x="4429125" y="4943475"/>
            <a:ext cx="2000250" cy="0"/>
          </a:xfrm>
          <a:prstGeom prst="line">
            <a:avLst/>
          </a:prstGeom>
          <a:ln w="40005" cap="rnd">
            <a:solidFill>
              <a:srgbClr val="2877B5"/>
            </a:solidFill>
            <a:prstDash val="solid"/>
            <a:round/>
            <a:tailEnd type="triangle" w="sm" len="sm"/>
          </a:ln>
        </p:spPr>
      </p:cxnSp>
      <p:cxnSp>
        <p:nvCxnSpPr>
          <p:cNvPr id="21" name="dn-ip-reachability-0"/>
          <p:cNvCxnSpPr/>
          <p:nvPr/>
        </p:nvCxnSpPr>
        <p:spPr>
          <a:xfrm>
            <a:off x="6496050" y="4943475"/>
            <a:ext cx="219075" cy="0"/>
          </a:xfrm>
          <a:prstGeom prst="line">
            <a:avLst/>
          </a:prstGeom>
          <a:ln w="40005" cap="rnd">
            <a:solidFill>
              <a:srgbClr val="2877B5"/>
            </a:solidFill>
            <a:prstDash val="solid"/>
            <a:round/>
            <a:tailEnd type="triangle" w="sm" len="sm"/>
          </a:ln>
        </p:spPr>
      </p:cxnSp>
      <p:cxnSp>
        <p:nvCxnSpPr>
          <p:cNvPr id="22" name="gm-ue-to-pcscf-0"/>
          <p:cNvCxnSpPr/>
          <p:nvPr/>
        </p:nvCxnSpPr>
        <p:spPr>
          <a:xfrm>
            <a:off x="962025" y="5257800"/>
            <a:ext cx="0" cy="590550"/>
          </a:xfrm>
          <a:prstGeom prst="line">
            <a:avLst/>
          </a:prstGeom>
          <a:ln w="22860" cap="rnd">
            <a:solidFill>
              <a:srgbClr val="E8742A"/>
            </a:solidFill>
            <a:prstDash val="solid"/>
            <a:round/>
          </a:ln>
        </p:spPr>
      </p:cxnSp>
      <p:cxnSp>
        <p:nvCxnSpPr>
          <p:cNvPr id="23" name="gm-ue-to-pcscf-1"/>
          <p:cNvCxnSpPr/>
          <p:nvPr/>
        </p:nvCxnSpPr>
        <p:spPr>
          <a:xfrm>
            <a:off x="962025" y="5848350"/>
            <a:ext cx="6381750" cy="0"/>
          </a:xfrm>
          <a:prstGeom prst="line">
            <a:avLst/>
          </a:prstGeom>
          <a:ln w="22860" cap="rnd">
            <a:solidFill>
              <a:srgbClr val="E8742A"/>
            </a:solidFill>
            <a:prstDash val="solid"/>
            <a:round/>
          </a:ln>
        </p:spPr>
      </p:cxnSp>
      <p:cxnSp>
        <p:nvCxnSpPr>
          <p:cNvPr id="24" name="gm-ue-to-pcscf-2"/>
          <p:cNvCxnSpPr/>
          <p:nvPr/>
        </p:nvCxnSpPr>
        <p:spPr>
          <a:xfrm flipV="1">
            <a:off x="7343775" y="5257800"/>
            <a:ext cx="0" cy="590550"/>
          </a:xfrm>
          <a:prstGeom prst="line">
            <a:avLst/>
          </a:prstGeom>
          <a:ln w="22860" cap="rnd">
            <a:solidFill>
              <a:srgbClr val="E8742A"/>
            </a:solidFill>
            <a:prstDash val="solid"/>
            <a:round/>
            <a:tailEnd type="triangle" w="sm" len="sm"/>
          </a:ln>
        </p:spPr>
      </p:cxnSp>
      <p:cxnSp>
        <p:nvCxnSpPr>
          <p:cNvPr id="25" name="mw-pcscf-to-icscf-0"/>
          <p:cNvCxnSpPr/>
          <p:nvPr/>
        </p:nvCxnSpPr>
        <p:spPr>
          <a:xfrm>
            <a:off x="7972425" y="4943475"/>
            <a:ext cx="514350" cy="0"/>
          </a:xfrm>
          <a:prstGeom prst="line">
            <a:avLst/>
          </a:prstGeom>
          <a:ln w="22860" cap="rnd">
            <a:solidFill>
              <a:srgbClr val="E8742A"/>
            </a:solidFill>
            <a:prstDash val="solid"/>
            <a:round/>
            <a:tailEnd type="triangle" w="sm" len="sm"/>
          </a:ln>
        </p:spPr>
      </p:cxnSp>
      <p:cxnSp>
        <p:nvCxnSpPr>
          <p:cNvPr id="26" name="mw-icscf-to-scscf-0"/>
          <p:cNvCxnSpPr/>
          <p:nvPr/>
        </p:nvCxnSpPr>
        <p:spPr>
          <a:xfrm>
            <a:off x="9744075" y="4943475"/>
            <a:ext cx="504825" cy="0"/>
          </a:xfrm>
          <a:prstGeom prst="line">
            <a:avLst/>
          </a:prstGeom>
          <a:ln w="22860" cap="rnd">
            <a:solidFill>
              <a:srgbClr val="E8742A"/>
            </a:solidFill>
            <a:prstDash val="solid"/>
            <a:round/>
            <a:tailEnd type="triangle" w="sm" len="sm"/>
          </a:ln>
        </p:spPr>
      </p:cxnSp>
      <p:cxnSp>
        <p:nvCxnSpPr>
          <p:cNvPr id="27" name="cx-icscf-to-hss-0"/>
          <p:cNvCxnSpPr/>
          <p:nvPr/>
        </p:nvCxnSpPr>
        <p:spPr>
          <a:xfrm flipV="1">
            <a:off x="9115425" y="4229100"/>
            <a:ext cx="0" cy="400050"/>
          </a:xfrm>
          <a:prstGeom prst="line">
            <a:avLst/>
          </a:prstGeom>
          <a:ln w="17145" cap="rnd">
            <a:solidFill>
              <a:srgbClr val="7D8795"/>
            </a:solidFill>
            <a:prstDash val="solid"/>
            <a:round/>
          </a:ln>
        </p:spPr>
      </p:cxnSp>
      <p:cxnSp>
        <p:nvCxnSpPr>
          <p:cNvPr id="28" name="cx-icscf-to-hss-1"/>
          <p:cNvCxnSpPr/>
          <p:nvPr/>
        </p:nvCxnSpPr>
        <p:spPr>
          <a:xfrm>
            <a:off x="9115425" y="4229100"/>
            <a:ext cx="1266825" cy="0"/>
          </a:xfrm>
          <a:prstGeom prst="line">
            <a:avLst/>
          </a:prstGeom>
          <a:ln w="17145" cap="rnd">
            <a:solidFill>
              <a:srgbClr val="7D8795"/>
            </a:solidFill>
            <a:prstDash val="solid"/>
            <a:round/>
          </a:ln>
        </p:spPr>
      </p:cxnSp>
      <p:cxnSp>
        <p:nvCxnSpPr>
          <p:cNvPr id="29" name="cx-icscf-to-hss-2"/>
          <p:cNvCxnSpPr/>
          <p:nvPr/>
        </p:nvCxnSpPr>
        <p:spPr>
          <a:xfrm flipV="1">
            <a:off x="10382250" y="4095750"/>
            <a:ext cx="0" cy="133350"/>
          </a:xfrm>
          <a:prstGeom prst="line">
            <a:avLst/>
          </a:prstGeom>
          <a:ln w="17145" cap="rnd">
            <a:solidFill>
              <a:srgbClr val="7D8795"/>
            </a:solidFill>
            <a:prstDash val="solid"/>
            <a:round/>
            <a:tailEnd type="triangle" w="sm" len="sm"/>
          </a:ln>
        </p:spPr>
      </p:cxnSp>
      <p:cxnSp>
        <p:nvCxnSpPr>
          <p:cNvPr id="30" name="cx-scscf-to-hss-0"/>
          <p:cNvCxnSpPr/>
          <p:nvPr/>
        </p:nvCxnSpPr>
        <p:spPr>
          <a:xfrm flipV="1">
            <a:off x="10877550" y="4095750"/>
            <a:ext cx="0" cy="533400"/>
          </a:xfrm>
          <a:prstGeom prst="line">
            <a:avLst/>
          </a:prstGeom>
          <a:ln w="17145" cap="rnd">
            <a:solidFill>
              <a:srgbClr val="7D8795"/>
            </a:solidFill>
            <a:prstDash val="solid"/>
            <a:round/>
            <a:tailEnd type="triangle" w="sm" len="sm"/>
          </a:ln>
        </p:spPr>
      </p:cxnSp>
      <p:sp>
        <p:nvSpPr>
          <p:cNvPr id="31" name="ue"/>
          <p:cNvSpPr/>
          <p:nvPr/>
        </p:nvSpPr>
        <p:spPr>
          <a:xfrm>
            <a:off x="590550" y="4629150"/>
            <a:ext cx="742950" cy="62865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3335" cap="rnd">
            <a:solidFill>
              <a:srgbClr val="D5DAE1"/>
            </a:solidFill>
            <a:prstDash val="solid"/>
            <a:round/>
          </a:ln>
        </p:spPr>
      </p:sp>
      <p:sp>
        <p:nvSpPr>
          <p:cNvPr id="32" name="ue-title"/>
          <p:cNvSpPr txBox="1"/>
          <p:nvPr/>
        </p:nvSpPr>
        <p:spPr>
          <a:xfrm>
            <a:off x="638175" y="4724400"/>
            <a:ext cx="6477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725" b="1">
                <a:solidFill>
                  <a:srgbClr val="0F4C81"/>
                </a:solidFill>
                <a:latin typeface="Noto Sans CJK TC"/>
                <a:ea typeface="Noto Sans CJK TC"/>
                <a:cs typeface="Noto Sans CJK TC"/>
              </a:rPr>
              <a:t>UE</a:t>
            </a:r>
            <a:endParaRPr lang="zh-TW" sz="1725"/>
          </a:p>
        </p:txBody>
      </p:sp>
      <p:sp>
        <p:nvSpPr>
          <p:cNvPr id="33" name="ue-subtitle"/>
          <p:cNvSpPr txBox="1"/>
          <p:nvPr/>
        </p:nvSpPr>
        <p:spPr>
          <a:xfrm>
            <a:off x="628650" y="501015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SIPp</a:t>
            </a:r>
            <a:endParaRPr lang="zh-TW" sz="1050"/>
          </a:p>
        </p:txBody>
      </p:sp>
      <p:sp>
        <p:nvSpPr>
          <p:cNvPr id="34" name="gnb"/>
          <p:cNvSpPr/>
          <p:nvPr/>
        </p:nvSpPr>
        <p:spPr>
          <a:xfrm>
            <a:off x="1800225" y="4629150"/>
            <a:ext cx="742950" cy="62865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3335" cap="rnd">
            <a:solidFill>
              <a:srgbClr val="D5DAE1"/>
            </a:solidFill>
            <a:prstDash val="solid"/>
            <a:round/>
          </a:ln>
        </p:spPr>
      </p:sp>
      <p:sp>
        <p:nvSpPr>
          <p:cNvPr id="35" name="gnb-title"/>
          <p:cNvSpPr txBox="1"/>
          <p:nvPr/>
        </p:nvSpPr>
        <p:spPr>
          <a:xfrm>
            <a:off x="1847850" y="4724400"/>
            <a:ext cx="6477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725" b="1">
                <a:solidFill>
                  <a:srgbClr val="0F4C81"/>
                </a:solidFill>
                <a:latin typeface="Noto Sans CJK TC"/>
                <a:ea typeface="Noto Sans CJK TC"/>
                <a:cs typeface="Noto Sans CJK TC"/>
              </a:rPr>
              <a:t>gNB</a:t>
            </a:r>
            <a:endParaRPr lang="zh-TW" sz="1725"/>
          </a:p>
        </p:txBody>
      </p:sp>
      <p:sp>
        <p:nvSpPr>
          <p:cNvPr id="36" name="gnb-subtitle"/>
          <p:cNvSpPr txBox="1"/>
          <p:nvPr/>
        </p:nvSpPr>
        <p:spPr>
          <a:xfrm>
            <a:off x="1838325" y="5010150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模擬 RAN</a:t>
            </a:r>
            <a:endParaRPr lang="zh-TW" sz="1050"/>
          </a:p>
        </p:txBody>
      </p:sp>
      <p:sp>
        <p:nvSpPr>
          <p:cNvPr id="37" name="pcf"/>
          <p:cNvSpPr/>
          <p:nvPr/>
        </p:nvSpPr>
        <p:spPr>
          <a:xfrm>
            <a:off x="3114675" y="2152650"/>
            <a:ext cx="1314450" cy="62865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3335" cap="rnd">
            <a:solidFill>
              <a:srgbClr val="D5DAE1"/>
            </a:solidFill>
            <a:prstDash val="solid"/>
            <a:round/>
          </a:ln>
        </p:spPr>
      </p:sp>
      <p:sp>
        <p:nvSpPr>
          <p:cNvPr id="38" name="pcf-title"/>
          <p:cNvSpPr txBox="1"/>
          <p:nvPr/>
        </p:nvSpPr>
        <p:spPr>
          <a:xfrm>
            <a:off x="3162300" y="22479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725" b="1">
                <a:solidFill>
                  <a:srgbClr val="2877B5"/>
                </a:solidFill>
                <a:latin typeface="Noto Sans CJK TC"/>
                <a:ea typeface="Noto Sans CJK TC"/>
                <a:cs typeface="Noto Sans CJK TC"/>
              </a:rPr>
              <a:t>PCF</a:t>
            </a:r>
            <a:endParaRPr lang="zh-TW" sz="1725"/>
          </a:p>
        </p:txBody>
      </p:sp>
      <p:sp>
        <p:nvSpPr>
          <p:cNvPr id="39" name="pcf-subtitle"/>
          <p:cNvSpPr txBox="1"/>
          <p:nvPr/>
        </p:nvSpPr>
        <p:spPr>
          <a:xfrm>
            <a:off x="3152775" y="2533650"/>
            <a:ext cx="1238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Policy decision</a:t>
            </a:r>
            <a:endParaRPr lang="zh-TW" sz="1050"/>
          </a:p>
        </p:txBody>
      </p:sp>
      <p:sp>
        <p:nvSpPr>
          <p:cNvPr id="40" name="smf"/>
          <p:cNvSpPr/>
          <p:nvPr/>
        </p:nvSpPr>
        <p:spPr>
          <a:xfrm>
            <a:off x="3114675" y="3390900"/>
            <a:ext cx="1314450" cy="62865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3335" cap="rnd">
            <a:solidFill>
              <a:srgbClr val="D5DAE1"/>
            </a:solidFill>
            <a:prstDash val="solid"/>
            <a:round/>
          </a:ln>
        </p:spPr>
      </p:sp>
      <p:sp>
        <p:nvSpPr>
          <p:cNvPr id="41" name="smf-title"/>
          <p:cNvSpPr txBox="1"/>
          <p:nvPr/>
        </p:nvSpPr>
        <p:spPr>
          <a:xfrm>
            <a:off x="3162300" y="348615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725" b="1">
                <a:solidFill>
                  <a:srgbClr val="2877B5"/>
                </a:solidFill>
                <a:latin typeface="Noto Sans CJK TC"/>
                <a:ea typeface="Noto Sans CJK TC"/>
                <a:cs typeface="Noto Sans CJK TC"/>
              </a:rPr>
              <a:t>SMF</a:t>
            </a:r>
            <a:endParaRPr lang="zh-TW" sz="1725"/>
          </a:p>
        </p:txBody>
      </p:sp>
      <p:sp>
        <p:nvSpPr>
          <p:cNvPr id="42" name="smf-subtitle"/>
          <p:cNvSpPr txBox="1"/>
          <p:nvPr/>
        </p:nvSpPr>
        <p:spPr>
          <a:xfrm>
            <a:off x="3152775" y="3771900"/>
            <a:ext cx="1238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Session / QoS</a:t>
            </a:r>
            <a:endParaRPr lang="zh-TW" sz="1050"/>
          </a:p>
        </p:txBody>
      </p:sp>
      <p:sp>
        <p:nvSpPr>
          <p:cNvPr id="43" name="upf"/>
          <p:cNvSpPr/>
          <p:nvPr/>
        </p:nvSpPr>
        <p:spPr>
          <a:xfrm>
            <a:off x="3114675" y="4629150"/>
            <a:ext cx="1314450" cy="628650"/>
          </a:xfrm>
          <a:prstGeom prst="roundRect">
            <a:avLst>
              <a:gd name="adj" fmla="val 11000"/>
            </a:avLst>
          </a:prstGeom>
          <a:solidFill>
            <a:srgbClr val="0F4C81"/>
          </a:solidFill>
          <a:ln>
            <a:noFill/>
          </a:ln>
        </p:spPr>
      </p:sp>
      <p:sp>
        <p:nvSpPr>
          <p:cNvPr id="44" name="upf-title"/>
          <p:cNvSpPr txBox="1"/>
          <p:nvPr/>
        </p:nvSpPr>
        <p:spPr>
          <a:xfrm>
            <a:off x="3162300" y="47244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725" b="1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UPF</a:t>
            </a:r>
            <a:endParaRPr lang="zh-TW" sz="1725"/>
          </a:p>
        </p:txBody>
      </p:sp>
      <p:sp>
        <p:nvSpPr>
          <p:cNvPr id="45" name="upf-subtitle"/>
          <p:cNvSpPr txBox="1"/>
          <p:nvPr/>
        </p:nvSpPr>
        <p:spPr>
          <a:xfrm>
            <a:off x="3152775" y="5010150"/>
            <a:ext cx="123825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Forwarding / QER</a:t>
            </a:r>
            <a:endParaRPr lang="zh-TW" sz="1050"/>
          </a:p>
        </p:txBody>
      </p:sp>
      <p:sp>
        <p:nvSpPr>
          <p:cNvPr id="46" name="pcscf"/>
          <p:cNvSpPr/>
          <p:nvPr/>
        </p:nvSpPr>
        <p:spPr>
          <a:xfrm>
            <a:off x="6715125" y="4629150"/>
            <a:ext cx="1257300" cy="62865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3335" cap="rnd">
            <a:solidFill>
              <a:srgbClr val="D5DAE1"/>
            </a:solidFill>
            <a:prstDash val="solid"/>
            <a:round/>
          </a:ln>
        </p:spPr>
      </p:sp>
      <p:sp>
        <p:nvSpPr>
          <p:cNvPr id="47" name="pcscf-title"/>
          <p:cNvSpPr txBox="1"/>
          <p:nvPr/>
        </p:nvSpPr>
        <p:spPr>
          <a:xfrm>
            <a:off x="6762750" y="4724400"/>
            <a:ext cx="116205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725" b="1">
                <a:solidFill>
                  <a:srgbClr val="E8742A"/>
                </a:solidFill>
                <a:latin typeface="Noto Sans CJK TC"/>
                <a:ea typeface="Noto Sans CJK TC"/>
                <a:cs typeface="Noto Sans CJK TC"/>
              </a:rPr>
              <a:t>P-CSCF</a:t>
            </a:r>
            <a:endParaRPr lang="zh-TW" sz="1725"/>
          </a:p>
        </p:txBody>
      </p:sp>
      <p:sp>
        <p:nvSpPr>
          <p:cNvPr id="48" name="pcscf-subtitle"/>
          <p:cNvSpPr txBox="1"/>
          <p:nvPr/>
        </p:nvSpPr>
        <p:spPr>
          <a:xfrm>
            <a:off x="6753225" y="5010150"/>
            <a:ext cx="11811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(Kamailio)</a:t>
            </a:r>
            <a:endParaRPr lang="zh-TW" sz="1050"/>
          </a:p>
        </p:txBody>
      </p:sp>
      <p:sp>
        <p:nvSpPr>
          <p:cNvPr id="49" name="icscf"/>
          <p:cNvSpPr/>
          <p:nvPr/>
        </p:nvSpPr>
        <p:spPr>
          <a:xfrm>
            <a:off x="8486775" y="4629150"/>
            <a:ext cx="1257300" cy="62865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3335" cap="rnd">
            <a:solidFill>
              <a:srgbClr val="D5DAE1"/>
            </a:solidFill>
            <a:prstDash val="solid"/>
            <a:round/>
          </a:ln>
        </p:spPr>
      </p:sp>
      <p:sp>
        <p:nvSpPr>
          <p:cNvPr id="50" name="icscf-title"/>
          <p:cNvSpPr txBox="1"/>
          <p:nvPr/>
        </p:nvSpPr>
        <p:spPr>
          <a:xfrm>
            <a:off x="8534400" y="4724400"/>
            <a:ext cx="116205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725" b="1">
                <a:solidFill>
                  <a:srgbClr val="E8742A"/>
                </a:solidFill>
                <a:latin typeface="Noto Sans CJK TC"/>
                <a:ea typeface="Noto Sans CJK TC"/>
                <a:cs typeface="Noto Sans CJK TC"/>
              </a:rPr>
              <a:t>I-CSCF</a:t>
            </a:r>
            <a:endParaRPr lang="zh-TW" sz="1725"/>
          </a:p>
        </p:txBody>
      </p:sp>
      <p:sp>
        <p:nvSpPr>
          <p:cNvPr id="51" name="icscf-subtitle"/>
          <p:cNvSpPr txBox="1"/>
          <p:nvPr/>
        </p:nvSpPr>
        <p:spPr>
          <a:xfrm>
            <a:off x="8524875" y="5010150"/>
            <a:ext cx="11811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(Kamailio)</a:t>
            </a:r>
            <a:endParaRPr lang="zh-TW" sz="1050"/>
          </a:p>
        </p:txBody>
      </p:sp>
      <p:sp>
        <p:nvSpPr>
          <p:cNvPr id="52" name="scscf"/>
          <p:cNvSpPr/>
          <p:nvPr/>
        </p:nvSpPr>
        <p:spPr>
          <a:xfrm>
            <a:off x="10248900" y="4629150"/>
            <a:ext cx="1257300" cy="62865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3335" cap="rnd">
            <a:solidFill>
              <a:srgbClr val="D5DAE1"/>
            </a:solidFill>
            <a:prstDash val="solid"/>
            <a:round/>
          </a:ln>
        </p:spPr>
      </p:sp>
      <p:sp>
        <p:nvSpPr>
          <p:cNvPr id="53" name="scscf-title"/>
          <p:cNvSpPr txBox="1"/>
          <p:nvPr/>
        </p:nvSpPr>
        <p:spPr>
          <a:xfrm>
            <a:off x="10296525" y="4724400"/>
            <a:ext cx="116205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725" b="1">
                <a:solidFill>
                  <a:srgbClr val="E8742A"/>
                </a:solidFill>
                <a:latin typeface="Noto Sans CJK TC"/>
                <a:ea typeface="Noto Sans CJK TC"/>
                <a:cs typeface="Noto Sans CJK TC"/>
              </a:rPr>
              <a:t>S-CSCF</a:t>
            </a:r>
            <a:endParaRPr lang="zh-TW" sz="1725"/>
          </a:p>
        </p:txBody>
      </p:sp>
      <p:sp>
        <p:nvSpPr>
          <p:cNvPr id="54" name="scscf-subtitle"/>
          <p:cNvSpPr txBox="1"/>
          <p:nvPr/>
        </p:nvSpPr>
        <p:spPr>
          <a:xfrm>
            <a:off x="10287000" y="5010150"/>
            <a:ext cx="118110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(Kamailio)</a:t>
            </a:r>
            <a:endParaRPr lang="zh-TW" sz="1050"/>
          </a:p>
        </p:txBody>
      </p:sp>
      <p:sp>
        <p:nvSpPr>
          <p:cNvPr id="55" name="hss"/>
          <p:cNvSpPr/>
          <p:nvPr/>
        </p:nvSpPr>
        <p:spPr>
          <a:xfrm>
            <a:off x="9963150" y="3505200"/>
            <a:ext cx="1543050" cy="59055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3335" cap="rnd">
            <a:solidFill>
              <a:srgbClr val="D5DAE1"/>
            </a:solidFill>
            <a:prstDash val="solid"/>
            <a:round/>
          </a:ln>
        </p:spPr>
      </p:sp>
      <p:sp>
        <p:nvSpPr>
          <p:cNvPr id="56" name="hss-title"/>
          <p:cNvSpPr txBox="1"/>
          <p:nvPr/>
        </p:nvSpPr>
        <p:spPr>
          <a:xfrm>
            <a:off x="10010775" y="3600450"/>
            <a:ext cx="14478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725" b="1">
                <a:solidFill>
                  <a:srgbClr val="E8742A"/>
                </a:solidFill>
                <a:latin typeface="Noto Sans CJK TC"/>
                <a:ea typeface="Noto Sans CJK TC"/>
                <a:cs typeface="Noto Sans CJK TC"/>
              </a:rPr>
              <a:t>HSS</a:t>
            </a:r>
            <a:endParaRPr lang="zh-TW" sz="1725"/>
          </a:p>
        </p:txBody>
      </p:sp>
      <p:sp>
        <p:nvSpPr>
          <p:cNvPr id="57" name="hss-subtitle"/>
          <p:cNvSpPr txBox="1"/>
          <p:nvPr/>
        </p:nvSpPr>
        <p:spPr>
          <a:xfrm>
            <a:off x="10001250" y="3886200"/>
            <a:ext cx="1466850" cy="1905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(PyHSS)</a:t>
            </a:r>
            <a:endParaRPr lang="zh-TW" sz="1050"/>
          </a:p>
        </p:txBody>
      </p:sp>
      <p:sp>
        <p:nvSpPr>
          <p:cNvPr id="58" name="custom-af-adapter"/>
          <p:cNvSpPr/>
          <p:nvPr/>
        </p:nvSpPr>
        <p:spPr>
          <a:xfrm>
            <a:off x="6715125" y="1943100"/>
            <a:ext cx="3028950" cy="847725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3335" cap="rnd">
            <a:solidFill>
              <a:srgbClr val="786B65"/>
            </a:solidFill>
            <a:prstDash val="dash"/>
            <a:round/>
          </a:ln>
        </p:spPr>
      </p:sp>
      <p:sp>
        <p:nvSpPr>
          <p:cNvPr id="59" name="af-title"/>
          <p:cNvSpPr txBox="1"/>
          <p:nvPr/>
        </p:nvSpPr>
        <p:spPr>
          <a:xfrm>
            <a:off x="6829425" y="2038350"/>
            <a:ext cx="2819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575" b="1">
                <a:solidFill>
                  <a:srgbClr val="14213D"/>
                </a:solidFill>
                <a:latin typeface="Noto Sans CJK TC"/>
                <a:ea typeface="Noto Sans CJK TC"/>
                <a:cs typeface="Noto Sans CJK TC"/>
              </a:rPr>
              <a:t>AF shim（現況）</a:t>
            </a:r>
            <a:endParaRPr lang="zh-TW" sz="1575"/>
          </a:p>
        </p:txBody>
      </p:sp>
      <p:sp>
        <p:nvSpPr>
          <p:cNvPr id="60" name="af-role"/>
          <p:cNvSpPr txBox="1"/>
          <p:nvPr/>
        </p:nvSpPr>
        <p:spPr>
          <a:xfrm>
            <a:off x="6829425" y="2324100"/>
            <a:ext cx="2819400" cy="2095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20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Custom · 承接 IMS AF 功能</a:t>
            </a:r>
            <a:endParaRPr lang="zh-TW" sz="1200"/>
          </a:p>
        </p:txBody>
      </p:sp>
      <p:sp>
        <p:nvSpPr>
          <p:cNvPr id="61" name="af-custom-label"/>
          <p:cNvSpPr txBox="1"/>
          <p:nvPr/>
        </p:nvSpPr>
        <p:spPr>
          <a:xfrm>
            <a:off x="6829425" y="2543175"/>
            <a:ext cx="2819400" cy="2000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88" b="0">
                <a:solidFill>
                  <a:srgbClr val="786B65"/>
                </a:solidFill>
                <a:latin typeface="Noto Sans CJK TC"/>
                <a:ea typeface="Noto Sans CJK TC"/>
                <a:cs typeface="Noto Sans CJK TC"/>
              </a:rPr>
              <a:t>Implementation-specific / Non-3GPP</a:t>
            </a:r>
            <a:endParaRPr lang="zh-TW" sz="1088"/>
          </a:p>
        </p:txBody>
      </p:sp>
      <p:sp>
        <p:nvSpPr>
          <p:cNvPr id="62" name="n5-name"/>
          <p:cNvSpPr txBox="1"/>
          <p:nvPr/>
        </p:nvSpPr>
        <p:spPr>
          <a:xfrm>
            <a:off x="4524375" y="1771650"/>
            <a:ext cx="2028825" cy="238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425" b="1">
                <a:solidFill>
                  <a:srgbClr val="14213D"/>
                </a:solidFill>
                <a:latin typeface="Noto Sans CJK TC"/>
                <a:ea typeface="Noto Sans CJK TC"/>
                <a:cs typeface="Noto Sans CJK TC"/>
              </a:rPr>
              <a:t>N5</a:t>
            </a:r>
            <a:endParaRPr lang="zh-TW" sz="1425"/>
          </a:p>
        </p:txBody>
      </p:sp>
      <p:sp>
        <p:nvSpPr>
          <p:cNvPr id="63" name="n5-service"/>
          <p:cNvSpPr txBox="1"/>
          <p:nvPr/>
        </p:nvSpPr>
        <p:spPr>
          <a:xfrm>
            <a:off x="4505325" y="2028825"/>
            <a:ext cx="2152650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200" b="0">
                <a:solidFill>
                  <a:srgbClr val="14213D"/>
                </a:solidFill>
                <a:latin typeface="Noto Sans CJK TC"/>
                <a:ea typeface="Noto Sans CJK TC"/>
                <a:cs typeface="Noto Sans CJK TC"/>
              </a:rPr>
              <a:t>Npcf_PolicyAuthorization</a:t>
            </a:r>
            <a:endParaRPr lang="zh-TW" sz="1200"/>
          </a:p>
        </p:txBody>
      </p:sp>
      <p:sp>
        <p:nvSpPr>
          <p:cNvPr id="64" name="n5-transport"/>
          <p:cNvSpPr txBox="1"/>
          <p:nvPr/>
        </p:nvSpPr>
        <p:spPr>
          <a:xfrm>
            <a:off x="4505325" y="2533650"/>
            <a:ext cx="2152650" cy="238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12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HTTP/2 SBI (h2c)</a:t>
            </a:r>
            <a:endParaRPr lang="zh-TW" sz="1125"/>
          </a:p>
        </p:txBody>
      </p:sp>
      <p:sp>
        <p:nvSpPr>
          <p:cNvPr id="65" name="n7-name"/>
          <p:cNvSpPr txBox="1"/>
          <p:nvPr/>
        </p:nvSpPr>
        <p:spPr>
          <a:xfrm>
            <a:off x="3943350" y="2838450"/>
            <a:ext cx="1819275" cy="2190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350" b="1">
                <a:solidFill>
                  <a:srgbClr val="14213D"/>
                </a:solidFill>
                <a:latin typeface="Noto Sans CJK TC"/>
                <a:ea typeface="Noto Sans CJK TC"/>
                <a:cs typeface="Noto Sans CJK TC"/>
              </a:rPr>
              <a:t>N7</a:t>
            </a:r>
            <a:endParaRPr lang="zh-TW" sz="1350"/>
          </a:p>
        </p:txBody>
      </p:sp>
      <p:sp>
        <p:nvSpPr>
          <p:cNvPr id="66" name="n7-semantic"/>
          <p:cNvSpPr txBox="1"/>
          <p:nvPr/>
        </p:nvSpPr>
        <p:spPr>
          <a:xfrm>
            <a:off x="3943350" y="3067050"/>
            <a:ext cx="1857375" cy="2190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12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Npcf_SMPolicyControl</a:t>
            </a:r>
            <a:endParaRPr lang="zh-TW" sz="1125"/>
          </a:p>
        </p:txBody>
      </p:sp>
      <p:sp>
        <p:nvSpPr>
          <p:cNvPr id="67" name="n7-transport"/>
          <p:cNvSpPr txBox="1"/>
          <p:nvPr/>
        </p:nvSpPr>
        <p:spPr>
          <a:xfrm>
            <a:off x="4610100" y="3314700"/>
            <a:ext cx="1190625" cy="2190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HTTP/2 SBI</a:t>
            </a:r>
            <a:endParaRPr lang="zh-TW" sz="1050"/>
          </a:p>
        </p:txBody>
      </p:sp>
      <p:sp>
        <p:nvSpPr>
          <p:cNvPr id="68" name="n4-name"/>
          <p:cNvSpPr txBox="1"/>
          <p:nvPr/>
        </p:nvSpPr>
        <p:spPr>
          <a:xfrm>
            <a:off x="3943350" y="4105275"/>
            <a:ext cx="1476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350" b="1">
                <a:solidFill>
                  <a:srgbClr val="14213D"/>
                </a:solidFill>
                <a:latin typeface="Noto Sans CJK TC"/>
                <a:ea typeface="Noto Sans CJK TC"/>
                <a:cs typeface="Noto Sans CJK TC"/>
              </a:rPr>
              <a:t>N4</a:t>
            </a:r>
            <a:endParaRPr lang="zh-TW" sz="1350"/>
          </a:p>
        </p:txBody>
      </p:sp>
      <p:sp>
        <p:nvSpPr>
          <p:cNvPr id="69" name="n4-protocol"/>
          <p:cNvSpPr txBox="1"/>
          <p:nvPr/>
        </p:nvSpPr>
        <p:spPr>
          <a:xfrm>
            <a:off x="3943350" y="4343400"/>
            <a:ext cx="619125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20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PFCP</a:t>
            </a:r>
            <a:endParaRPr lang="zh-TW" sz="1200"/>
          </a:p>
        </p:txBody>
      </p:sp>
      <p:sp>
        <p:nvSpPr>
          <p:cNvPr id="70" name="uu-label"/>
          <p:cNvSpPr txBox="1"/>
          <p:nvPr/>
        </p:nvSpPr>
        <p:spPr>
          <a:xfrm>
            <a:off x="1228725" y="4152900"/>
            <a:ext cx="666750" cy="4095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125" b="1">
                <a:solidFill>
                  <a:srgbClr val="2877B5"/>
                </a:solidFill>
                <a:latin typeface="Noto Sans CJK TC"/>
                <a:ea typeface="Noto Sans CJK TC"/>
                <a:cs typeface="Noto Sans CJK TC"/>
              </a:rPr>
              <a:t>NR / Uu</a:t>
            </a:r>
            <a:endParaRPr lang="zh-TW" sz="1125"/>
          </a:p>
        </p:txBody>
      </p:sp>
      <p:sp>
        <p:nvSpPr>
          <p:cNvPr id="71" name="n3-name"/>
          <p:cNvSpPr txBox="1"/>
          <p:nvPr/>
        </p:nvSpPr>
        <p:spPr>
          <a:xfrm>
            <a:off x="2600325" y="418147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275" b="1">
                <a:solidFill>
                  <a:srgbClr val="2877B5"/>
                </a:solidFill>
                <a:latin typeface="Noto Sans CJK TC"/>
                <a:ea typeface="Noto Sans CJK TC"/>
                <a:cs typeface="Noto Sans CJK TC"/>
              </a:rPr>
              <a:t>N3</a:t>
            </a:r>
            <a:endParaRPr lang="zh-TW" sz="1275"/>
          </a:p>
        </p:txBody>
      </p:sp>
      <p:sp>
        <p:nvSpPr>
          <p:cNvPr id="72" name="n3-protocol"/>
          <p:cNvSpPr txBox="1"/>
          <p:nvPr/>
        </p:nvSpPr>
        <p:spPr>
          <a:xfrm>
            <a:off x="2562225" y="4429125"/>
            <a:ext cx="542925" cy="2095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975" b="0">
                <a:solidFill>
                  <a:srgbClr val="2877B5"/>
                </a:solidFill>
                <a:latin typeface="Noto Sans CJK TC"/>
                <a:ea typeface="Noto Sans CJK TC"/>
                <a:cs typeface="Noto Sans CJK TC"/>
              </a:rPr>
              <a:t>GTP-U</a:t>
            </a:r>
            <a:endParaRPr lang="zh-TW" sz="975"/>
          </a:p>
        </p:txBody>
      </p:sp>
      <p:sp>
        <p:nvSpPr>
          <p:cNvPr id="73" name="n6-name"/>
          <p:cNvSpPr txBox="1"/>
          <p:nvPr/>
        </p:nvSpPr>
        <p:spPr>
          <a:xfrm>
            <a:off x="4695825" y="441007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425" b="1">
                <a:solidFill>
                  <a:srgbClr val="2877B5"/>
                </a:solidFill>
                <a:latin typeface="Noto Sans CJK TC"/>
                <a:ea typeface="Noto Sans CJK TC"/>
                <a:cs typeface="Noto Sans CJK TC"/>
              </a:rPr>
              <a:t>N6</a:t>
            </a:r>
            <a:endParaRPr lang="zh-TW" sz="1425"/>
          </a:p>
        </p:txBody>
      </p:sp>
      <p:sp>
        <p:nvSpPr>
          <p:cNvPr id="74" name="n6-semantic"/>
          <p:cNvSpPr txBox="1"/>
          <p:nvPr/>
        </p:nvSpPr>
        <p:spPr>
          <a:xfrm>
            <a:off x="4638675" y="4667250"/>
            <a:ext cx="1638300" cy="2286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200" b="0">
                <a:solidFill>
                  <a:srgbClr val="2877B5"/>
                </a:solidFill>
                <a:latin typeface="Noto Sans CJK TC"/>
                <a:ea typeface="Noto Sans CJK TC"/>
                <a:cs typeface="Noto Sans CJK TC"/>
              </a:rPr>
              <a:t>User plane / IP</a:t>
            </a:r>
            <a:endParaRPr lang="zh-TW" sz="1200"/>
          </a:p>
        </p:txBody>
      </p:sp>
      <p:sp>
        <p:nvSpPr>
          <p:cNvPr id="75" name="n6-boundary"/>
          <p:cNvSpPr txBox="1"/>
          <p:nvPr/>
        </p:nvSpPr>
        <p:spPr>
          <a:xfrm>
            <a:off x="4667250" y="5095875"/>
            <a:ext cx="1647825" cy="2381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12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UPF ↔ Data Network</a:t>
            </a:r>
            <a:endParaRPr lang="zh-TW" sz="1012"/>
          </a:p>
        </p:txBody>
      </p:sp>
      <p:sp>
        <p:nvSpPr>
          <p:cNvPr id="76" name="custom-api"/>
          <p:cNvSpPr txBox="1"/>
          <p:nvPr/>
        </p:nvSpPr>
        <p:spPr>
          <a:xfrm>
            <a:off x="7486650" y="2943225"/>
            <a:ext cx="2409825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350" b="1">
                <a:solidFill>
                  <a:srgbClr val="786B65"/>
                </a:solidFill>
                <a:latin typeface="Noto Sans CJK TC"/>
                <a:ea typeface="Noto Sans CJK TC"/>
                <a:cs typeface="Noto Sans CJK TC"/>
              </a:rPr>
              <a:t>Custom HTTP API</a:t>
            </a:r>
            <a:endParaRPr lang="zh-TW" sz="1350"/>
          </a:p>
        </p:txBody>
      </p:sp>
      <p:sp>
        <p:nvSpPr>
          <p:cNvPr id="77" name="custom-api-scope"/>
          <p:cNvSpPr txBox="1"/>
          <p:nvPr/>
        </p:nvSpPr>
        <p:spPr>
          <a:xfrm>
            <a:off x="7486650" y="3209925"/>
            <a:ext cx="2324100" cy="2000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786B65"/>
                </a:solidFill>
                <a:latin typeface="Noto Sans CJK TC"/>
                <a:ea typeface="Noto Sans CJK TC"/>
                <a:cs typeface="Noto Sans CJK TC"/>
              </a:rPr>
              <a:t>implementation-specific</a:t>
            </a:r>
            <a:endParaRPr lang="zh-TW" sz="1050"/>
          </a:p>
        </p:txBody>
      </p:sp>
      <p:sp>
        <p:nvSpPr>
          <p:cNvPr id="78" name="custom-media-requirements"/>
          <p:cNvSpPr txBox="1"/>
          <p:nvPr/>
        </p:nvSpPr>
        <p:spPr>
          <a:xfrm>
            <a:off x="6534150" y="4095750"/>
            <a:ext cx="714375" cy="4286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786B65"/>
                </a:solidFill>
                <a:latin typeface="Noto Sans CJK TC"/>
                <a:ea typeface="Noto Sans CJK TC"/>
                <a:cs typeface="Noto Sans CJK TC"/>
              </a:rPr>
              <a:t>IMS 媒體</a:t>
            </a:r>
            <a:endParaRPr lang="zh-TW" sz="1050"/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786B65"/>
                </a:solidFill>
                <a:latin typeface="Noto Sans CJK TC"/>
                <a:ea typeface="Noto Sans CJK TC"/>
                <a:cs typeface="Noto Sans CJK TC"/>
              </a:rPr>
              <a:t>需求</a:t>
            </a:r>
            <a:endParaRPr lang="zh-TW" sz="1050"/>
          </a:p>
        </p:txBody>
      </p:sp>
      <p:sp>
        <p:nvSpPr>
          <p:cNvPr id="79" name="mw-p-i"/>
          <p:cNvSpPr txBox="1"/>
          <p:nvPr/>
        </p:nvSpPr>
        <p:spPr>
          <a:xfrm>
            <a:off x="7991475" y="4429125"/>
            <a:ext cx="476250" cy="4286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1">
                <a:solidFill>
                  <a:srgbClr val="E8742A"/>
                </a:solidFill>
                <a:latin typeface="Noto Sans CJK TC"/>
                <a:ea typeface="Noto Sans CJK TC"/>
                <a:cs typeface="Noto Sans CJK TC"/>
              </a:rPr>
              <a:t>Mw</a:t>
            </a:r>
            <a:endParaRPr lang="zh-TW" sz="1050"/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1">
                <a:solidFill>
                  <a:srgbClr val="E8742A"/>
                </a:solidFill>
                <a:latin typeface="Noto Sans CJK TC"/>
                <a:ea typeface="Noto Sans CJK TC"/>
                <a:cs typeface="Noto Sans CJK TC"/>
              </a:rPr>
              <a:t>SIP</a:t>
            </a:r>
            <a:endParaRPr lang="zh-TW" sz="1050"/>
          </a:p>
        </p:txBody>
      </p:sp>
      <p:sp>
        <p:nvSpPr>
          <p:cNvPr id="80" name="mw-i-s"/>
          <p:cNvSpPr txBox="1"/>
          <p:nvPr/>
        </p:nvSpPr>
        <p:spPr>
          <a:xfrm>
            <a:off x="9763125" y="4429125"/>
            <a:ext cx="466725" cy="42862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1">
                <a:solidFill>
                  <a:srgbClr val="E8742A"/>
                </a:solidFill>
                <a:latin typeface="Noto Sans CJK TC"/>
                <a:ea typeface="Noto Sans CJK TC"/>
                <a:cs typeface="Noto Sans CJK TC"/>
              </a:rPr>
              <a:t>Mw</a:t>
            </a:r>
            <a:endParaRPr lang="zh-TW" sz="1050"/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1050" b="1">
                <a:solidFill>
                  <a:srgbClr val="E8742A"/>
                </a:solidFill>
                <a:latin typeface="Noto Sans CJK TC"/>
                <a:ea typeface="Noto Sans CJK TC"/>
                <a:cs typeface="Noto Sans CJK TC"/>
              </a:rPr>
              <a:t>SIP</a:t>
            </a:r>
            <a:endParaRPr lang="zh-TW" sz="1050"/>
          </a:p>
        </p:txBody>
      </p:sp>
      <p:sp>
        <p:nvSpPr>
          <p:cNvPr id="81" name="cx-i-label"/>
          <p:cNvSpPr txBox="1"/>
          <p:nvPr/>
        </p:nvSpPr>
        <p:spPr>
          <a:xfrm>
            <a:off x="9210675" y="4267200"/>
            <a:ext cx="752475" cy="3333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975" b="0">
                <a:solidFill>
                  <a:srgbClr val="7D8795"/>
                </a:solidFill>
                <a:latin typeface="Noto Sans CJK TC"/>
                <a:ea typeface="Noto Sans CJK TC"/>
                <a:cs typeface="Noto Sans CJK TC"/>
              </a:rPr>
              <a:t>Cx</a:t>
            </a:r>
            <a:endParaRPr lang="zh-TW" sz="975"/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975" b="0">
                <a:solidFill>
                  <a:srgbClr val="7D8795"/>
                </a:solidFill>
                <a:latin typeface="Noto Sans CJK TC"/>
                <a:ea typeface="Noto Sans CJK TC"/>
                <a:cs typeface="Noto Sans CJK TC"/>
              </a:rPr>
              <a:t>Diameter</a:t>
            </a:r>
            <a:endParaRPr lang="zh-TW" sz="975"/>
          </a:p>
        </p:txBody>
      </p:sp>
      <p:sp>
        <p:nvSpPr>
          <p:cNvPr id="82" name="cx-s-label"/>
          <p:cNvSpPr txBox="1"/>
          <p:nvPr/>
        </p:nvSpPr>
        <p:spPr>
          <a:xfrm>
            <a:off x="10944225" y="4276725"/>
            <a:ext cx="685800" cy="3333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975" b="0">
                <a:solidFill>
                  <a:srgbClr val="7D8795"/>
                </a:solidFill>
                <a:latin typeface="Noto Sans CJK TC"/>
                <a:ea typeface="Noto Sans CJK TC"/>
                <a:cs typeface="Noto Sans CJK TC"/>
              </a:rPr>
              <a:t>Cx</a:t>
            </a:r>
            <a:endParaRPr lang="zh-TW" sz="975"/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sz="975" b="0">
                <a:solidFill>
                  <a:srgbClr val="7D8795"/>
                </a:solidFill>
                <a:latin typeface="Noto Sans CJK TC"/>
                <a:ea typeface="Noto Sans CJK TC"/>
                <a:cs typeface="Noto Sans CJK TC"/>
              </a:rPr>
              <a:t>Diameter</a:t>
            </a:r>
            <a:endParaRPr lang="zh-TW" sz="975"/>
          </a:p>
        </p:txBody>
      </p:sp>
      <p:sp>
        <p:nvSpPr>
          <p:cNvPr id="83" name="gm-label"/>
          <p:cNvSpPr txBox="1"/>
          <p:nvPr/>
        </p:nvSpPr>
        <p:spPr>
          <a:xfrm>
            <a:off x="1638300" y="5543550"/>
            <a:ext cx="5476875" cy="2571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200" b="1">
                <a:solidFill>
                  <a:srgbClr val="E8742A"/>
                </a:solidFill>
                <a:latin typeface="Noto Sans CJK TC"/>
                <a:ea typeface="Noto Sans CJK TC"/>
                <a:cs typeface="Noto Sans CJK TC"/>
              </a:rPr>
              <a:t>Gm · SIP REGISTER / INVITE（邏輯流；封包走藍色路徑）</a:t>
            </a:r>
            <a:endParaRPr lang="zh-TW" sz="1200"/>
          </a:p>
        </p:txBody>
      </p:sp>
      <p:sp>
        <p:nvSpPr>
          <p:cNvPr id="84" name="access-note"/>
          <p:cNvSpPr txBox="1"/>
          <p:nvPr/>
        </p:nvSpPr>
        <p:spPr>
          <a:xfrm>
            <a:off x="619125" y="2028825"/>
            <a:ext cx="1885950" cy="8572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27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IMS access path</a:t>
            </a:r>
            <a:endParaRPr lang="zh-TW" sz="1275"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27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UE 的 SIP/IP 封包</a:t>
            </a:r>
            <a:endParaRPr lang="zh-TW" sz="1275"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27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經 gNB、UPF 進入 DN</a:t>
            </a:r>
            <a:endParaRPr lang="zh-TW" sz="1275"/>
          </a:p>
        </p:txBody>
      </p:sp>
      <p:sp>
        <p:nvSpPr>
          <p:cNvPr id="85" name="ran-note"/>
          <p:cNvSpPr txBox="1"/>
          <p:nvPr/>
        </p:nvSpPr>
        <p:spPr>
          <a:xfrm>
            <a:off x="619125" y="3095625"/>
            <a:ext cx="1885950" cy="6667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12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本 PoC：free-ran-ue</a:t>
            </a:r>
            <a:endParaRPr lang="zh-TW" sz="1125"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12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模擬 UE / gNB</a:t>
            </a:r>
            <a:endParaRPr lang="zh-TW" sz="1125"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12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Uu 為邏輯示意</a:t>
            </a:r>
            <a:endParaRPr lang="zh-TW" sz="1125"/>
          </a:p>
        </p:txBody>
      </p:sp>
      <p:sp>
        <p:nvSpPr>
          <p:cNvPr id="86" name="arrow-note"/>
          <p:cNvSpPr txBox="1"/>
          <p:nvPr/>
        </p:nvSpPr>
        <p:spPr>
          <a:xfrm>
            <a:off x="7791450" y="5581650"/>
            <a:ext cx="3905250" cy="3714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箭頭：請求／政策下發方向；回應省略。</a:t>
            </a:r>
            <a:endParaRPr lang="zh-TW" sz="1050"/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P → I → S 為本專案的 SIP 路由。</a:t>
            </a:r>
            <a:endParaRPr lang="zh-TW" sz="1050"/>
          </a:p>
        </p:txBody>
      </p:sp>
      <p:cxnSp>
        <p:nvCxnSpPr>
          <p:cNvPr id="87" name="legend-line-0-0"/>
          <p:cNvCxnSpPr/>
          <p:nvPr/>
        </p:nvCxnSpPr>
        <p:spPr>
          <a:xfrm>
            <a:off x="457200" y="6191250"/>
            <a:ext cx="304800" cy="0"/>
          </a:xfrm>
          <a:prstGeom prst="line">
            <a:avLst/>
          </a:prstGeom>
          <a:ln w="40005" cap="rnd">
            <a:solidFill>
              <a:srgbClr val="2877B5"/>
            </a:solidFill>
            <a:prstDash val="solid"/>
            <a:round/>
          </a:ln>
        </p:spPr>
      </p:cxnSp>
      <p:sp>
        <p:nvSpPr>
          <p:cNvPr id="88" name="legend-text-0"/>
          <p:cNvSpPr txBox="1"/>
          <p:nvPr/>
        </p:nvSpPr>
        <p:spPr>
          <a:xfrm>
            <a:off x="857250" y="6067425"/>
            <a:ext cx="1895475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12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UE IP 路徑</a:t>
            </a:r>
            <a:endParaRPr lang="zh-TW" sz="1125"/>
          </a:p>
        </p:txBody>
      </p:sp>
      <p:cxnSp>
        <p:nvCxnSpPr>
          <p:cNvPr id="89" name="legend-line-1-0"/>
          <p:cNvCxnSpPr/>
          <p:nvPr/>
        </p:nvCxnSpPr>
        <p:spPr>
          <a:xfrm>
            <a:off x="2619375" y="6191250"/>
            <a:ext cx="304800" cy="0"/>
          </a:xfrm>
          <a:prstGeom prst="line">
            <a:avLst/>
          </a:prstGeom>
          <a:ln w="22860" cap="rnd">
            <a:solidFill>
              <a:srgbClr val="E8742A"/>
            </a:solidFill>
            <a:prstDash val="solid"/>
            <a:round/>
          </a:ln>
        </p:spPr>
      </p:cxnSp>
      <p:sp>
        <p:nvSpPr>
          <p:cNvPr id="90" name="legend-text-1"/>
          <p:cNvSpPr txBox="1"/>
          <p:nvPr/>
        </p:nvSpPr>
        <p:spPr>
          <a:xfrm>
            <a:off x="3019425" y="6067425"/>
            <a:ext cx="1895475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12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IMS SIP</a:t>
            </a:r>
            <a:endParaRPr lang="zh-TW" sz="1125"/>
          </a:p>
        </p:txBody>
      </p:sp>
      <p:cxnSp>
        <p:nvCxnSpPr>
          <p:cNvPr id="91" name="legend-line-2-0"/>
          <p:cNvCxnSpPr/>
          <p:nvPr/>
        </p:nvCxnSpPr>
        <p:spPr>
          <a:xfrm>
            <a:off x="4438650" y="6191250"/>
            <a:ext cx="304800" cy="0"/>
          </a:xfrm>
          <a:prstGeom prst="line">
            <a:avLst/>
          </a:prstGeom>
          <a:ln w="22860" cap="rnd">
            <a:solidFill>
              <a:srgbClr val="14213D"/>
            </a:solidFill>
            <a:prstDash val="solid"/>
            <a:round/>
          </a:ln>
        </p:spPr>
      </p:cxnSp>
      <p:sp>
        <p:nvSpPr>
          <p:cNvPr id="92" name="legend-text-2"/>
          <p:cNvSpPr txBox="1"/>
          <p:nvPr/>
        </p:nvSpPr>
        <p:spPr>
          <a:xfrm>
            <a:off x="4838700" y="6067425"/>
            <a:ext cx="1895475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12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5GC policy / control</a:t>
            </a:r>
            <a:endParaRPr lang="zh-TW" sz="1125"/>
          </a:p>
        </p:txBody>
      </p:sp>
      <p:cxnSp>
        <p:nvCxnSpPr>
          <p:cNvPr id="93" name="legend-line-3-0"/>
          <p:cNvCxnSpPr/>
          <p:nvPr/>
        </p:nvCxnSpPr>
        <p:spPr>
          <a:xfrm>
            <a:off x="7239000" y="6191250"/>
            <a:ext cx="304800" cy="0"/>
          </a:xfrm>
          <a:prstGeom prst="line">
            <a:avLst/>
          </a:prstGeom>
          <a:ln w="17145" cap="rnd">
            <a:solidFill>
              <a:srgbClr val="7D8795"/>
            </a:solidFill>
            <a:prstDash val="solid"/>
            <a:round/>
          </a:ln>
        </p:spPr>
      </p:cxnSp>
      <p:sp>
        <p:nvSpPr>
          <p:cNvPr id="94" name="legend-text-3"/>
          <p:cNvSpPr txBox="1"/>
          <p:nvPr/>
        </p:nvSpPr>
        <p:spPr>
          <a:xfrm>
            <a:off x="7639050" y="6067425"/>
            <a:ext cx="1895475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12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Cx / Diameter</a:t>
            </a:r>
            <a:endParaRPr lang="zh-TW" sz="1125"/>
          </a:p>
        </p:txBody>
      </p:sp>
      <p:cxnSp>
        <p:nvCxnSpPr>
          <p:cNvPr id="95" name="legend-line-4-0"/>
          <p:cNvCxnSpPr/>
          <p:nvPr/>
        </p:nvCxnSpPr>
        <p:spPr>
          <a:xfrm>
            <a:off x="9582150" y="6191250"/>
            <a:ext cx="304800" cy="0"/>
          </a:xfrm>
          <a:prstGeom prst="line">
            <a:avLst/>
          </a:prstGeom>
          <a:ln w="22860" cap="rnd">
            <a:solidFill>
              <a:srgbClr val="786B65"/>
            </a:solidFill>
            <a:prstDash val="dash"/>
            <a:round/>
          </a:ln>
        </p:spPr>
      </p:cxnSp>
      <p:sp>
        <p:nvSpPr>
          <p:cNvPr id="96" name="legend-text-4"/>
          <p:cNvSpPr txBox="1"/>
          <p:nvPr/>
        </p:nvSpPr>
        <p:spPr>
          <a:xfrm>
            <a:off x="9982200" y="6067425"/>
            <a:ext cx="1895475" cy="26670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125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Custom integration</a:t>
            </a:r>
            <a:endParaRPr lang="zh-TW" sz="1125"/>
          </a:p>
        </p:txBody>
      </p:sp>
      <p:sp>
        <p:nvSpPr>
          <p:cNvPr id="97" name="scope-note"/>
          <p:cNvSpPr txBox="1"/>
          <p:nvPr/>
        </p:nvSpPr>
        <p:spPr>
          <a:xfrm>
            <a:off x="457200" y="6486525"/>
            <a:ext cx="11296650" cy="2190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sz="1050" b="0">
                <a:solidFill>
                  <a:srgbClr val="5B6575"/>
                </a:solidFill>
                <a:latin typeface="Noto Sans CJK TC"/>
                <a:ea typeface="Noto Sans CJK TC"/>
                <a:cs typeface="Noto Sans CJK TC"/>
              </a:rPr>
              <a:t>PoC 範圍：RTP 在 UPF hairpin，不經 CSCF；QoS 僅驗證 PDR / QER 下發，未驗證端到端頻寬保證。</a:t>
            </a:r>
            <a:endParaRPr lang="zh-TW" sz="1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AA8A3ED9-DD9E-4CCD-A5C2-A61F88F44E47}"/>
              </a:ext>
            </a:extLst>
          </p:cNvPr>
          <p:cNvSpPr/>
          <p:nvPr/>
        </p:nvSpPr>
        <p:spPr>
          <a:xfrm>
            <a:off x="666750" y="1238250"/>
            <a:ext cx="3429000" cy="22479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DAA9802-200C-48DA-9957-0EBB16AD05C7}"/>
              </a:ext>
            </a:extLst>
          </p:cNvPr>
          <p:cNvSpPr/>
          <p:nvPr/>
        </p:nvSpPr>
        <p:spPr>
          <a:xfrm>
            <a:off x="4381500" y="1238250"/>
            <a:ext cx="3429000" cy="22479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43FA930-4867-41A9-B446-3A845B452293}"/>
              </a:ext>
            </a:extLst>
          </p:cNvPr>
          <p:cNvSpPr/>
          <p:nvPr/>
        </p:nvSpPr>
        <p:spPr>
          <a:xfrm>
            <a:off x="8096250" y="1238250"/>
            <a:ext cx="3429000" cy="224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466FB16-7FFE-48FC-93F4-7B4D302910F9}"/>
              </a:ext>
            </a:extLst>
          </p:cNvPr>
          <p:cNvSpPr/>
          <p:nvPr/>
        </p:nvSpPr>
        <p:spPr>
          <a:xfrm>
            <a:off x="666750" y="3676650"/>
            <a:ext cx="3429000" cy="22479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C6B9137-CA81-465F-AECA-DE52DEBCFF84}"/>
              </a:ext>
            </a:extLst>
          </p:cNvPr>
          <p:cNvSpPr/>
          <p:nvPr/>
        </p:nvSpPr>
        <p:spPr>
          <a:xfrm>
            <a:off x="4381500" y="3676650"/>
            <a:ext cx="3429000" cy="22479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B8A4C36-2A32-4BBA-99A9-D712D0604511}"/>
              </a:ext>
            </a:extLst>
          </p:cNvPr>
          <p:cNvSpPr/>
          <p:nvPr/>
        </p:nvSpPr>
        <p:spPr>
          <a:xfrm>
            <a:off x="8096250" y="3676650"/>
            <a:ext cx="3429000" cy="22479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17B7FDC-6475-42CB-85AA-BB1313CBE2AE}"/>
              </a:ext>
            </a:extLst>
          </p:cNvPr>
          <p:cNvSpPr txBox="1"/>
          <p:nvPr/>
        </p:nvSpPr>
        <p:spPr>
          <a:xfrm>
            <a:off x="666750" y="4381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一張圖看懂六種協定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18482C2-0A60-454A-9FCF-C2842E931F58}"/>
              </a:ext>
            </a:extLst>
          </p:cNvPr>
          <p:cNvSpPr txBox="1"/>
          <p:nvPr/>
        </p:nvSpPr>
        <p:spPr>
          <a:xfrm>
            <a:off x="895350" y="14287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E8742A"/>
                </a:solidFill>
              </a:rPr>
              <a:t>SIP</a:t>
            </a:r>
            <a:r>
              <a:rPr sz="1700" b="1">
                <a:solidFill>
                  <a:srgbClr val="5B6575"/>
                </a:solidFill>
              </a:rPr>
              <a:t>   Gm · Mw</a:t>
            </a:r>
          </a:p>
          <a:p>
            <a:pPr>
              <a:spcAft>
                <a:spcPts val="600"/>
              </a:spcAft>
            </a:pPr>
            <a:r>
              <a:rPr sz="1600" i="1">
                <a:solidFill>
                  <a:srgbClr val="5B6575"/>
                </a:solidFill>
              </a:rPr>
              <a:t>Session Initiation Protocol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註冊與通話信令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66380E2-6FA3-4427-B36F-8FC2694418F4}"/>
              </a:ext>
            </a:extLst>
          </p:cNvPr>
          <p:cNvSpPr txBox="1"/>
          <p:nvPr/>
        </p:nvSpPr>
        <p:spPr>
          <a:xfrm>
            <a:off x="4610100" y="14287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E8742A"/>
                </a:solidFill>
              </a:rPr>
              <a:t>Diameter</a:t>
            </a:r>
            <a:r>
              <a:rPr sz="1700" b="1">
                <a:solidFill>
                  <a:srgbClr val="5B6575"/>
                </a:solidFill>
              </a:rPr>
              <a:t>   Cx · Rx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CSCF 向 HSS 查用戶、拿認證向量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E2ABE1F-1DB7-42D5-8223-4826B4790746}"/>
              </a:ext>
            </a:extLst>
          </p:cNvPr>
          <p:cNvSpPr txBox="1"/>
          <p:nvPr/>
        </p:nvSpPr>
        <p:spPr>
          <a:xfrm>
            <a:off x="8324850" y="14287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4213D"/>
                </a:solidFill>
              </a:rPr>
              <a:t>RTP</a:t>
            </a:r>
            <a:r>
              <a:rPr sz="1700" b="1">
                <a:solidFill>
                  <a:srgbClr val="5B6575"/>
                </a:solidFill>
              </a:rPr>
              <a:t>   媒體面</a:t>
            </a:r>
          </a:p>
          <a:p>
            <a:pPr>
              <a:spcAft>
                <a:spcPts val="600"/>
              </a:spcAft>
            </a:pPr>
            <a:r>
              <a:rPr sz="1600" i="1">
                <a:solidFill>
                  <a:srgbClr val="5B6575"/>
                </a:solidFill>
              </a:rPr>
              <a:t>Real-time Transport Protocol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語音封包，兩端直接互送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198F9F8-00CE-436B-B5E6-04FE31AA7B55}"/>
              </a:ext>
            </a:extLst>
          </p:cNvPr>
          <p:cNvSpPr txBox="1"/>
          <p:nvPr/>
        </p:nvSpPr>
        <p:spPr>
          <a:xfrm>
            <a:off x="895350" y="38671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0F4C81"/>
                </a:solidFill>
              </a:rPr>
              <a:t>HTTP/2 SBI</a:t>
            </a:r>
            <a:r>
              <a:rPr sz="1700" b="1">
                <a:solidFill>
                  <a:srgbClr val="5B6575"/>
                </a:solidFill>
              </a:rPr>
              <a:t>   N5 · N7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5GC 內部的 REST API；N5 要 QoS 也走它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4601E1B-B1EA-483D-90FD-726C790B0BB0}"/>
              </a:ext>
            </a:extLst>
          </p:cNvPr>
          <p:cNvSpPr txBox="1"/>
          <p:nvPr/>
        </p:nvSpPr>
        <p:spPr>
          <a:xfrm>
            <a:off x="4610100" y="38671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0F4C81"/>
                </a:solidFill>
              </a:rPr>
              <a:t>PFCP</a:t>
            </a:r>
            <a:r>
              <a:rPr sz="1700" b="1">
                <a:solidFill>
                  <a:srgbClr val="5B6575"/>
                </a:solidFill>
              </a:rPr>
              <a:t>   N4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SMF 對 UPF 下封包規則（PDR、QER）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015D8DD-6ECB-4260-90C1-83D4313A22E2}"/>
              </a:ext>
            </a:extLst>
          </p:cNvPr>
          <p:cNvSpPr txBox="1"/>
          <p:nvPr/>
        </p:nvSpPr>
        <p:spPr>
          <a:xfrm>
            <a:off x="8324850" y="38671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0F4C81"/>
                </a:solidFill>
              </a:rPr>
              <a:t>GTP-U</a:t>
            </a:r>
            <a:r>
              <a:rPr sz="1700" b="1">
                <a:solidFill>
                  <a:srgbClr val="5B6575"/>
                </a:solidFill>
              </a:rPr>
              <a:t>   N3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把 UE 封包包進隧道送到 UPF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9CD1372-47F7-4611-84CF-8B4C540FBBF0}"/>
              </a:ext>
            </a:extLst>
          </p:cNvPr>
          <p:cNvSpPr txBox="1"/>
          <p:nvPr/>
        </p:nvSpPr>
        <p:spPr>
          <a:xfrm>
            <a:off x="666750" y="6096000"/>
            <a:ext cx="108585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>
                <a:solidFill>
                  <a:srgbClr val="5B6575"/>
                </a:solidFill>
              </a:rPr>
              <a:t>橘：IMS 側；藍：5GC 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B48C803-0FAE-4C89-B394-5E15368DE13D}"/>
              </a:ext>
            </a:extLst>
          </p:cNvPr>
          <p:cNvSpPr/>
          <p:nvPr/>
        </p:nvSpPr>
        <p:spPr>
          <a:xfrm>
            <a:off x="44672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0F2DA39-76F1-4F47-94AD-B284189139C5}"/>
              </a:ext>
            </a:extLst>
          </p:cNvPr>
          <p:cNvSpPr/>
          <p:nvPr/>
        </p:nvSpPr>
        <p:spPr>
          <a:xfrm>
            <a:off x="61817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1BED0FF-9307-474C-9365-3D9DE7AEA45D}"/>
              </a:ext>
            </a:extLst>
          </p:cNvPr>
          <p:cNvSpPr/>
          <p:nvPr/>
        </p:nvSpPr>
        <p:spPr>
          <a:xfrm>
            <a:off x="78962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FBE4920-B22E-46D5-B7B5-E5023447992D}"/>
              </a:ext>
            </a:extLst>
          </p:cNvPr>
          <p:cNvSpPr/>
          <p:nvPr/>
        </p:nvSpPr>
        <p:spPr>
          <a:xfrm>
            <a:off x="96107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BC14791-18A0-4A33-902C-513243B012EF}"/>
              </a:ext>
            </a:extLst>
          </p:cNvPr>
          <p:cNvSpPr/>
          <p:nvPr/>
        </p:nvSpPr>
        <p:spPr>
          <a:xfrm>
            <a:off x="111347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69B66A3-DA0A-45D0-B112-5B6F21F34758}"/>
              </a:ext>
            </a:extLst>
          </p:cNvPr>
          <p:cNvSpPr/>
          <p:nvPr/>
        </p:nvSpPr>
        <p:spPr>
          <a:xfrm>
            <a:off x="4000500" y="571500"/>
            <a:ext cx="952500" cy="381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UE1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ED60D6C-1E82-49F3-8C97-962165CB48AA}"/>
              </a:ext>
            </a:extLst>
          </p:cNvPr>
          <p:cNvSpPr/>
          <p:nvPr/>
        </p:nvSpPr>
        <p:spPr>
          <a:xfrm>
            <a:off x="57150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P-CSCF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09AA63A-0FE0-4643-A816-A197EC7A6FEB}"/>
              </a:ext>
            </a:extLst>
          </p:cNvPr>
          <p:cNvSpPr/>
          <p:nvPr/>
        </p:nvSpPr>
        <p:spPr>
          <a:xfrm>
            <a:off x="74295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I-CSCF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0D9439F-2814-4781-87AB-9CBC4F0EDC82}"/>
              </a:ext>
            </a:extLst>
          </p:cNvPr>
          <p:cNvSpPr/>
          <p:nvPr/>
        </p:nvSpPr>
        <p:spPr>
          <a:xfrm>
            <a:off x="91440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S-CSCF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D12C462-A302-49D5-B53E-9A152C4E7E87}"/>
              </a:ext>
            </a:extLst>
          </p:cNvPr>
          <p:cNvSpPr/>
          <p:nvPr/>
        </p:nvSpPr>
        <p:spPr>
          <a:xfrm>
            <a:off x="10706100" y="571500"/>
            <a:ext cx="876300" cy="381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UE2</a:t>
            </a:r>
          </a:p>
        </p:txBody>
      </p:sp>
      <p:cxnSp>
        <p:nvCxnSpPr>
          <p:cNvPr id="13" name="Straight Connector 13">
            <a:extLst>
              <a:ext uri="{FF2B5EF4-FFF2-40B4-BE49-F238E27FC236}">
                <a16:creationId xmlns:a16="http://schemas.microsoft.com/office/drawing/2014/main" id="{7C2A8D0A-7BF1-4911-B3D7-8529C04A9994}"/>
              </a:ext>
            </a:extLst>
          </p:cNvPr>
          <p:cNvCxnSpPr/>
          <p:nvPr/>
        </p:nvCxnSpPr>
        <p:spPr>
          <a:xfrm>
            <a:off x="4476750" y="138112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4" name="Straight Connector 14">
            <a:extLst>
              <a:ext uri="{FF2B5EF4-FFF2-40B4-BE49-F238E27FC236}">
                <a16:creationId xmlns:a16="http://schemas.microsoft.com/office/drawing/2014/main" id="{50488069-F679-48D8-96BB-44AE0847D818}"/>
              </a:ext>
            </a:extLst>
          </p:cNvPr>
          <p:cNvCxnSpPr/>
          <p:nvPr/>
        </p:nvCxnSpPr>
        <p:spPr>
          <a:xfrm>
            <a:off x="6191250" y="1714500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156B15D5-64E4-4576-B5A8-FC296F443E52}"/>
              </a:ext>
            </a:extLst>
          </p:cNvPr>
          <p:cNvCxnSpPr/>
          <p:nvPr/>
        </p:nvCxnSpPr>
        <p:spPr>
          <a:xfrm>
            <a:off x="7905750" y="204787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2B185C6C-211A-4B6B-8A08-ABD6E05BEA82}"/>
              </a:ext>
            </a:extLst>
          </p:cNvPr>
          <p:cNvCxnSpPr/>
          <p:nvPr/>
        </p:nvCxnSpPr>
        <p:spPr>
          <a:xfrm flipH="1">
            <a:off x="6191250" y="2381250"/>
            <a:ext cx="34290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8EA80E3A-4F7D-4703-BC10-3B214DC40342}"/>
              </a:ext>
            </a:extLst>
          </p:cNvPr>
          <p:cNvCxnSpPr/>
          <p:nvPr/>
        </p:nvCxnSpPr>
        <p:spPr>
          <a:xfrm>
            <a:off x="6191250" y="2714625"/>
            <a:ext cx="49530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AE2ECFAB-CE66-46A8-9D81-3765AF9D826E}"/>
              </a:ext>
            </a:extLst>
          </p:cNvPr>
          <p:cNvCxnSpPr/>
          <p:nvPr/>
        </p:nvCxnSpPr>
        <p:spPr>
          <a:xfrm flipH="1">
            <a:off x="4476750" y="3095625"/>
            <a:ext cx="6667500" cy="9525"/>
          </a:xfrm>
          <a:prstGeom prst="straightConnector1">
            <a:avLst/>
          </a:prstGeom>
          <a:ln w="19050" cap="flat">
            <a:solidFill>
              <a:srgbClr val="5B6575"/>
            </a:solidFill>
            <a:tailEnd type="triangle" w="med" len="med"/>
          </a:ln>
        </p:spPr>
      </p:cxnSp>
      <p:cxnSp>
        <p:nvCxnSpPr>
          <p:cNvPr id="19" name="Straight Connector 19">
            <a:extLst>
              <a:ext uri="{FF2B5EF4-FFF2-40B4-BE49-F238E27FC236}">
                <a16:creationId xmlns:a16="http://schemas.microsoft.com/office/drawing/2014/main" id="{45B9E8BD-8C86-4309-8679-963EE7A84110}"/>
              </a:ext>
            </a:extLst>
          </p:cNvPr>
          <p:cNvCxnSpPr/>
          <p:nvPr/>
        </p:nvCxnSpPr>
        <p:spPr>
          <a:xfrm flipH="1">
            <a:off x="4476750" y="3476625"/>
            <a:ext cx="6667500" cy="9525"/>
          </a:xfrm>
          <a:prstGeom prst="straightConnector1">
            <a:avLst/>
          </a:prstGeom>
          <a:ln w="25400" cap="flat">
            <a:solidFill>
              <a:srgbClr val="E8742A"/>
            </a:solidFill>
            <a:tailEnd type="triangle" w="med" len="med"/>
          </a:ln>
        </p:spPr>
      </p:cxnSp>
      <p:sp>
        <p:nvSpPr>
          <p:cNvPr id="20" name="Shape 20">
            <a:extLst>
              <a:ext uri="{FF2B5EF4-FFF2-40B4-BE49-F238E27FC236}">
                <a16:creationId xmlns:a16="http://schemas.microsoft.com/office/drawing/2014/main" id="{498FEBE3-76D1-4111-A5E5-3021E3E10997}"/>
              </a:ext>
            </a:extLst>
          </p:cNvPr>
          <p:cNvSpPr/>
          <p:nvPr/>
        </p:nvSpPr>
        <p:spPr>
          <a:xfrm>
            <a:off x="4762500" y="3638550"/>
            <a:ext cx="3429000" cy="4381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雙方 SDP 已知 → 經 N5 要 QoS（5QI 1）</a:t>
            </a:r>
          </a:p>
        </p:txBody>
      </p: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84F1116D-1DC6-4912-B5FD-822A73DE613A}"/>
              </a:ext>
            </a:extLst>
          </p:cNvPr>
          <p:cNvCxnSpPr/>
          <p:nvPr/>
        </p:nvCxnSpPr>
        <p:spPr>
          <a:xfrm>
            <a:off x="4476750" y="4429125"/>
            <a:ext cx="6667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sp>
        <p:nvSpPr>
          <p:cNvPr id="22" name="Shape 22">
            <a:extLst>
              <a:ext uri="{FF2B5EF4-FFF2-40B4-BE49-F238E27FC236}">
                <a16:creationId xmlns:a16="http://schemas.microsoft.com/office/drawing/2014/main" id="{2ADAAA04-14E5-415C-BE34-4CB975F17786}"/>
              </a:ext>
            </a:extLst>
          </p:cNvPr>
          <p:cNvSpPr/>
          <p:nvPr/>
        </p:nvSpPr>
        <p:spPr>
          <a:xfrm>
            <a:off x="4476750" y="4686300"/>
            <a:ext cx="6667500" cy="381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RTP 語音雙向互送（在 UPF 內 hairpin，不經過任何 CSCF）</a:t>
            </a:r>
          </a:p>
        </p:txBody>
      </p: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0D1B7E99-F6A5-4407-B1A2-3A3529E11743}"/>
              </a:ext>
            </a:extLst>
          </p:cNvPr>
          <p:cNvCxnSpPr/>
          <p:nvPr/>
        </p:nvCxnSpPr>
        <p:spPr>
          <a:xfrm>
            <a:off x="4476750" y="5524500"/>
            <a:ext cx="6667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sp>
        <p:nvSpPr>
          <p:cNvPr id="24" name="TextBox 24">
            <a:extLst>
              <a:ext uri="{FF2B5EF4-FFF2-40B4-BE49-F238E27FC236}">
                <a16:creationId xmlns:a16="http://schemas.microsoft.com/office/drawing/2014/main" id="{C210EE51-6446-4CEF-ACF3-34FBC518BFF7}"/>
              </a:ext>
            </a:extLst>
          </p:cNvPr>
          <p:cNvSpPr txBox="1"/>
          <p:nvPr/>
        </p:nvSpPr>
        <p:spPr>
          <a:xfrm>
            <a:off x="4533900" y="115252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INVITE（SDP offer）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B45E383-0E3C-4091-8A66-CF0C3FC5DF08}"/>
              </a:ext>
            </a:extLst>
          </p:cNvPr>
          <p:cNvSpPr txBox="1"/>
          <p:nvPr/>
        </p:nvSpPr>
        <p:spPr>
          <a:xfrm>
            <a:off x="6248400" y="1485900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INVITE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9FC202C-17C7-4DF2-9CDF-555EADCDC29C}"/>
              </a:ext>
            </a:extLst>
          </p:cNvPr>
          <p:cNvSpPr txBox="1"/>
          <p:nvPr/>
        </p:nvSpPr>
        <p:spPr>
          <a:xfrm>
            <a:off x="7962900" y="181927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 b="1">
                <a:solidFill>
                  <a:srgbClr val="0F4C81"/>
                </a:solidFill>
              </a:rPr>
              <a:t>先 LIR 問 HSS，再 INVITE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388690B-8B43-4F9E-A332-3F0091FA3D23}"/>
              </a:ext>
            </a:extLst>
          </p:cNvPr>
          <p:cNvSpPr txBox="1"/>
          <p:nvPr/>
        </p:nvSpPr>
        <p:spPr>
          <a:xfrm>
            <a:off x="6248400" y="2152650"/>
            <a:ext cx="33337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14213D"/>
                </a:solidFill>
              </a:rPr>
              <a:t>INVITE 依 Path 送回 P-CSCF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0FA739BA-09B8-4C48-AD90-769DD9713D6F}"/>
              </a:ext>
            </a:extLst>
          </p:cNvPr>
          <p:cNvSpPr txBox="1"/>
          <p:nvPr/>
        </p:nvSpPr>
        <p:spPr>
          <a:xfrm>
            <a:off x="7962900" y="2486025"/>
            <a:ext cx="31432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14213D"/>
                </a:solidFill>
              </a:rPr>
              <a:t>INVITE 到被叫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B4092E57-72C7-4301-AA6D-3B58E430FF38}"/>
              </a:ext>
            </a:extLst>
          </p:cNvPr>
          <p:cNvSpPr txBox="1"/>
          <p:nvPr/>
        </p:nvSpPr>
        <p:spPr>
          <a:xfrm>
            <a:off x="4533900" y="2867025"/>
            <a:ext cx="65722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5B6575"/>
                </a:solidFill>
              </a:rPr>
              <a:t>180 Ringing（沿 Via 原路返回）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485F08A-5453-43FC-A2DA-322F950D5A42}"/>
              </a:ext>
            </a:extLst>
          </p:cNvPr>
          <p:cNvSpPr txBox="1"/>
          <p:nvPr/>
        </p:nvSpPr>
        <p:spPr>
          <a:xfrm>
            <a:off x="4533900" y="3238500"/>
            <a:ext cx="6572250" cy="2095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742A"/>
                </a:solidFill>
              </a:rPr>
              <a:t>200 OK（SDP answer）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B6C82C4-666F-4583-B37C-FC884BAE551E}"/>
              </a:ext>
            </a:extLst>
          </p:cNvPr>
          <p:cNvSpPr txBox="1"/>
          <p:nvPr/>
        </p:nvSpPr>
        <p:spPr>
          <a:xfrm>
            <a:off x="4533900" y="4200525"/>
            <a:ext cx="65722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14213D"/>
                </a:solidFill>
              </a:rPr>
              <a:t>ACK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FB4D5E2-520A-46B1-97F4-A4B9BE5E7A39}"/>
              </a:ext>
            </a:extLst>
          </p:cNvPr>
          <p:cNvSpPr txBox="1"/>
          <p:nvPr/>
        </p:nvSpPr>
        <p:spPr>
          <a:xfrm>
            <a:off x="4533900" y="5295900"/>
            <a:ext cx="65722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</a:rPr>
              <a:t>BYE 掛斷 → P-CSCF 同時釋放 QoS 規則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390C1261-A4D6-4E6E-BEC7-9CB88D4063C0}"/>
              </a:ext>
            </a:extLst>
          </p:cNvPr>
          <p:cNvSpPr txBox="1"/>
          <p:nvPr/>
        </p:nvSpPr>
        <p:spPr>
          <a:xfrm>
            <a:off x="476250" y="533400"/>
            <a:ext cx="34290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14213D"/>
                </a:solidFill>
              </a:rPr>
              <a:t>一通電話的訊息階梯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C7364926-07D9-4AEC-A256-600D35CBD6D6}"/>
              </a:ext>
            </a:extLst>
          </p:cNvPr>
          <p:cNvSpPr txBox="1"/>
          <p:nvPr/>
        </p:nvSpPr>
        <p:spPr>
          <a:xfrm>
            <a:off x="476250" y="1428750"/>
            <a:ext cx="3238500" cy="4953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E8742A"/>
                </a:solidFill>
              </a:rPr>
              <a:t>P-CSCF 為什麼出現兩次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主叫出去、被叫靠 Path 繞回，兩端各要一次 QoS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E8742A"/>
                </a:solidFill>
              </a:rPr>
              <a:t>為什麼等到 200 OK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offer、answer 到齊，RTP 位址才完整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F4C81"/>
                </a:solidFill>
              </a:rPr>
              <a:t>信令與媒體分家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SIP 經三個 CSCF；RTP 在 UPF 內直接轉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9ED17C16-E642-443A-BF8F-5883B59A00F7}"/>
              </a:ext>
            </a:extLst>
          </p:cNvPr>
          <p:cNvSpPr/>
          <p:nvPr/>
        </p:nvSpPr>
        <p:spPr>
          <a:xfrm>
            <a:off x="666750" y="1905000"/>
            <a:ext cx="1866900" cy="666750"/>
          </a:xfrm>
          <a:prstGeom prst="chevron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SDP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D90E099-6DB3-45C6-A765-D4E464ECDE14}"/>
              </a:ext>
            </a:extLst>
          </p:cNvPr>
          <p:cNvSpPr/>
          <p:nvPr/>
        </p:nvSpPr>
        <p:spPr>
          <a:xfrm>
            <a:off x="2457450" y="1905000"/>
            <a:ext cx="1866900" cy="666750"/>
          </a:xfrm>
          <a:prstGeom prst="chevron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N5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DAEE8C5-8546-4210-9464-EC1F2820E3B7}"/>
              </a:ext>
            </a:extLst>
          </p:cNvPr>
          <p:cNvSpPr/>
          <p:nvPr/>
        </p:nvSpPr>
        <p:spPr>
          <a:xfrm>
            <a:off x="4248150" y="1905000"/>
            <a:ext cx="1866900" cy="666750"/>
          </a:xfrm>
          <a:prstGeom prst="chevron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PCF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0BA472D-6C50-4E95-B804-129C6F3D32E2}"/>
              </a:ext>
            </a:extLst>
          </p:cNvPr>
          <p:cNvSpPr/>
          <p:nvPr/>
        </p:nvSpPr>
        <p:spPr>
          <a:xfrm>
            <a:off x="6038850" y="1905000"/>
            <a:ext cx="1866900" cy="666750"/>
          </a:xfrm>
          <a:prstGeom prst="chevron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N7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40A2E96-36BE-46C5-8DD0-C2D33C5A83AB}"/>
              </a:ext>
            </a:extLst>
          </p:cNvPr>
          <p:cNvSpPr/>
          <p:nvPr/>
        </p:nvSpPr>
        <p:spPr>
          <a:xfrm>
            <a:off x="7829550" y="1905000"/>
            <a:ext cx="1866900" cy="666750"/>
          </a:xfrm>
          <a:prstGeom prst="chevron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SMF → N4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7304E56-6F0F-465B-A115-0EFC20FED942}"/>
              </a:ext>
            </a:extLst>
          </p:cNvPr>
          <p:cNvSpPr/>
          <p:nvPr/>
        </p:nvSpPr>
        <p:spPr>
          <a:xfrm>
            <a:off x="9620250" y="1905000"/>
            <a:ext cx="1866900" cy="666750"/>
          </a:xfrm>
          <a:prstGeom prst="chevron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UPF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E90B447-2F6F-460A-A5B4-72A539859CD3}"/>
              </a:ext>
            </a:extLst>
          </p:cNvPr>
          <p:cNvSpPr txBox="1"/>
          <p:nvPr/>
        </p:nvSpPr>
        <p:spPr>
          <a:xfrm>
            <a:off x="666750" y="53340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QoS 迴圈：從 SDP 到 UPF 規則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60F78C5-7A8C-4F91-8719-DB57A1E83C74}"/>
              </a:ext>
            </a:extLst>
          </p:cNvPr>
          <p:cNvSpPr txBox="1"/>
          <p:nvPr/>
        </p:nvSpPr>
        <p:spPr>
          <a:xfrm>
            <a:off x="666750" y="1162050"/>
            <a:ext cx="10858500" cy="3048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200 OK 觸發，每一跳翻譯成下一層的格式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C2FDCD1-C15E-465C-AC33-C9299E5AC594}"/>
              </a:ext>
            </a:extLst>
          </p:cNvPr>
          <p:cNvSpPr txBox="1"/>
          <p:nvPr/>
        </p:nvSpPr>
        <p:spPr>
          <a:xfrm>
            <a:off x="8001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P-CSCF 讀 SDP</a:t>
            </a:r>
          </a:p>
          <a:p>
            <a:r>
              <a:rPr sz="1500">
                <a:solidFill>
                  <a:srgbClr val="5B6575"/>
                </a:solidFill>
              </a:rPr>
              <a:t>c= 與 m=audio → RTP 5-tuple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842525B-5423-4846-B63D-AF91F28E8D2C}"/>
              </a:ext>
            </a:extLst>
          </p:cNvPr>
          <p:cNvSpPr txBox="1"/>
          <p:nvPr/>
        </p:nvSpPr>
        <p:spPr>
          <a:xfrm>
            <a:off x="25908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POST /app-sessions</a:t>
            </a:r>
          </a:p>
          <a:p>
            <a:r>
              <a:rPr sz="1500">
                <a:solidFill>
                  <a:srgbClr val="5B6575"/>
                </a:solidFill>
              </a:rPr>
              <a:t>medType AUDIO、flow、位元率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2B97AAC-775F-4B58-A9C2-C67DF9352BCD}"/>
              </a:ext>
            </a:extLst>
          </p:cNvPr>
          <p:cNvSpPr txBox="1"/>
          <p:nvPr/>
        </p:nvSpPr>
        <p:spPr>
          <a:xfrm>
            <a:off x="43815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PCC rule</a:t>
            </a:r>
          </a:p>
          <a:p>
            <a:r>
              <a:rPr sz="1500">
                <a:solidFill>
                  <a:srgbClr val="5B6575"/>
                </a:solidFill>
              </a:rPr>
              <a:t>依 UE IP 綁定；AUDIO → 5QI 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D7021AF-9A94-4FF8-8B94-387B34483C7B}"/>
              </a:ext>
            </a:extLst>
          </p:cNvPr>
          <p:cNvSpPr txBox="1"/>
          <p:nvPr/>
        </p:nvSpPr>
        <p:spPr>
          <a:xfrm>
            <a:off x="61722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SM Policy Update</a:t>
            </a:r>
          </a:p>
          <a:p>
            <a:r>
              <a:rPr sz="1500">
                <a:solidFill>
                  <a:srgbClr val="5B6575"/>
                </a:solidFill>
              </a:rPr>
              <a:t>PCF 通知 SMF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45D46F9-427E-4674-A893-216C5C9D26E7}"/>
              </a:ext>
            </a:extLst>
          </p:cNvPr>
          <p:cNvSpPr txBox="1"/>
          <p:nvPr/>
        </p:nvSpPr>
        <p:spPr>
          <a:xfrm>
            <a:off x="79629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PFCP Session Modification</a:t>
            </a:r>
          </a:p>
          <a:p>
            <a:r>
              <a:rPr sz="1500">
                <a:solidFill>
                  <a:srgbClr val="5B6575"/>
                </a:solidFill>
              </a:rPr>
              <a:t>PCC rule → PDR + QER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9382618-C2EB-4A9F-9495-88605FD3C1B1}"/>
              </a:ext>
            </a:extLst>
          </p:cNvPr>
          <p:cNvSpPr txBox="1"/>
          <p:nvPr/>
        </p:nvSpPr>
        <p:spPr>
          <a:xfrm>
            <a:off x="9753600" y="2857500"/>
            <a:ext cx="16764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gtp5g 規則</a:t>
            </a:r>
          </a:p>
          <a:p>
            <a:r>
              <a:rPr sz="1500">
                <a:solidFill>
                  <a:srgbClr val="5B6575"/>
                </a:solidFill>
              </a:rPr>
              <a:t>依 PDR 比對語音封包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907F5AB0-B553-449F-B620-8F6BD18A2F07}"/>
              </a:ext>
            </a:extLst>
          </p:cNvPr>
          <p:cNvSpPr/>
          <p:nvPr/>
        </p:nvSpPr>
        <p:spPr>
          <a:xfrm>
            <a:off x="666750" y="5391150"/>
            <a:ext cx="10858500" cy="9144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4C81"/>
                </a:solidFill>
              </a:rPr>
              <a:t>   注意：</a:t>
            </a:r>
            <a:r>
              <a:rPr sz="1500">
                <a:solidFill>
                  <a:srgbClr val="14213D"/>
                </a:solidFill>
              </a:rPr>
              <a:t>free5gc 只裝規則、不真的限速；測試只驗證規則存在。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14213D"/>
                </a:solidFill>
              </a:rPr>
              <a:t>   BYE 時沿同一條鏈釋放。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A41817C5-EBB3-4A37-8784-EB88C3E12213}"/>
              </a:ext>
            </a:extLst>
          </p:cNvPr>
          <p:cNvSpPr/>
          <p:nvPr/>
        </p:nvSpPr>
        <p:spPr>
          <a:xfrm>
            <a:off x="666750" y="1333500"/>
            <a:ext cx="34290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BAF6A9A-BF18-4CBC-9903-CA3346DE5D82}"/>
              </a:ext>
            </a:extLst>
          </p:cNvPr>
          <p:cNvSpPr/>
          <p:nvPr/>
        </p:nvSpPr>
        <p:spPr>
          <a:xfrm>
            <a:off x="4381500" y="1333500"/>
            <a:ext cx="3429000" cy="40005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42225BD-9A46-4891-826E-30C58D2B64FE}"/>
              </a:ext>
            </a:extLst>
          </p:cNvPr>
          <p:cNvSpPr/>
          <p:nvPr/>
        </p:nvSpPr>
        <p:spPr>
          <a:xfrm>
            <a:off x="8096250" y="1333500"/>
            <a:ext cx="3429000" cy="40005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CCB14EE-2121-427E-A48A-445A4D549A06}"/>
              </a:ext>
            </a:extLst>
          </p:cNvPr>
          <p:cNvSpPr txBox="1"/>
          <p:nvPr/>
        </p:nvSpPr>
        <p:spPr>
          <a:xfrm>
            <a:off x="666750" y="4381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5QI：網路給每種流量的服務等級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8DCA7F7-4E8A-4CF6-AF9D-33F30BE4AD7B}"/>
              </a:ext>
            </a:extLst>
          </p:cNvPr>
          <p:cNvSpPr txBox="1"/>
          <p:nvPr/>
        </p:nvSpPr>
        <p:spPr>
          <a:xfrm>
            <a:off x="666750" y="1047750"/>
            <a:ext cx="1085850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700">
                <a:solidFill>
                  <a:srgbClr val="5B6575"/>
                </a:solidFill>
              </a:rPr>
              <a:t>TS 23.501 的標準服務等級；VoNR 用後兩種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431DC7A-EB17-4713-9D8F-35DBA6669672}"/>
              </a:ext>
            </a:extLst>
          </p:cNvPr>
          <p:cNvSpPr txBox="1"/>
          <p:nvPr/>
        </p:nvSpPr>
        <p:spPr>
          <a:xfrm>
            <a:off x="933450" y="1543050"/>
            <a:ext cx="2895600" cy="3619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4400" b="1">
                <a:solidFill>
                  <a:srgbClr val="5B6575"/>
                </a:solidFill>
              </a:rPr>
              <a:t>5QI 9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4213D"/>
                </a:solidFill>
              </a:rPr>
              <a:t>一般上網（internet DNN 預設）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資源類型  </a:t>
            </a:r>
            <a:r>
              <a:rPr sz="1600" b="1">
                <a:solidFill>
                  <a:srgbClr val="14213D"/>
                </a:solidFill>
              </a:rPr>
              <a:t>Non-GBR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延遲預算  </a:t>
            </a:r>
            <a:r>
              <a:rPr sz="1600" b="1">
                <a:solidFill>
                  <a:srgbClr val="14213D"/>
                </a:solidFill>
              </a:rPr>
              <a:t>300 ms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封包錯誤率  </a:t>
            </a:r>
            <a:r>
              <a:rPr sz="1600" b="1">
                <a:solidFill>
                  <a:srgbClr val="14213D"/>
                </a:solidFill>
              </a:rPr>
              <a:t>10⁻⁶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5B6575"/>
                </a:solidFill>
              </a:rPr>
              <a:t>優先權  </a:t>
            </a:r>
            <a:r>
              <a:rPr sz="1600" b="1">
                <a:solidFill>
                  <a:srgbClr val="14213D"/>
                </a:solidFill>
              </a:rPr>
              <a:t>90（越小越優先）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210C72-41E8-4BD8-B222-9A1549044615}"/>
              </a:ext>
            </a:extLst>
          </p:cNvPr>
          <p:cNvSpPr txBox="1"/>
          <p:nvPr/>
        </p:nvSpPr>
        <p:spPr>
          <a:xfrm>
            <a:off x="4648200" y="1543050"/>
            <a:ext cx="2895600" cy="3619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4400" b="1">
                <a:solidFill>
                  <a:srgbClr val="0F4C81"/>
                </a:solidFill>
              </a:rPr>
              <a:t>5QI 5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4213D"/>
                </a:solidFill>
              </a:rPr>
              <a:t>IMS 信令（ims DNN 預設）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資源類型  </a:t>
            </a:r>
            <a:r>
              <a:rPr sz="1600" b="1">
                <a:solidFill>
                  <a:srgbClr val="14213D"/>
                </a:solidFill>
              </a:rPr>
              <a:t>Non-GBR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延遲預算  </a:t>
            </a:r>
            <a:r>
              <a:rPr sz="1600" b="1">
                <a:solidFill>
                  <a:srgbClr val="14213D"/>
                </a:solidFill>
              </a:rPr>
              <a:t>100 ms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封包錯誤率  </a:t>
            </a:r>
            <a:r>
              <a:rPr sz="1600" b="1">
                <a:solidFill>
                  <a:srgbClr val="14213D"/>
                </a:solidFill>
              </a:rPr>
              <a:t>10⁻⁶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5B6575"/>
                </a:solidFill>
              </a:rPr>
              <a:t>優先權  </a:t>
            </a:r>
            <a:r>
              <a:rPr sz="1600" b="1">
                <a:solidFill>
                  <a:srgbClr val="14213D"/>
                </a:solidFill>
              </a:rPr>
              <a:t>10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E49443D-63B9-48B2-94B7-7E45CD149474}"/>
              </a:ext>
            </a:extLst>
          </p:cNvPr>
          <p:cNvSpPr txBox="1"/>
          <p:nvPr/>
        </p:nvSpPr>
        <p:spPr>
          <a:xfrm>
            <a:off x="8362950" y="1543050"/>
            <a:ext cx="2895600" cy="3619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4400" b="1">
                <a:solidFill>
                  <a:srgbClr val="E8742A"/>
                </a:solidFill>
              </a:rPr>
              <a:t>5QI 1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4213D"/>
                </a:solidFill>
              </a:rPr>
              <a:t>通話語音（通話中由 N5 觸發）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資源類型  </a:t>
            </a:r>
            <a:r>
              <a:rPr sz="1600" b="1">
                <a:solidFill>
                  <a:srgbClr val="14213D"/>
                </a:solidFill>
              </a:rPr>
              <a:t>GBR 保證頻寬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延遲預算  </a:t>
            </a:r>
            <a:r>
              <a:rPr sz="1600" b="1">
                <a:solidFill>
                  <a:srgbClr val="14213D"/>
                </a:solidFill>
              </a:rPr>
              <a:t>100 ms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封包錯誤率  </a:t>
            </a:r>
            <a:r>
              <a:rPr sz="1600" b="1">
                <a:solidFill>
                  <a:srgbClr val="14213D"/>
                </a:solidFill>
              </a:rPr>
              <a:t>10⁻²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5B6575"/>
                </a:solidFill>
              </a:rPr>
              <a:t>優先權  </a:t>
            </a:r>
            <a:r>
              <a:rPr sz="1600" b="1">
                <a:solidFill>
                  <a:srgbClr val="14213D"/>
                </a:solidFill>
              </a:rPr>
              <a:t>20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1038E93-FFDB-4D93-AC74-5267F643DA29}"/>
              </a:ext>
            </a:extLst>
          </p:cNvPr>
          <p:cNvSpPr/>
          <p:nvPr/>
        </p:nvSpPr>
        <p:spPr>
          <a:xfrm>
            <a:off x="666750" y="5562600"/>
            <a:ext cx="10858500" cy="8001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8742A"/>
                </a:solidFill>
              </a:rPr>
              <a:t>   語音錯誤率較寬：</a:t>
            </a:r>
            <a:r>
              <a:rPr sz="1500">
                <a:solidFill>
                  <a:srgbClr val="FFFFFF"/>
                </a:solidFill>
              </a:rPr>
              <a:t>掉 1% 聽不出來，延遲聽得出來；要的是準時，不是一包不漏。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F005CC9-9031-4A46-91BB-C747B82B213D}"/>
              </a:ext>
            </a:extLst>
          </p:cNvPr>
          <p:cNvSpPr/>
          <p:nvPr/>
        </p:nvSpPr>
        <p:spPr>
          <a:xfrm>
            <a:off x="666750" y="1619250"/>
            <a:ext cx="3619500" cy="2762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5D9E63C-6491-4701-8A6F-57B7BFC200E0}"/>
              </a:ext>
            </a:extLst>
          </p:cNvPr>
          <p:cNvSpPr/>
          <p:nvPr/>
        </p:nvSpPr>
        <p:spPr>
          <a:xfrm>
            <a:off x="7905750" y="1619250"/>
            <a:ext cx="3619500" cy="276225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18F0E8C-FDE5-4F37-875F-571802DDB55A}"/>
              </a:ext>
            </a:extLst>
          </p:cNvPr>
          <p:cNvSpPr/>
          <p:nvPr/>
        </p:nvSpPr>
        <p:spPr>
          <a:xfrm>
            <a:off x="4762500" y="1809750"/>
            <a:ext cx="2667000" cy="2381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94B5E66-A6E9-4E1E-8D66-69FD826FAD00}"/>
              </a:ext>
            </a:extLst>
          </p:cNvPr>
          <p:cNvSpPr/>
          <p:nvPr/>
        </p:nvSpPr>
        <p:spPr>
          <a:xfrm>
            <a:off x="4343400" y="2819400"/>
            <a:ext cx="381000" cy="342900"/>
          </a:xfrm>
          <a:prstGeom prst="rightArrow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DB663E9-6A75-4B7C-BE84-39AB8842F32B}"/>
              </a:ext>
            </a:extLst>
          </p:cNvPr>
          <p:cNvSpPr/>
          <p:nvPr/>
        </p:nvSpPr>
        <p:spPr>
          <a:xfrm>
            <a:off x="7477125" y="2819400"/>
            <a:ext cx="381000" cy="342900"/>
          </a:xfrm>
          <a:prstGeom prst="rightArrow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C84E2E2-7C57-4AE7-92A4-478529D29D59}"/>
              </a:ext>
            </a:extLst>
          </p:cNvPr>
          <p:cNvSpPr txBox="1"/>
          <p:nvPr/>
        </p:nvSpPr>
        <p:spPr>
          <a:xfrm>
            <a:off x="666750" y="53340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Kamailio 講 Rx，free5gc 只講 N5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D39146B-B9A0-4F26-A6EE-5014DF927618}"/>
              </a:ext>
            </a:extLst>
          </p:cNvPr>
          <p:cNvSpPr txBox="1"/>
          <p:nvPr/>
        </p:nvSpPr>
        <p:spPr>
          <a:xfrm>
            <a:off x="666750" y="1162050"/>
            <a:ext cx="10858500" cy="3048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AF 向 PCF 要 QoS：4G 與 5G 協定不同，專案用 shim 接起來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FAA089D-33ED-4224-B628-9A9B64684FB1}"/>
              </a:ext>
            </a:extLst>
          </p:cNvPr>
          <p:cNvSpPr txBox="1"/>
          <p:nvPr/>
        </p:nvSpPr>
        <p:spPr>
          <a:xfrm>
            <a:off x="914400" y="1828800"/>
            <a:ext cx="3143250" cy="2381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E8742A"/>
                </a:solidFill>
              </a:rPr>
              <a:t>Kamailio ims_qos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213D"/>
                </a:solidFill>
              </a:rPr>
              <a:t>Diameter Rx（4G，TS 29.214）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AAR / STR：建立、結束 QoS session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RAR / ASR：網路端通知、要求結束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66C71B5-E9F0-4AD5-AC86-70DC9E3A71D8}"/>
              </a:ext>
            </a:extLst>
          </p:cNvPr>
          <p:cNvSpPr txBox="1"/>
          <p:nvPr/>
        </p:nvSpPr>
        <p:spPr>
          <a:xfrm>
            <a:off x="4953000" y="1962150"/>
            <a:ext cx="2286000" cy="2095500"/>
          </a:xfrm>
        </p:spPr>
        <p:txBody>
          <a:bodyPr wrap="square" rtlCol="0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4213D"/>
                </a:solidFill>
              </a:rPr>
              <a:t>現行解法：AF shim</a:t>
            </a:r>
          </a:p>
          <a:p>
            <a:pPr algn="ctr">
              <a:spcAft>
                <a:spcPts val="1000"/>
              </a:spcAft>
            </a:pPr>
            <a:r>
              <a:rPr sz="1300">
                <a:solidFill>
                  <a:srgbClr val="5B6575"/>
                </a:solidFill>
              </a:rPr>
              <a:t>af/main.go，569 行 Go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4213D"/>
                </a:solidFill>
              </a:rPr>
              <a:t>P-CSCF 用 http_client 送自訂 JSON</a:t>
            </a:r>
          </a:p>
          <a:p>
            <a:pPr algn="l"/>
            <a:r>
              <a:rPr sz="1300">
                <a:solidFill>
                  <a:srgbClr val="14213D"/>
                </a:solidFill>
              </a:rPr>
              <a:t>shim 轉成 N5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9A2AE5A-DFE6-4077-B2C0-3DBB542C8176}"/>
              </a:ext>
            </a:extLst>
          </p:cNvPr>
          <p:cNvSpPr txBox="1"/>
          <p:nvPr/>
        </p:nvSpPr>
        <p:spPr>
          <a:xfrm>
            <a:off x="8153400" y="1828800"/>
            <a:ext cx="3143250" cy="2381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F4C81"/>
                </a:solidFill>
              </a:rPr>
              <a:t>free5gc PCF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213D"/>
                </a:solidFill>
              </a:rPr>
              <a:t>N5 HTTP/2 SBI（5G，TS 29.514）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Npcf_PolicyAuthorization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POST / PATCH / delete app-sessions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B92C386-D3B0-482D-991F-17029BAC2BF8}"/>
              </a:ext>
            </a:extLst>
          </p:cNvPr>
          <p:cNvSpPr txBox="1"/>
          <p:nvPr/>
        </p:nvSpPr>
        <p:spPr>
          <a:xfrm>
            <a:off x="666750" y="4762500"/>
            <a:ext cx="108585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 b="1">
                <a:solidFill>
                  <a:srgbClr val="14213D"/>
                </a:solidFill>
              </a:rPr>
              <a:t>刻意簡化的地方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E6CC2D7-0203-471E-8635-D244AB9D5A0D}"/>
              </a:ext>
            </a:extLst>
          </p:cNvPr>
          <p:cNvSpPr/>
          <p:nvPr/>
        </p:nvSpPr>
        <p:spPr>
          <a:xfrm>
            <a:off x="666750" y="5219700"/>
            <a:ext cx="25717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4213D"/>
                </a:solidFill>
              </a:rPr>
              <a:t>無 IPsec</a:t>
            </a:r>
          </a:p>
          <a:p>
            <a:pPr algn="ctr"/>
            <a:r>
              <a:rPr sz="1300">
                <a:solidFill>
                  <a:srgbClr val="5B6575"/>
                </a:solidFill>
              </a:rPr>
              <a:t>Gm 上不建 SA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105D0BAC-2685-4C72-86C6-68739F72D7F5}"/>
              </a:ext>
            </a:extLst>
          </p:cNvPr>
          <p:cNvSpPr/>
          <p:nvPr/>
        </p:nvSpPr>
        <p:spPr>
          <a:xfrm>
            <a:off x="3429000" y="5219700"/>
            <a:ext cx="25717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4213D"/>
                </a:solidFill>
              </a:rPr>
              <a:t>無 IMS-AGW / SBC</a:t>
            </a:r>
          </a:p>
          <a:p>
            <a:pPr algn="ctr"/>
            <a:r>
              <a:rPr sz="1300">
                <a:solidFill>
                  <a:srgbClr val="5B6575"/>
                </a:solidFill>
              </a:rPr>
              <a:t>RTP 直接在 UPF 轉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23F9AF69-3A38-4443-B7B9-AD0D2D79A5A7}"/>
              </a:ext>
            </a:extLst>
          </p:cNvPr>
          <p:cNvSpPr/>
          <p:nvPr/>
        </p:nvSpPr>
        <p:spPr>
          <a:xfrm>
            <a:off x="6191250" y="5219700"/>
            <a:ext cx="25717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4213D"/>
                </a:solidFill>
              </a:rPr>
              <a:t>無 TAS / MRF</a:t>
            </a:r>
          </a:p>
          <a:p>
            <a:pPr algn="ctr"/>
            <a:r>
              <a:rPr sz="1300">
                <a:solidFill>
                  <a:srgbClr val="5B6575"/>
                </a:solidFill>
              </a:rPr>
              <a:t>沒有補充服務與會議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7B9496FB-C183-4918-BBF6-62A18B7A66D1}"/>
              </a:ext>
            </a:extLst>
          </p:cNvPr>
          <p:cNvSpPr/>
          <p:nvPr/>
        </p:nvSpPr>
        <p:spPr>
          <a:xfrm>
            <a:off x="8953500" y="5219700"/>
            <a:ext cx="25717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4213D"/>
                </a:solidFill>
              </a:rPr>
              <a:t>無 PSTN 閘道</a:t>
            </a:r>
          </a:p>
          <a:p>
            <a:pPr algn="ctr"/>
            <a:r>
              <a:rPr sz="1300">
                <a:solidFill>
                  <a:srgbClr val="5B6575"/>
                </a:solidFill>
              </a:rPr>
              <a:t>只有 IMS 用戶互打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DB38645-12FC-4643-AC71-0632A79136F3}"/>
              </a:ext>
            </a:extLst>
          </p:cNvPr>
          <p:cNvSpPr/>
          <p:nvPr/>
        </p:nvSpPr>
        <p:spPr>
          <a:xfrm>
            <a:off x="666750" y="1238250"/>
            <a:ext cx="3429000" cy="36195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EEB1562-CE51-4B88-96FA-03AF5EC40F56}"/>
              </a:ext>
            </a:extLst>
          </p:cNvPr>
          <p:cNvSpPr/>
          <p:nvPr/>
        </p:nvSpPr>
        <p:spPr>
          <a:xfrm>
            <a:off x="4381500" y="1238250"/>
            <a:ext cx="3429000" cy="36195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0490005-9FEC-4422-BE52-39114085E22B}"/>
              </a:ext>
            </a:extLst>
          </p:cNvPr>
          <p:cNvSpPr/>
          <p:nvPr/>
        </p:nvSpPr>
        <p:spPr>
          <a:xfrm>
            <a:off x="8096250" y="1238250"/>
            <a:ext cx="3429000" cy="3619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4F48D50-F0F3-41A9-91A4-2B1E49679E3E}"/>
              </a:ext>
            </a:extLst>
          </p:cNvPr>
          <p:cNvSpPr txBox="1"/>
          <p:nvPr/>
        </p:nvSpPr>
        <p:spPr>
          <a:xfrm>
            <a:off x="666750" y="43815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設計原則：各司其職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3B7B459-6E9A-4800-8CB0-2977E236A95A}"/>
              </a:ext>
            </a:extLst>
          </p:cNvPr>
          <p:cNvSpPr txBox="1"/>
          <p:nvPr/>
        </p:nvSpPr>
        <p:spPr>
          <a:xfrm>
            <a:off x="933450" y="1485900"/>
            <a:ext cx="2895600" cy="3238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0F4C81"/>
                </a:solidFill>
              </a:rPr>
              <a:t>5GC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B6575"/>
                </a:solidFill>
              </a:rPr>
              <a:t>free5gc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UE 註冊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PDU session 建立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QoS 控制與 policy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user plane 封包傳輸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FD3265D-114F-4A9A-9386-CAD28C9D36C7}"/>
              </a:ext>
            </a:extLst>
          </p:cNvPr>
          <p:cNvSpPr txBox="1"/>
          <p:nvPr/>
        </p:nvSpPr>
        <p:spPr>
          <a:xfrm>
            <a:off x="4648200" y="1485900"/>
            <a:ext cx="2895600" cy="3238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E8742A"/>
                </a:solidFill>
              </a:rPr>
              <a:t>IMS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5B6575"/>
                </a:solidFill>
              </a:rPr>
              <a:t>Kamailio + PyHSS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SIP 註冊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SIP session 控制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呼叫路由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IMS 用戶與 session 狀態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BF9A003-6EFA-47DB-8F03-728FF4EAAE3B}"/>
              </a:ext>
            </a:extLst>
          </p:cNvPr>
          <p:cNvSpPr txBox="1"/>
          <p:nvPr/>
        </p:nvSpPr>
        <p:spPr>
          <a:xfrm>
            <a:off x="8362950" y="1485900"/>
            <a:ext cx="2895600" cy="3238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語音媒體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C9D3E0"/>
                </a:solidFill>
              </a:rPr>
              <a:t>RTP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FFFFF"/>
                </a:solidFill>
              </a:rPr>
              <a:t>走 5GC 依 policy 建立的 QoS flow（5QI 1）</a:t>
            </a:r>
          </a:p>
          <a:p>
            <a:r>
              <a:rPr sz="1700">
                <a:solidFill>
                  <a:srgbClr val="C9D3E0"/>
                </a:solidFill>
              </a:rPr>
              <a:t>不經過任何 CSCF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93E8096-2C85-4A42-B318-B557FE07D7BE}"/>
              </a:ext>
            </a:extLst>
          </p:cNvPr>
          <p:cNvSpPr/>
          <p:nvPr/>
        </p:nvSpPr>
        <p:spPr>
          <a:xfrm>
            <a:off x="666750" y="5105400"/>
            <a:ext cx="10858500" cy="1181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8742A"/>
                </a:solidFill>
              </a:rPr>
              <a:t>   重點：</a:t>
            </a:r>
            <a:r>
              <a:rPr sz="1800">
                <a:solidFill>
                  <a:srgbClr val="14213D"/>
                </a:solidFill>
              </a:rPr>
              <a:t>不是讓 AMF、SMF 處理 SIP，而是讓 IMS 與 5GC 正確交換媒體需求與 policy</a:t>
            </a:r>
          </a:p>
          <a:p>
            <a:pPr algn="l"/>
            <a:r>
              <a:rPr sz="1500">
                <a:solidFill>
                  <a:srgbClr val="5B6575"/>
                </a:solidFill>
              </a:rPr>
              <a:t>   規格依據：TS 23.503 附錄 C——5GC 要能接受以 Rx 介接的 IMS AF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36D4CAC-1DDB-47E6-8AEB-1319C6FC603C}"/>
              </a:ext>
            </a:extLst>
          </p:cNvPr>
          <p:cNvSpPr/>
          <p:nvPr/>
        </p:nvSpPr>
        <p:spPr>
          <a:xfrm>
            <a:off x="666750" y="1238250"/>
            <a:ext cx="4572000" cy="4286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9B462DC-E764-4E75-A0B5-4EC1E2D41FE1}"/>
              </a:ext>
            </a:extLst>
          </p:cNvPr>
          <p:cNvSpPr/>
          <p:nvPr/>
        </p:nvSpPr>
        <p:spPr>
          <a:xfrm>
            <a:off x="6953250" y="1238250"/>
            <a:ext cx="4572000" cy="428625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3C7AA52-798D-45D3-80D4-B54F528D67AE}"/>
              </a:ext>
            </a:extLst>
          </p:cNvPr>
          <p:cNvSpPr/>
          <p:nvPr/>
        </p:nvSpPr>
        <p:spPr>
          <a:xfrm>
            <a:off x="5429250" y="2571750"/>
            <a:ext cx="1333500" cy="16192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Rx／N5 Adapter</a:t>
            </a:r>
          </a:p>
          <a:p>
            <a:pPr algn="ctr"/>
            <a:r>
              <a:rPr sz="1400">
                <a:solidFill>
                  <a:srgbClr val="C9D3E0"/>
                </a:solidFill>
              </a:rPr>
              <a:t>Rx ↔ N5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BE9A994-CA6D-45DA-AD63-4680019BE8DA}"/>
              </a:ext>
            </a:extLst>
          </p:cNvPr>
          <p:cNvSpPr txBox="1"/>
          <p:nvPr/>
        </p:nvSpPr>
        <p:spPr>
          <a:xfrm>
            <a:off x="666750" y="43815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IMS 與 5GC 交換什麼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FDBF5F5-B644-4FC3-A935-416430ACA51E}"/>
              </a:ext>
            </a:extLst>
          </p:cNvPr>
          <p:cNvSpPr txBox="1"/>
          <p:nvPr/>
        </p:nvSpPr>
        <p:spPr>
          <a:xfrm>
            <a:off x="914400" y="1428750"/>
            <a:ext cx="4095750" cy="4000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E8742A"/>
                </a:solidFill>
              </a:rPr>
              <a:t>IMS → 5GC：我需要什麼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通話接通（主、被叫各一次）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5B6575"/>
                </a:solidFill>
              </a:rPr>
              <a:t>媒體需求：AAR → POST app-sessions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通話修改、結束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5B6575"/>
                </a:solidFill>
              </a:rPr>
              <a:t>AAR → PATCH；STR → delete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IMS 註冊時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5B6575"/>
                </a:solidFill>
              </a:rPr>
              <a:t>SIP 信令 flow、訂閱 5GC 事件</a:t>
            </a:r>
          </a:p>
          <a:p>
            <a:r>
              <a:rPr sz="1300">
                <a:solidFill>
                  <a:srgbClr val="5B6575"/>
                </a:solidFill>
              </a:rPr>
              <a:t>依據：TS 29.513 附錄 B.2–B.8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307A73F-C31D-4548-BC56-1BC8A5B83C0B}"/>
              </a:ext>
            </a:extLst>
          </p:cNvPr>
          <p:cNvSpPr txBox="1"/>
          <p:nvPr/>
        </p:nvSpPr>
        <p:spPr>
          <a:xfrm>
            <a:off x="7200900" y="1428750"/>
            <a:ext cx="4095750" cy="4000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F4C81"/>
                </a:solidFill>
              </a:rPr>
              <a:t>5GC → IMS：發生了什麼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PDU session 被釋放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5B6575"/>
                </a:solidFill>
              </a:rPr>
              <a:t>terminate → ASR → IMS 結束通話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資源配置成功／失敗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5B6575"/>
                </a:solidFill>
              </a:rPr>
              <a:t>事件通知 → RAR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接取類型、PLMN 變更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5B6575"/>
                </a:solidFill>
              </a:rPr>
              <a:t>事件通知 → RAR</a:t>
            </a:r>
          </a:p>
          <a:p>
            <a:r>
              <a:rPr sz="1300" b="1">
                <a:solidFill>
                  <a:srgbClr val="0F4C81"/>
                </a:solidFill>
              </a:rPr>
              <a:t>現行 shim 這個方向完全沒有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32A5CD6-0F48-4E31-BD07-0E88AFEF934F}"/>
              </a:ext>
            </a:extLst>
          </p:cNvPr>
          <p:cNvSpPr txBox="1"/>
          <p:nvPr/>
        </p:nvSpPr>
        <p:spPr>
          <a:xfrm>
            <a:off x="666750" y="5772150"/>
            <a:ext cx="108585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700">
                <a:solidFill>
                  <a:srgbClr val="14213D"/>
                </a:solidFill>
              </a:rPr>
              <a:t>SIP 不跨過來：只有「需求」與「事件」在兩邊之間流動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53B6113-EAF6-4685-9974-663FCE684C9C}"/>
              </a:ext>
            </a:extLst>
          </p:cNvPr>
          <p:cNvSpPr/>
          <p:nvPr/>
        </p:nvSpPr>
        <p:spPr>
          <a:xfrm>
            <a:off x="666750" y="1066800"/>
            <a:ext cx="10858500" cy="342900"/>
          </a:xfrm>
          <a:prstGeom prst="rect">
            <a:avLst/>
          </a:prstGeom>
          <a:solidFill>
            <a:srgbClr val="0B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FAFCA55-9D3E-4D30-9B08-8FE68DE09762}"/>
              </a:ext>
            </a:extLst>
          </p:cNvPr>
          <p:cNvSpPr txBox="1"/>
          <p:nvPr/>
        </p:nvSpPr>
        <p:spPr>
          <a:xfrm>
            <a:off x="857250" y="1133475"/>
            <a:ext cx="2095500" cy="228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NF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0331F69-7AFF-4E17-AC6A-AF2859ABFFFE}"/>
              </a:ext>
            </a:extLst>
          </p:cNvPr>
          <p:cNvSpPr txBox="1"/>
          <p:nvPr/>
        </p:nvSpPr>
        <p:spPr>
          <a:xfrm>
            <a:off x="3143250" y="1133475"/>
            <a:ext cx="4476750" cy="228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free5gc v4.3.0 現況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8F34202-E554-47EB-B928-6DBD8A857389}"/>
              </a:ext>
            </a:extLst>
          </p:cNvPr>
          <p:cNvSpPr txBox="1"/>
          <p:nvPr/>
        </p:nvSpPr>
        <p:spPr>
          <a:xfrm>
            <a:off x="8191500" y="1133475"/>
            <a:ext cx="3143250" cy="228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 b="1">
                <a:solidFill>
                  <a:srgbClr val="FFFFFF"/>
                </a:solidFill>
              </a:rPr>
              <a:t>動作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AD1EF87-33E7-401D-987A-C4A5DDBCAA0A}"/>
              </a:ext>
            </a:extLst>
          </p:cNvPr>
          <p:cNvSpPr/>
          <p:nvPr/>
        </p:nvSpPr>
        <p:spPr>
          <a:xfrm>
            <a:off x="666750" y="1428750"/>
            <a:ext cx="10858500" cy="43815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58219E6-8357-4D98-A050-4EB04EA0EC4D}"/>
              </a:ext>
            </a:extLst>
          </p:cNvPr>
          <p:cNvSpPr txBox="1"/>
          <p:nvPr/>
        </p:nvSpPr>
        <p:spPr>
          <a:xfrm>
            <a:off x="857250" y="1533525"/>
            <a:ext cx="209550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 b="1">
                <a:solidFill>
                  <a:srgbClr val="14213D"/>
                </a:solidFill>
              </a:rPr>
              <a:t>AMF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9602779-E4E2-47B2-A6BD-61117F13E648}"/>
              </a:ext>
            </a:extLst>
          </p:cNvPr>
          <p:cNvSpPr txBox="1"/>
          <p:nvPr/>
        </p:nvSpPr>
        <p:spPr>
          <a:xfrm>
            <a:off x="3143250" y="1543050"/>
            <a:ext cx="48577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imsVoPS 已支援，但專案設成 0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2A0BD87-7BC7-445E-9CDF-896E4955BB3D}"/>
              </a:ext>
            </a:extLst>
          </p:cNvPr>
          <p:cNvSpPr txBox="1"/>
          <p:nvPr/>
        </p:nvSpPr>
        <p:spPr>
          <a:xfrm>
            <a:off x="8191500" y="1543050"/>
            <a:ext cx="31432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改設定為 1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D30A58A-DCF5-4C55-BF76-705BC333ED8A}"/>
              </a:ext>
            </a:extLst>
          </p:cNvPr>
          <p:cNvSpPr/>
          <p:nvPr/>
        </p:nvSpPr>
        <p:spPr>
          <a:xfrm>
            <a:off x="666750" y="1905000"/>
            <a:ext cx="10858500" cy="43815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984C3DE-7D52-47B6-AD50-0436DB60BDAB}"/>
              </a:ext>
            </a:extLst>
          </p:cNvPr>
          <p:cNvSpPr txBox="1"/>
          <p:nvPr/>
        </p:nvSpPr>
        <p:spPr>
          <a:xfrm>
            <a:off x="857250" y="2009775"/>
            <a:ext cx="209550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 b="1">
                <a:solidFill>
                  <a:srgbClr val="14213D"/>
                </a:solidFill>
              </a:rPr>
              <a:t>SMF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A1B8E80-BDB6-4177-9043-CF1B2488024F}"/>
              </a:ext>
            </a:extLst>
          </p:cNvPr>
          <p:cNvSpPr txBox="1"/>
          <p:nvPr/>
        </p:nvSpPr>
        <p:spPr>
          <a:xfrm>
            <a:off x="3143250" y="2019300"/>
            <a:ext cx="48577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PCO 回傳 P-CSCF（IPv4）已支援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496279E-51FF-47CC-8C8C-C26143055E02}"/>
              </a:ext>
            </a:extLst>
          </p:cNvPr>
          <p:cNvSpPr txBox="1"/>
          <p:nvPr/>
        </p:nvSpPr>
        <p:spPr>
          <a:xfrm>
            <a:off x="8191500" y="2019300"/>
            <a:ext cx="31432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不改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0258FC8-D50C-45FC-ABCA-83AD91CE1F60}"/>
              </a:ext>
            </a:extLst>
          </p:cNvPr>
          <p:cNvSpPr/>
          <p:nvPr/>
        </p:nvSpPr>
        <p:spPr>
          <a:xfrm>
            <a:off x="666750" y="2381250"/>
            <a:ext cx="10858500" cy="438150"/>
          </a:xfrm>
          <a:prstGeom prst="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CD47598-3A6D-4105-B0B5-DCD8CC7E549A}"/>
              </a:ext>
            </a:extLst>
          </p:cNvPr>
          <p:cNvSpPr txBox="1"/>
          <p:nvPr/>
        </p:nvSpPr>
        <p:spPr>
          <a:xfrm>
            <a:off x="857250" y="2486025"/>
            <a:ext cx="209550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 b="1">
                <a:solidFill>
                  <a:srgbClr val="14213D"/>
                </a:solidFill>
              </a:rPr>
              <a:t>SMF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9A1E30C-80E9-40E6-906F-D0C3E3884A98}"/>
              </a:ext>
            </a:extLst>
          </p:cNvPr>
          <p:cNvSpPr txBox="1"/>
          <p:nvPr/>
        </p:nvSpPr>
        <p:spPr>
          <a:xfrm>
            <a:off x="3143250" y="2495550"/>
            <a:ext cx="48577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PCF 更新後沒通知 gNB／UE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4541FB2-A304-43A0-B4C1-9128207FA6A9}"/>
              </a:ext>
            </a:extLst>
          </p:cNvPr>
          <p:cNvSpPr txBox="1"/>
          <p:nvPr/>
        </p:nvSpPr>
        <p:spPr>
          <a:xfrm>
            <a:off x="8191500" y="2495550"/>
            <a:ext cx="31432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 b="1">
                <a:solidFill>
                  <a:srgbClr val="E8742A"/>
                </a:solidFill>
              </a:rPr>
              <a:t>補 N1N2 modification（高）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0F6A3EAB-4D3F-485A-B772-D45C265DF661}"/>
              </a:ext>
            </a:extLst>
          </p:cNvPr>
          <p:cNvSpPr/>
          <p:nvPr/>
        </p:nvSpPr>
        <p:spPr>
          <a:xfrm>
            <a:off x="666750" y="2857500"/>
            <a:ext cx="10858500" cy="43815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309C3FA-8F8E-4E28-86AB-10E4678C0520}"/>
              </a:ext>
            </a:extLst>
          </p:cNvPr>
          <p:cNvSpPr txBox="1"/>
          <p:nvPr/>
        </p:nvSpPr>
        <p:spPr>
          <a:xfrm>
            <a:off x="857250" y="2962275"/>
            <a:ext cx="209550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 b="1">
                <a:solidFill>
                  <a:srgbClr val="14213D"/>
                </a:solidFill>
              </a:rPr>
              <a:t>PCF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BFF586B-7F55-4BCD-93D5-F595D1781099}"/>
              </a:ext>
            </a:extLst>
          </p:cNvPr>
          <p:cNvSpPr txBox="1"/>
          <p:nvPr/>
        </p:nvSpPr>
        <p:spPr>
          <a:xfrm>
            <a:off x="3143250" y="2971800"/>
            <a:ext cx="48577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N5 的 POST／PATCH／DELETE／事件都有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A4886D4-A219-4A10-A3C9-265317547555}"/>
              </a:ext>
            </a:extLst>
          </p:cNvPr>
          <p:cNvSpPr txBox="1"/>
          <p:nvPr/>
        </p:nvSpPr>
        <p:spPr>
          <a:xfrm>
            <a:off x="8191500" y="2971800"/>
            <a:ext cx="31432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實測 terminate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82BFDEC8-5503-41B6-BC41-E59EE97AE04A}"/>
              </a:ext>
            </a:extLst>
          </p:cNvPr>
          <p:cNvSpPr/>
          <p:nvPr/>
        </p:nvSpPr>
        <p:spPr>
          <a:xfrm>
            <a:off x="666750" y="3333750"/>
            <a:ext cx="10858500" cy="43815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AC443C21-1CF3-4BC4-B628-7E44C9C22B71}"/>
              </a:ext>
            </a:extLst>
          </p:cNvPr>
          <p:cNvSpPr txBox="1"/>
          <p:nvPr/>
        </p:nvSpPr>
        <p:spPr>
          <a:xfrm>
            <a:off x="857250" y="3438525"/>
            <a:ext cx="209550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 b="1">
                <a:solidFill>
                  <a:srgbClr val="14213D"/>
                </a:solidFill>
              </a:rPr>
              <a:t>UPF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F5214A8-6CAB-4621-986E-02130E96D15A}"/>
              </a:ext>
            </a:extLst>
          </p:cNvPr>
          <p:cNvSpPr txBox="1"/>
          <p:nvPr/>
        </p:nvSpPr>
        <p:spPr>
          <a:xfrm>
            <a:off x="3143250" y="3448050"/>
            <a:ext cx="48577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IMS 路由、PDR／QER 已運作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7876161-6B86-4187-9C46-2A862EB08779}"/>
              </a:ext>
            </a:extLst>
          </p:cNvPr>
          <p:cNvSpPr txBox="1"/>
          <p:nvPr/>
        </p:nvSpPr>
        <p:spPr>
          <a:xfrm>
            <a:off x="8191500" y="3448050"/>
            <a:ext cx="31432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不改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D29CFEF5-B8CD-4DE6-A05E-959B28E6D912}"/>
              </a:ext>
            </a:extLst>
          </p:cNvPr>
          <p:cNvSpPr/>
          <p:nvPr/>
        </p:nvSpPr>
        <p:spPr>
          <a:xfrm>
            <a:off x="666750" y="3810000"/>
            <a:ext cx="10858500" cy="43815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6E2005E-309F-40ED-A8A8-8103E0E083D4}"/>
              </a:ext>
            </a:extLst>
          </p:cNvPr>
          <p:cNvSpPr txBox="1"/>
          <p:nvPr/>
        </p:nvSpPr>
        <p:spPr>
          <a:xfrm>
            <a:off x="857250" y="3914775"/>
            <a:ext cx="209550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 b="1">
                <a:solidFill>
                  <a:srgbClr val="14213D"/>
                </a:solidFill>
              </a:rPr>
              <a:t>UDM／UDR／AUSF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B1A2367-4960-42F7-BBFE-4AA218008851}"/>
              </a:ext>
            </a:extLst>
          </p:cNvPr>
          <p:cNvSpPr txBox="1"/>
          <p:nvPr/>
        </p:nvSpPr>
        <p:spPr>
          <a:xfrm>
            <a:off x="3143250" y="3924300"/>
            <a:ext cx="48577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IMS HSS 獨立（PyHSS）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A595914-2900-41D4-9BC0-BA89EA8289CA}"/>
              </a:ext>
            </a:extLst>
          </p:cNvPr>
          <p:cNvSpPr txBox="1"/>
          <p:nvPr/>
        </p:nvSpPr>
        <p:spPr>
          <a:xfrm>
            <a:off x="8191500" y="3924300"/>
            <a:ext cx="31432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不改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8B51A6EB-BE19-410C-8130-63AF94763E89}"/>
              </a:ext>
            </a:extLst>
          </p:cNvPr>
          <p:cNvSpPr/>
          <p:nvPr/>
        </p:nvSpPr>
        <p:spPr>
          <a:xfrm>
            <a:off x="666750" y="4286250"/>
            <a:ext cx="10858500" cy="438150"/>
          </a:xfrm>
          <a:prstGeom prst="rect">
            <a:avLst/>
          </a:prstGeom>
          <a:solidFill>
            <a:srgbClr val="FFFF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3B673D1-040D-445D-AD69-9AE95733BDEF}"/>
              </a:ext>
            </a:extLst>
          </p:cNvPr>
          <p:cNvSpPr txBox="1"/>
          <p:nvPr/>
        </p:nvSpPr>
        <p:spPr>
          <a:xfrm>
            <a:off x="857250" y="4391025"/>
            <a:ext cx="209550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 b="1">
                <a:solidFill>
                  <a:srgbClr val="14213D"/>
                </a:solidFill>
              </a:rPr>
              <a:t>NRF／NSSF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912F66F6-A51D-4765-A2DB-53CF912332F3}"/>
              </a:ext>
            </a:extLst>
          </p:cNvPr>
          <p:cNvSpPr txBox="1"/>
          <p:nvPr/>
        </p:nvSpPr>
        <p:spPr>
          <a:xfrm>
            <a:off x="3143250" y="4400550"/>
            <a:ext cx="48577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Kamailio 不註冊成 5GC NF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BE42BCB0-CD04-4367-A669-31C028F4FFBD}"/>
              </a:ext>
            </a:extLst>
          </p:cNvPr>
          <p:cNvSpPr txBox="1"/>
          <p:nvPr/>
        </p:nvSpPr>
        <p:spPr>
          <a:xfrm>
            <a:off x="8191500" y="4400550"/>
            <a:ext cx="31432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不改</a:t>
            </a:r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02098306-D458-4238-9E35-5163281CC475}"/>
              </a:ext>
            </a:extLst>
          </p:cNvPr>
          <p:cNvSpPr/>
          <p:nvPr/>
        </p:nvSpPr>
        <p:spPr>
          <a:xfrm>
            <a:off x="666750" y="4762500"/>
            <a:ext cx="10858500" cy="438150"/>
          </a:xfrm>
          <a:prstGeom prst="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A7B8EB63-414F-4F8A-B46B-5E1D75BF982C}"/>
              </a:ext>
            </a:extLst>
          </p:cNvPr>
          <p:cNvSpPr txBox="1"/>
          <p:nvPr/>
        </p:nvSpPr>
        <p:spPr>
          <a:xfrm>
            <a:off x="857250" y="4867275"/>
            <a:ext cx="209550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 b="1">
                <a:solidFill>
                  <a:srgbClr val="14213D"/>
                </a:solidFill>
              </a:rPr>
              <a:t>Rx／N5 Adapter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2DFBD85C-628C-485D-8511-7DCE1ED046DF}"/>
              </a:ext>
            </a:extLst>
          </p:cNvPr>
          <p:cNvSpPr txBox="1"/>
          <p:nvPr/>
        </p:nvSpPr>
        <p:spPr>
          <a:xfrm>
            <a:off x="3143250" y="4876800"/>
            <a:ext cx="48577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目前是自訂 HTTP 的 shim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68B09675-1847-423C-B441-6397B33C5F12}"/>
              </a:ext>
            </a:extLst>
          </p:cNvPr>
          <p:cNvSpPr txBox="1"/>
          <p:nvPr/>
        </p:nvSpPr>
        <p:spPr>
          <a:xfrm>
            <a:off x="8191500" y="4876800"/>
            <a:ext cx="31432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 b="1">
                <a:solidFill>
                  <a:srgbClr val="E8742A"/>
                </a:solidFill>
              </a:rPr>
              <a:t>新寫（高）</a:t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7F463041-3479-41BE-8F2F-BAE92AFA886B}"/>
              </a:ext>
            </a:extLst>
          </p:cNvPr>
          <p:cNvSpPr/>
          <p:nvPr/>
        </p:nvSpPr>
        <p:spPr>
          <a:xfrm>
            <a:off x="666750" y="5238750"/>
            <a:ext cx="10858500" cy="438150"/>
          </a:xfrm>
          <a:prstGeom prst="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9BE2CD6D-D1B5-4C95-B20D-F33A207D23AF}"/>
              </a:ext>
            </a:extLst>
          </p:cNvPr>
          <p:cNvSpPr txBox="1"/>
          <p:nvPr/>
        </p:nvSpPr>
        <p:spPr>
          <a:xfrm>
            <a:off x="857250" y="5343525"/>
            <a:ext cx="209550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500" b="1">
                <a:solidFill>
                  <a:srgbClr val="14213D"/>
                </a:solidFill>
              </a:rPr>
              <a:t>Kamailio P-CSCF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482A6AE1-F8DC-491C-B3C3-62C2E3D84355}"/>
              </a:ext>
            </a:extLst>
          </p:cNvPr>
          <p:cNvSpPr txBox="1"/>
          <p:nvPr/>
        </p:nvSpPr>
        <p:spPr>
          <a:xfrm>
            <a:off x="3143250" y="5353050"/>
            <a:ext cx="48577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用 http_client 呼叫 shim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773851A9-3772-4AF0-8690-9011136C3531}"/>
              </a:ext>
            </a:extLst>
          </p:cNvPr>
          <p:cNvSpPr txBox="1"/>
          <p:nvPr/>
        </p:nvSpPr>
        <p:spPr>
          <a:xfrm>
            <a:off x="8191500" y="5353050"/>
            <a:ext cx="31432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 b="1">
                <a:solidFill>
                  <a:srgbClr val="E8742A"/>
                </a:solidFill>
              </a:rPr>
              <a:t>改用 ims_qos（高）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3C6C71CA-FA9D-460C-93F8-E3352B093786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各 NF 的修改範圍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36481B62-D928-499D-9281-691A3F02DD7C}"/>
              </a:ext>
            </a:extLst>
          </p:cNvPr>
          <p:cNvSpPr txBox="1"/>
          <p:nvPr/>
        </p:nvSpPr>
        <p:spPr>
          <a:xfrm>
            <a:off x="666750" y="58293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E8742A"/>
                </a:solidFill>
              </a:rPr>
              <a:t>重點：</a:t>
            </a:r>
            <a:r>
              <a:rPr sz="1500">
                <a:solidFill>
                  <a:srgbClr val="14213D"/>
                </a:solidFill>
              </a:rPr>
              <a:t>真正要寫的只有 Adapter 和 SMF 的一段，其餘是改設定或不動。逐項對照 free5gc 原始碼，參考 HackMD〈NF modification plan〉。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199D21C-810D-4C16-A6D8-565278204760}"/>
              </a:ext>
            </a:extLst>
          </p:cNvPr>
          <p:cNvSpPr/>
          <p:nvPr/>
        </p:nvSpPr>
        <p:spPr>
          <a:xfrm>
            <a:off x="666750" y="1676400"/>
            <a:ext cx="10858500" cy="38100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4006CC0-187E-49B1-A763-6B913D78FD83}"/>
              </a:ext>
            </a:extLst>
          </p:cNvPr>
          <p:cNvSpPr/>
          <p:nvPr/>
        </p:nvSpPr>
        <p:spPr>
          <a:xfrm>
            <a:off x="666750" y="1390650"/>
            <a:ext cx="2000250" cy="5905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0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約 1 週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3546870-27FD-410E-AD4F-70E59FF4BB45}"/>
              </a:ext>
            </a:extLst>
          </p:cNvPr>
          <p:cNvSpPr/>
          <p:nvPr/>
        </p:nvSpPr>
        <p:spPr>
          <a:xfrm>
            <a:off x="2876550" y="1390650"/>
            <a:ext cx="2000250" cy="5905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1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1–2 週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EA96E98-0455-4058-821F-DA57D89382DD}"/>
              </a:ext>
            </a:extLst>
          </p:cNvPr>
          <p:cNvSpPr/>
          <p:nvPr/>
        </p:nvSpPr>
        <p:spPr>
          <a:xfrm>
            <a:off x="5086350" y="1390650"/>
            <a:ext cx="2000250" cy="5905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2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1–2 週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AC5F706-F863-4E75-8224-FEEA25C9D3F4}"/>
              </a:ext>
            </a:extLst>
          </p:cNvPr>
          <p:cNvSpPr/>
          <p:nvPr/>
        </p:nvSpPr>
        <p:spPr>
          <a:xfrm>
            <a:off x="7296150" y="1390650"/>
            <a:ext cx="2000250" cy="5905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3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約 1 週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BF9523A-2AFA-4E4D-B26E-E4E684AFF620}"/>
              </a:ext>
            </a:extLst>
          </p:cNvPr>
          <p:cNvSpPr/>
          <p:nvPr/>
        </p:nvSpPr>
        <p:spPr>
          <a:xfrm>
            <a:off x="9505950" y="1390650"/>
            <a:ext cx="2019300" cy="5905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4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約 1 週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21BD856-8376-4479-B31A-5C62B6D579EB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NF 修改計畫：五個階段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13B227E-2CA5-45CB-B04C-315B0F6A5BE1}"/>
              </a:ext>
            </a:extLst>
          </p:cNvPr>
          <p:cNvSpPr txBox="1"/>
          <p:nvPr/>
        </p:nvSpPr>
        <p:spPr>
          <a:xfrm>
            <a:off x="704850" y="2247900"/>
            <a:ext cx="1924050" cy="2857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前置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測試改用抓包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AMF imsVoPS 改 1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確認 ims_qos 的 AVP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確認 free-ran-ue 能收 N2 modify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B32715E-744D-49B9-9163-E1CC45A32A90}"/>
              </a:ext>
            </a:extLst>
          </p:cNvPr>
          <p:cNvSpPr txBox="1"/>
          <p:nvPr/>
        </p:nvSpPr>
        <p:spPr>
          <a:xfrm>
            <a:off x="2914650" y="2247900"/>
            <a:ext cx="1924050" cy="2857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Adapter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AAR／STR ↔ N5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P-CSCF 改用 ims_qos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拿掉 AF shim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23E9418-8B12-4610-9353-DD6A821B7255}"/>
              </a:ext>
            </a:extLst>
          </p:cNvPr>
          <p:cNvSpPr txBox="1"/>
          <p:nvPr/>
        </p:nvSpPr>
        <p:spPr>
          <a:xfrm>
            <a:off x="5124450" y="2247900"/>
            <a:ext cx="1924050" cy="2857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SMF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policy 更新後送 N1N2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QoS flow 到 gNB 與 UE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0396DBC-3B49-4515-B054-4A6C9628417F}"/>
              </a:ext>
            </a:extLst>
          </p:cNvPr>
          <p:cNvSpPr txBox="1"/>
          <p:nvPr/>
        </p:nvSpPr>
        <p:spPr>
          <a:xfrm>
            <a:off x="7334250" y="2247900"/>
            <a:ext cx="1924050" cy="2857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事件回傳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terminate → ASR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資源事件 → RAR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FC4E8CA-5729-4FD1-B484-9AA044992C85}"/>
              </a:ext>
            </a:extLst>
          </p:cNvPr>
          <p:cNvSpPr txBox="1"/>
          <p:nvPr/>
        </p:nvSpPr>
        <p:spPr>
          <a:xfrm>
            <a:off x="9544050" y="2247900"/>
            <a:ext cx="1943100" cy="2857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註冊時交換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信令 flow、事件訂閱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用 BSF 找 PCF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E004AFD9-0039-45D5-8ECD-EF0E83C897E8}"/>
              </a:ext>
            </a:extLst>
          </p:cNvPr>
          <p:cNvSpPr/>
          <p:nvPr/>
        </p:nvSpPr>
        <p:spPr>
          <a:xfrm>
            <a:off x="666750" y="5448300"/>
            <a:ext cx="10858500" cy="7620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l"/>
            <a:r>
              <a:rPr sz="1600" b="1">
                <a:solidFill>
                  <a:srgbClr val="0F4C81"/>
                </a:solidFill>
              </a:rPr>
              <a:t>   驗收：</a:t>
            </a:r>
            <a:r>
              <a:rPr sz="1600">
                <a:solidFill>
                  <a:srgbClr val="14213D"/>
                </a:solidFill>
              </a:rPr>
              <a:t>每階段都跑 03-call-test.sh、05-n5-qos-test.sh；Phase 2 另外抓包確認 N2 Resource Modify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6E9418C-2003-40EA-A21D-44D4416B6222}"/>
              </a:ext>
            </a:extLst>
          </p:cNvPr>
          <p:cNvSpPr/>
          <p:nvPr/>
        </p:nvSpPr>
        <p:spPr>
          <a:xfrm>
            <a:off x="8191500" y="0"/>
            <a:ext cx="4000500" cy="6858000"/>
          </a:xfrm>
          <a:prstGeom prst="rect">
            <a:avLst/>
          </a:prstGeom>
          <a:solidFill>
            <a:srgbClr val="0F4C8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10D9F7B-35A2-492F-BB18-5B5FFE7DEAC0}"/>
              </a:ext>
            </a:extLst>
          </p:cNvPr>
          <p:cNvSpPr txBox="1"/>
          <p:nvPr/>
        </p:nvSpPr>
        <p:spPr>
          <a:xfrm>
            <a:off x="762000" y="762000"/>
            <a:ext cx="6667500" cy="857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下一步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350891B-48D2-4911-97AE-CC1F84CBC09A}"/>
              </a:ext>
            </a:extLst>
          </p:cNvPr>
          <p:cNvSpPr/>
          <p:nvPr/>
        </p:nvSpPr>
        <p:spPr>
          <a:xfrm>
            <a:off x="762000" y="219075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8705F72-43B7-4DD2-BDD0-F1FA3B9BE39B}"/>
              </a:ext>
            </a:extLst>
          </p:cNvPr>
          <p:cNvSpPr txBox="1"/>
          <p:nvPr/>
        </p:nvSpPr>
        <p:spPr>
          <a:xfrm>
            <a:off x="1524000" y="2190750"/>
            <a:ext cx="6096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跑一次端到端</a:t>
            </a:r>
          </a:p>
          <a:p>
            <a:r>
              <a:rPr sz="1500">
                <a:solidFill>
                  <a:srgbClr val="C9D3E0"/>
                </a:solidFill>
              </a:rPr>
              <a:t>scripts/01-up.sh → 03-call-test.sh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60E2950-BBF4-4A28-841E-50F460B2D848}"/>
              </a:ext>
            </a:extLst>
          </p:cNvPr>
          <p:cNvSpPr/>
          <p:nvPr/>
        </p:nvSpPr>
        <p:spPr>
          <a:xfrm>
            <a:off x="762000" y="342900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48E8EC8-DD7D-407C-AB2F-8DA3A3929842}"/>
              </a:ext>
            </a:extLst>
          </p:cNvPr>
          <p:cNvSpPr txBox="1"/>
          <p:nvPr/>
        </p:nvSpPr>
        <p:spPr>
          <a:xfrm>
            <a:off x="1524000" y="3429000"/>
            <a:ext cx="6096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SMF 修改回饋上游？</a:t>
            </a:r>
          </a:p>
          <a:p>
            <a:r>
              <a:rPr sz="1500">
                <a:solidFill>
                  <a:srgbClr val="C9D3E0"/>
                </a:solidFill>
              </a:rPr>
              <a:t>PCF 更新後補送 N1N2 給 gNB／UE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574F7D8-C68F-4653-B1D4-D1E35EF025FF}"/>
              </a:ext>
            </a:extLst>
          </p:cNvPr>
          <p:cNvSpPr/>
          <p:nvPr/>
        </p:nvSpPr>
        <p:spPr>
          <a:xfrm>
            <a:off x="762000" y="466725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B1AD341-4548-4EA6-AA11-BB9C31671995}"/>
              </a:ext>
            </a:extLst>
          </p:cNvPr>
          <p:cNvSpPr txBox="1"/>
          <p:nvPr/>
        </p:nvSpPr>
        <p:spPr>
          <a:xfrm>
            <a:off x="1524000" y="4667250"/>
            <a:ext cx="6096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開始 Phase 0</a:t>
            </a:r>
          </a:p>
          <a:p>
            <a:r>
              <a:rPr sz="1500">
                <a:solidFill>
                  <a:srgbClr val="C9D3E0"/>
                </a:solidFill>
              </a:rPr>
              <a:t>抓包測試、imsVoPS 改 1、確認 free-ran-ue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F5BC5CB-F3AB-4D40-BD6F-1E1F16752545}"/>
              </a:ext>
            </a:extLst>
          </p:cNvPr>
          <p:cNvSpPr txBox="1"/>
          <p:nvPr/>
        </p:nvSpPr>
        <p:spPr>
          <a:xfrm>
            <a:off x="8572500" y="762000"/>
            <a:ext cx="32385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參考資料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20D41BB-BD74-4687-9A87-631C248AB6B9}"/>
              </a:ext>
            </a:extLst>
          </p:cNvPr>
          <p:cNvSpPr txBox="1"/>
          <p:nvPr/>
        </p:nvSpPr>
        <p:spPr>
          <a:xfrm>
            <a:off x="8572500" y="1333500"/>
            <a:ext cx="3238500" cy="4762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3GPP Rel-17（3gpp-r17/）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TS 23.228  IMS 架構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TS 24.229  IMS SIP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TS 29.514  N5 · TS 29.214  Rx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TS 29.513  IMS 與 PCF 的互通</a:t>
            </a:r>
          </a:p>
          <a:p>
            <a:pPr>
              <a:spcAft>
                <a:spcPts val="1600"/>
              </a:spcAft>
            </a:pPr>
            <a:r>
              <a:rPr sz="1300">
                <a:solidFill>
                  <a:srgbClr val="C9D3E0"/>
                </a:solidFill>
              </a:rPr>
              <a:t>TS 23.503  附錄 C：PCF 支援 Rx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文件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vonr-ims-nf-plan.md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vonr-ims-dev-process.md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note.md</a:t>
            </a:r>
          </a:p>
          <a:p>
            <a:r>
              <a:rPr sz="1300">
                <a:solidFill>
                  <a:srgbClr val="C9D3E0"/>
                </a:solidFill>
              </a:rPr>
              <a:t>kamailio-free5gc/docs/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38C03A18-88B5-493B-A95D-AB70BA3C263B}"/>
              </a:ext>
            </a:extLst>
          </p:cNvPr>
          <p:cNvSpPr/>
          <p:nvPr/>
        </p:nvSpPr>
        <p:spPr>
          <a:xfrm>
            <a:off x="6096000" y="571500"/>
            <a:ext cx="552450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C903EE69-3D82-43C9-97A9-47DDB2968014}"/>
              </a:ext>
            </a:extLst>
          </p:cNvPr>
          <p:cNvCxnSpPr/>
          <p:nvPr/>
        </p:nvCxnSpPr>
        <p:spPr>
          <a:xfrm>
            <a:off x="7239000" y="1295400"/>
            <a:ext cx="9525" cy="571500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BBF8FE3F-9A5F-42C5-B115-6B1FE6691407}"/>
              </a:ext>
            </a:extLst>
          </p:cNvPr>
          <p:cNvCxnSpPr/>
          <p:nvPr/>
        </p:nvCxnSpPr>
        <p:spPr>
          <a:xfrm>
            <a:off x="9525000" y="1295400"/>
            <a:ext cx="9525" cy="571500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sp>
        <p:nvSpPr>
          <p:cNvPr id="6" name="Shape 6">
            <a:extLst>
              <a:ext uri="{FF2B5EF4-FFF2-40B4-BE49-F238E27FC236}">
                <a16:creationId xmlns:a16="http://schemas.microsoft.com/office/drawing/2014/main" id="{01C2EB96-62D6-48CB-ADFD-3E36E49C71B9}"/>
              </a:ext>
            </a:extLst>
          </p:cNvPr>
          <p:cNvSpPr/>
          <p:nvPr/>
        </p:nvSpPr>
        <p:spPr>
          <a:xfrm>
            <a:off x="8372475" y="2495550"/>
            <a:ext cx="19050" cy="4762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7C63BF2-3D45-4CFF-B539-6B978CB847D9}"/>
              </a:ext>
            </a:extLst>
          </p:cNvPr>
          <p:cNvSpPr/>
          <p:nvPr/>
        </p:nvSpPr>
        <p:spPr>
          <a:xfrm>
            <a:off x="8372475" y="3448050"/>
            <a:ext cx="19050" cy="4762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5501E0A-0186-4AAC-B630-64C7ED7EA9C8}"/>
              </a:ext>
            </a:extLst>
          </p:cNvPr>
          <p:cNvSpPr/>
          <p:nvPr/>
        </p:nvSpPr>
        <p:spPr>
          <a:xfrm>
            <a:off x="7324725" y="4495800"/>
            <a:ext cx="19050" cy="666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026E60A-303C-4712-AC6B-1C157A3C1C1E}"/>
              </a:ext>
            </a:extLst>
          </p:cNvPr>
          <p:cNvSpPr/>
          <p:nvPr/>
        </p:nvSpPr>
        <p:spPr>
          <a:xfrm>
            <a:off x="9801225" y="4495800"/>
            <a:ext cx="19050" cy="666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E39FB02-B800-412C-82C5-CFC53FF5E18C}"/>
              </a:ext>
            </a:extLst>
          </p:cNvPr>
          <p:cNvSpPr/>
          <p:nvPr/>
        </p:nvSpPr>
        <p:spPr>
          <a:xfrm>
            <a:off x="6477000" y="819150"/>
            <a:ext cx="1524000" cy="4762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I-CSCF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846A046-4396-4AFD-A0C4-2FA1BDEE2402}"/>
              </a:ext>
            </a:extLst>
          </p:cNvPr>
          <p:cNvSpPr/>
          <p:nvPr/>
        </p:nvSpPr>
        <p:spPr>
          <a:xfrm>
            <a:off x="8763000" y="819150"/>
            <a:ext cx="1524000" cy="4762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S-CSCF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B0E7015-5B47-4B8B-88EB-EC0E745D4AFB}"/>
              </a:ext>
            </a:extLst>
          </p:cNvPr>
          <p:cNvSpPr txBox="1"/>
          <p:nvPr/>
        </p:nvSpPr>
        <p:spPr>
          <a:xfrm>
            <a:off x="7334250" y="1447800"/>
            <a:ext cx="209550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4213D"/>
                </a:solidFill>
              </a:rPr>
              <a:t>Cx（Diameter, TCP 3868）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B0100A21-64D5-42D8-AC41-24FFD74DE31C}"/>
              </a:ext>
            </a:extLst>
          </p:cNvPr>
          <p:cNvSpPr/>
          <p:nvPr/>
        </p:nvSpPr>
        <p:spPr>
          <a:xfrm>
            <a:off x="6477000" y="1866900"/>
            <a:ext cx="3810000" cy="6286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pyhss-diameter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Cx 端點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54CB2239-A639-4F63-9FB0-57A9A29E7F43}"/>
              </a:ext>
            </a:extLst>
          </p:cNvPr>
          <p:cNvSpPr/>
          <p:nvPr/>
        </p:nvSpPr>
        <p:spPr>
          <a:xfrm>
            <a:off x="6477000" y="2971800"/>
            <a:ext cx="3810000" cy="476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6575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>
                <a:solidFill>
                  <a:srgbClr val="14213D"/>
                </a:solidFill>
              </a:rPr>
              <a:t>pyhss-redis：請求佇列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28FD9B0-B1D8-419D-A0A9-A5969F17A85A}"/>
              </a:ext>
            </a:extLst>
          </p:cNvPr>
          <p:cNvSpPr/>
          <p:nvPr/>
        </p:nvSpPr>
        <p:spPr>
          <a:xfrm>
            <a:off x="6286500" y="3924300"/>
            <a:ext cx="2095500" cy="5715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pyhss-hss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算向量、查寫資料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462E726-9B89-4D76-B35C-CEA60C86D4A8}"/>
              </a:ext>
            </a:extLst>
          </p:cNvPr>
          <p:cNvSpPr/>
          <p:nvPr/>
        </p:nvSpPr>
        <p:spPr>
          <a:xfrm>
            <a:off x="8763000" y="3924300"/>
            <a:ext cx="2095500" cy="5715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pyhss-api  :8080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REST 開戶（04 腳本）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1F2D1072-DA96-420A-B9C2-EC43555D9864}"/>
              </a:ext>
            </a:extLst>
          </p:cNvPr>
          <p:cNvSpPr/>
          <p:nvPr/>
        </p:nvSpPr>
        <p:spPr>
          <a:xfrm>
            <a:off x="6477000" y="5162550"/>
            <a:ext cx="4191000" cy="8763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0F4C81"/>
                </a:solidFill>
              </a:rPr>
              <a:t>SQLite 檔 hss.db</a:t>
            </a:r>
          </a:p>
          <a:p>
            <a:pPr algn="ctr"/>
            <a:r>
              <a:rPr sz="1200">
                <a:solidFill>
                  <a:srgbClr val="14213D"/>
                </a:solidFill>
              </a:rPr>
              <a:t>三個容器共用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CB43C2F-15E3-4A76-8931-CDE5F53AB397}"/>
              </a:ext>
            </a:extLst>
          </p:cNvPr>
          <p:cNvSpPr txBox="1"/>
          <p:nvPr/>
        </p:nvSpPr>
        <p:spPr>
          <a:xfrm>
            <a:off x="476250" y="533400"/>
            <a:ext cx="53340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14213D"/>
                </a:solidFill>
              </a:rPr>
              <a:t>附錄 A：為什麼用 PyHSS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D11B8D7-E616-4A22-A9ED-709C68718DF2}"/>
              </a:ext>
            </a:extLst>
          </p:cNvPr>
          <p:cNvSpPr txBox="1"/>
          <p:nvPr/>
        </p:nvSpPr>
        <p:spPr>
          <a:xfrm>
            <a:off x="476250" y="1238250"/>
            <a:ext cx="5334000" cy="5143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E8742A"/>
                </a:solidFill>
              </a:rPr>
              <a:t>缺什麼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CSCF 只會用 Cx 查用戶，free5gc 沒有 HSS，需要另一個會講 Cx 的資料庫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E8742A"/>
                </a:solidFill>
              </a:rPr>
              <a:t>為什麼選 PyHSS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開源，支援 Cx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REST API 開戶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現成容器映像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SQLite，免架資料庫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0F4C81"/>
                </a:solidFill>
              </a:rPr>
              <a:t>代價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用戶存兩份（UDR、PyHSS），SQN 各自計數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0F4C81"/>
                </a:solidFill>
              </a:rPr>
              <a:t>在互通計畫中</a:t>
            </a:r>
          </a:p>
          <a:p>
            <a:r>
              <a:rPr sz="1400">
                <a:solidFill>
                  <a:srgbClr val="14213D"/>
                </a:solidFill>
              </a:rPr>
              <a:t>IMS 用戶資料屬 IMS 側，PyHSS 保留不動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3CABD2A3-00B2-4D61-9456-5C872FDFC0BA}"/>
              </a:ext>
            </a:extLst>
          </p:cNvPr>
          <p:cNvSpPr/>
          <p:nvPr/>
        </p:nvSpPr>
        <p:spPr>
          <a:xfrm>
            <a:off x="666750" y="1104900"/>
            <a:ext cx="2571750" cy="952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E8742A"/>
                </a:solidFill>
              </a:rPr>
              <a:t>UAR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給哪台 S-CSCF？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5E5DDE1-8CEC-45E5-B6D1-C020CFC214C9}"/>
              </a:ext>
            </a:extLst>
          </p:cNvPr>
          <p:cNvSpPr/>
          <p:nvPr/>
        </p:nvSpPr>
        <p:spPr>
          <a:xfrm>
            <a:off x="3429000" y="1104900"/>
            <a:ext cx="2571750" cy="952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E8742A"/>
                </a:solidFill>
              </a:rPr>
              <a:t>MAR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算向量、推進 SQN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43D0295-77EE-4FC8-8FB0-2312687793E6}"/>
              </a:ext>
            </a:extLst>
          </p:cNvPr>
          <p:cNvSpPr/>
          <p:nvPr/>
        </p:nvSpPr>
        <p:spPr>
          <a:xfrm>
            <a:off x="6191250" y="1104900"/>
            <a:ext cx="2571750" cy="952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E8742A"/>
                </a:solidFill>
              </a:rPr>
              <a:t>SAR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登記 S-CSCF，回 profile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D3E4A40-2C73-4EF8-B4C6-96DD332061D3}"/>
              </a:ext>
            </a:extLst>
          </p:cNvPr>
          <p:cNvSpPr/>
          <p:nvPr/>
        </p:nvSpPr>
        <p:spPr>
          <a:xfrm>
            <a:off x="8953500" y="1104900"/>
            <a:ext cx="2571750" cy="952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E8742A"/>
                </a:solidFill>
              </a:rPr>
              <a:t>LIR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被叫在哪台？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9B484F4-C015-40B9-8D44-C0B8F4CE0014}"/>
              </a:ext>
            </a:extLst>
          </p:cNvPr>
          <p:cNvSpPr/>
          <p:nvPr/>
        </p:nvSpPr>
        <p:spPr>
          <a:xfrm>
            <a:off x="666750" y="2495550"/>
            <a:ext cx="5334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F4BF729-C081-41B0-BE44-4EF225ADA44D}"/>
              </a:ext>
            </a:extLst>
          </p:cNvPr>
          <p:cNvSpPr/>
          <p:nvPr/>
        </p:nvSpPr>
        <p:spPr>
          <a:xfrm>
            <a:off x="6191250" y="2495550"/>
            <a:ext cx="5334000" cy="18097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1DF3A11-D2B5-4E8A-8B9C-B913353C0D69}"/>
              </a:ext>
            </a:extLst>
          </p:cNvPr>
          <p:cNvSpPr/>
          <p:nvPr/>
        </p:nvSpPr>
        <p:spPr>
          <a:xfrm>
            <a:off x="666750" y="4476750"/>
            <a:ext cx="5334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35CF19B-11C1-48EC-8FAB-C7B7FCABC815}"/>
              </a:ext>
            </a:extLst>
          </p:cNvPr>
          <p:cNvSpPr/>
          <p:nvPr/>
        </p:nvSpPr>
        <p:spPr>
          <a:xfrm>
            <a:off x="6191250" y="4476750"/>
            <a:ext cx="5334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3F18BC1-4BD3-4B04-BE9E-AFF335A59ED9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附錄 B：HSS 在做什麼、記了什麼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E9BA91F-C644-4BB8-9614-B794FCB63929}"/>
              </a:ext>
            </a:extLst>
          </p:cNvPr>
          <p:cNvSpPr txBox="1"/>
          <p:nvPr/>
        </p:nvSpPr>
        <p:spPr>
          <a:xfrm>
            <a:off x="666750" y="2190750"/>
            <a:ext cx="1085850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5B6575"/>
                </a:solidFill>
              </a:rPr>
              <a:t>上：四種 Cx 問題。下：開一個用戶要的四筆資料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4D2552E-6A09-4736-999E-EFB5AED05CB8}"/>
              </a:ext>
            </a:extLst>
          </p:cNvPr>
          <p:cNvSpPr txBox="1"/>
          <p:nvPr/>
        </p:nvSpPr>
        <p:spPr>
          <a:xfrm>
            <a:off x="895350" y="2667000"/>
            <a:ext cx="4876800" cy="1524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4C81"/>
                </a:solidFill>
              </a:rPr>
              <a:t>APN</a:t>
            </a:r>
            <a:r>
              <a:rPr sz="1400">
                <a:solidFill>
                  <a:srgbClr val="5B6575"/>
                </a:solidFill>
              </a:rPr>
              <a:t>   資料網路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13D"/>
                </a:solidFill>
              </a:rPr>
              <a:t>名稱 ims，給 SUBSCRIBER 引用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19102AD-047C-4880-8261-615AE33950CD}"/>
              </a:ext>
            </a:extLst>
          </p:cNvPr>
          <p:cNvSpPr txBox="1"/>
          <p:nvPr/>
        </p:nvSpPr>
        <p:spPr>
          <a:xfrm>
            <a:off x="6419850" y="2667000"/>
            <a:ext cx="4876800" cy="1524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E8742A"/>
                </a:solidFill>
              </a:rPr>
              <a:t>AUC</a:t>
            </a:r>
            <a:r>
              <a:rPr sz="1400">
                <a:solidFill>
                  <a:srgbClr val="5B6575"/>
                </a:solidFill>
              </a:rPr>
              <a:t>   金鑰資料（最敏感）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13D"/>
                </a:solidFill>
              </a:rPr>
              <a:t>K、OPc、AMF、SQN、演算法 milenage</a:t>
            </a:r>
          </a:p>
          <a:p>
            <a:r>
              <a:rPr sz="1300">
                <a:solidFill>
                  <a:srgbClr val="5B6575"/>
                </a:solidFill>
              </a:rPr>
              <a:t>外洩就能冒充 SIM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AD6D0FD-DEF9-4DAE-A7D1-AA1E1E0E4CFF}"/>
              </a:ext>
            </a:extLst>
          </p:cNvPr>
          <p:cNvSpPr txBox="1"/>
          <p:nvPr/>
        </p:nvSpPr>
        <p:spPr>
          <a:xfrm>
            <a:off x="895350" y="4648200"/>
            <a:ext cx="4876800" cy="1524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4C81"/>
                </a:solidFill>
              </a:rPr>
              <a:t>SUBSCRIBER</a:t>
            </a:r>
            <a:r>
              <a:rPr sz="1400">
                <a:solidFill>
                  <a:srgbClr val="5B6575"/>
                </a:solidFill>
              </a:rPr>
              <a:t>   用戶主檔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13D"/>
                </a:solidFill>
              </a:rPr>
              <a:t>IMSI ↔ AUC、MSISDN、啟用狀態</a:t>
            </a:r>
          </a:p>
          <a:p>
            <a:r>
              <a:rPr sz="1300">
                <a:solidFill>
                  <a:srgbClr val="5B6575"/>
                </a:solidFill>
              </a:rPr>
              <a:t>MAR 先查這筆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8324D58-FA86-4B43-8A00-68D5754B6298}"/>
              </a:ext>
            </a:extLst>
          </p:cNvPr>
          <p:cNvSpPr txBox="1"/>
          <p:nvPr/>
        </p:nvSpPr>
        <p:spPr>
          <a:xfrm>
            <a:off x="6419850" y="4648200"/>
            <a:ext cx="4876800" cy="1524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4C81"/>
                </a:solidFill>
              </a:rPr>
              <a:t>IMS_SUBSCRIBER</a:t>
            </a:r>
            <a:r>
              <a:rPr sz="1400">
                <a:solidFill>
                  <a:srgbClr val="5B6575"/>
                </a:solidFill>
              </a:rPr>
              <a:t>   IMS 身分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13D"/>
                </a:solidFill>
              </a:rPr>
              <a:t>IMPU 清單、realm、iFC 範本</a:t>
            </a:r>
          </a:p>
          <a:p>
            <a:r>
              <a:rPr sz="1300">
                <a:solidFill>
                  <a:srgbClr val="5B6575"/>
                </a:solidFill>
              </a:rPr>
              <a:t>記下目前的 S-CSCF，供 LIR 查詢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A9854734-6479-46CB-8693-D111C7FE382D}"/>
              </a:ext>
            </a:extLst>
          </p:cNvPr>
          <p:cNvSpPr/>
          <p:nvPr/>
        </p:nvSpPr>
        <p:spPr>
          <a:xfrm>
            <a:off x="666750" y="1028700"/>
            <a:ext cx="10858500" cy="4953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E8742A"/>
                </a:solidFill>
              </a:rPr>
              <a:t>   UE 唯一入口（Gm）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042C9C8-999F-4316-8650-FA6EC8B3F363}"/>
              </a:ext>
            </a:extLst>
          </p:cNvPr>
          <p:cNvSpPr/>
          <p:nvPr/>
        </p:nvSpPr>
        <p:spPr>
          <a:xfrm>
            <a:off x="666750" y="1695450"/>
            <a:ext cx="5286375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7B2FDEE-C618-4AC5-8E76-720837C35D61}"/>
              </a:ext>
            </a:extLst>
          </p:cNvPr>
          <p:cNvSpPr/>
          <p:nvPr/>
        </p:nvSpPr>
        <p:spPr>
          <a:xfrm>
            <a:off x="6238875" y="1695450"/>
            <a:ext cx="5286375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C8E1283-E9C5-414A-94F1-13EFCF87992A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附錄 C：P-CSCF 在做什麼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16E0FBC-9F6F-4181-AFEB-C32738D26403}"/>
              </a:ext>
            </a:extLst>
          </p:cNvPr>
          <p:cNvSpPr txBox="1"/>
          <p:nvPr/>
        </p:nvSpPr>
        <p:spPr>
          <a:xfrm>
            <a:off x="914400" y="1885950"/>
            <a:ext cx="4810125" cy="3286125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4C81"/>
                </a:solidFill>
              </a:rPr>
              <a:t>註冊時（REGISTER）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加 Path：來電會先經過我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加 P-Visited-Network-ID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不認證，一律轉 I-CSCF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200 OK 才記下 IMPU ↔ contact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733EA65-84FC-40B8-B174-F8D83D54782D}"/>
              </a:ext>
            </a:extLst>
          </p:cNvPr>
          <p:cNvSpPr txBox="1"/>
          <p:nvPr/>
        </p:nvSpPr>
        <p:spPr>
          <a:xfrm>
            <a:off x="6486525" y="1885950"/>
            <a:ext cx="4810125" cy="3286125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E8742A"/>
                </a:solidFill>
              </a:rPr>
              <a:t>通話時（INVITE）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依來源 IP 判斷主叫／被叫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Record-Route，讓 BYE 也經過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200 OK 時帶兩份 SDP 經 shim 要 QoS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BYE 時釋放；兩個 leg 各一次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要不到 QoS 也不擋通話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1A1C4C8-64BA-4692-BAC2-381247C7BCD8}"/>
              </a:ext>
            </a:extLst>
          </p:cNvPr>
          <p:cNvSpPr/>
          <p:nvPr/>
        </p:nvSpPr>
        <p:spPr>
          <a:xfrm>
            <a:off x="666750" y="5486400"/>
            <a:ext cx="10858500" cy="9144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742A"/>
                </a:solidFill>
              </a:rPr>
              <a:t>   為什麼需要 AF shim：</a:t>
            </a:r>
            <a:r>
              <a:rPr sz="1400">
                <a:solidFill>
                  <a:srgbClr val="FFFFFF"/>
                </a:solidFill>
              </a:rPr>
              <a:t>PCF 只開 h2c，Kamailio 的 http_client 講不了；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 而且是同步呼叫，最多卡住 worker 2 秒。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F3A8C9D-96E5-4747-8DB0-57C4F73D2BA5}"/>
              </a:ext>
            </a:extLst>
          </p:cNvPr>
          <p:cNvSpPr/>
          <p:nvPr/>
        </p:nvSpPr>
        <p:spPr>
          <a:xfrm>
            <a:off x="666750" y="1619250"/>
            <a:ext cx="34290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0953304-3008-4E19-83D1-FC12D3EBAF39}"/>
              </a:ext>
            </a:extLst>
          </p:cNvPr>
          <p:cNvSpPr/>
          <p:nvPr/>
        </p:nvSpPr>
        <p:spPr>
          <a:xfrm>
            <a:off x="4381500" y="1619250"/>
            <a:ext cx="34290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B87A156-8D10-4B87-9EA1-C996710B77DD}"/>
              </a:ext>
            </a:extLst>
          </p:cNvPr>
          <p:cNvSpPr/>
          <p:nvPr/>
        </p:nvSpPr>
        <p:spPr>
          <a:xfrm>
            <a:off x="8096250" y="1619250"/>
            <a:ext cx="3429000" cy="371475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E222532-1277-4826-833D-53A00B9B47A6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附錄 D：I-CSCF 在做什麼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B0BCE66-41BA-4C0F-839E-281299A00D6B}"/>
              </a:ext>
            </a:extLst>
          </p:cNvPr>
          <p:cNvSpPr txBox="1"/>
          <p:nvPr/>
        </p:nvSpPr>
        <p:spPr>
          <a:xfrm>
            <a:off x="666750" y="1047750"/>
            <a:ext cx="108585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900">
                <a:solidFill>
                  <a:srgbClr val="5B6575"/>
                </a:solidFill>
              </a:rPr>
              <a:t>只回答：這人該交給哪台 S-CSCF？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59C2367-C503-4A31-A632-C508EC80846F}"/>
              </a:ext>
            </a:extLst>
          </p:cNvPr>
          <p:cNvSpPr txBox="1"/>
          <p:nvPr/>
        </p:nvSpPr>
        <p:spPr>
          <a:xfrm>
            <a:off x="914400" y="1828800"/>
            <a:ext cx="2933700" cy="3333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E8742A"/>
                </a:solidFill>
              </a:rPr>
              <a:t>UAR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4213D"/>
                </a:solidFill>
              </a:rPr>
              <a:t>收到 REGISTER 時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問 HSS 由哪台 S-CSCF 服務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選一台後轉送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401 後保留，第二次不再 UAR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65F7F00-13B6-4AEB-8B19-196127C310AE}"/>
              </a:ext>
            </a:extLst>
          </p:cNvPr>
          <p:cNvSpPr txBox="1"/>
          <p:nvPr/>
        </p:nvSpPr>
        <p:spPr>
          <a:xfrm>
            <a:off x="4629150" y="1828800"/>
            <a:ext cx="2933700" cy="3333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E8742A"/>
                </a:solidFill>
              </a:rPr>
              <a:t>LIR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4213D"/>
                </a:solidFill>
              </a:rPr>
              <a:t>收到來電（INVITE）時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問 HSS 被叫在哪台 S-CSCF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設為下一跳轉送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9A818CF-2AE8-4792-A3F5-3D6720A382BE}"/>
              </a:ext>
            </a:extLst>
          </p:cNvPr>
          <p:cNvSpPr txBox="1"/>
          <p:nvPr/>
        </p:nvSpPr>
        <p:spPr>
          <a:xfrm>
            <a:off x="8343900" y="1828800"/>
            <a:ext cx="2933700" cy="3333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0F4C81"/>
                </a:solidFill>
              </a:rPr>
              <a:t>不存狀態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4213D"/>
                </a:solidFill>
              </a:rPr>
              <a:t>角色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答案全來自 HSS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多台 S-CSCF 時負責分流、隱藏拓撲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336ABD21-8242-42AA-825D-5C4818404720}"/>
              </a:ext>
            </a:extLst>
          </p:cNvPr>
          <p:cNvSpPr/>
          <p:nvPr/>
        </p:nvSpPr>
        <p:spPr>
          <a:xfrm>
            <a:off x="666750" y="5524500"/>
            <a:ext cx="10858500" cy="857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742A"/>
                </a:solidFill>
              </a:rPr>
              <a:t>   跟標準的差異：</a:t>
            </a:r>
            <a:r>
              <a:rPr sz="1400">
                <a:solidFill>
                  <a:srgbClr val="14213D"/>
                </a:solidFill>
              </a:rPr>
              <a:t>主叫 INVITE 直送 I-CSCF；</a:t>
            </a:r>
          </a:p>
          <a:p>
            <a:pPr algn="l"/>
            <a:r>
              <a:rPr sz="1400">
                <a:solidFill>
                  <a:srgbClr val="14213D"/>
                </a:solidFill>
              </a:rPr>
              <a:t>   標準是先依 Service-Route 到主叫的 S-CSCF。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6E45968-5FCD-4A23-9C78-DB58AE8A66AB}"/>
              </a:ext>
            </a:extLst>
          </p:cNvPr>
          <p:cNvSpPr/>
          <p:nvPr/>
        </p:nvSpPr>
        <p:spPr>
          <a:xfrm>
            <a:off x="1905000" y="1771650"/>
            <a:ext cx="8382000" cy="38100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0955FD0-493F-46E3-811B-860904EE19E3}"/>
              </a:ext>
            </a:extLst>
          </p:cNvPr>
          <p:cNvSpPr/>
          <p:nvPr/>
        </p:nvSpPr>
        <p:spPr>
          <a:xfrm>
            <a:off x="1638300" y="152400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61A3A71-5D95-4165-B37B-FE3A1164629C}"/>
              </a:ext>
            </a:extLst>
          </p:cNvPr>
          <p:cNvSpPr/>
          <p:nvPr/>
        </p:nvSpPr>
        <p:spPr>
          <a:xfrm>
            <a:off x="4400550" y="152400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6AF9C11-B8A5-460B-AB28-FEE023A9ACD8}"/>
              </a:ext>
            </a:extLst>
          </p:cNvPr>
          <p:cNvSpPr/>
          <p:nvPr/>
        </p:nvSpPr>
        <p:spPr>
          <a:xfrm>
            <a:off x="7162800" y="152400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2A569F5-A62C-4B7C-8228-4BCC84E73AC2}"/>
              </a:ext>
            </a:extLst>
          </p:cNvPr>
          <p:cNvSpPr/>
          <p:nvPr/>
        </p:nvSpPr>
        <p:spPr>
          <a:xfrm>
            <a:off x="9925050" y="1524000"/>
            <a:ext cx="533400" cy="533400"/>
          </a:xfrm>
          <a:prstGeom prst="ellipse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684A3E6-7F4C-4432-99CA-0B55809AE207}"/>
              </a:ext>
            </a:extLst>
          </p:cNvPr>
          <p:cNvSpPr/>
          <p:nvPr/>
        </p:nvSpPr>
        <p:spPr>
          <a:xfrm>
            <a:off x="666750" y="2247900"/>
            <a:ext cx="24765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8F7C7B0-1FEF-4EBB-9333-2953F7DF45D4}"/>
              </a:ext>
            </a:extLst>
          </p:cNvPr>
          <p:cNvSpPr/>
          <p:nvPr/>
        </p:nvSpPr>
        <p:spPr>
          <a:xfrm>
            <a:off x="3429000" y="2247900"/>
            <a:ext cx="24765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5762093-8DC4-4A5C-80E5-ABBCD633A64B}"/>
              </a:ext>
            </a:extLst>
          </p:cNvPr>
          <p:cNvSpPr/>
          <p:nvPr/>
        </p:nvSpPr>
        <p:spPr>
          <a:xfrm>
            <a:off x="6191250" y="2247900"/>
            <a:ext cx="24765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82B8A46-ADB6-4D6A-A6E0-FEE6BAB8A6CA}"/>
              </a:ext>
            </a:extLst>
          </p:cNvPr>
          <p:cNvSpPr/>
          <p:nvPr/>
        </p:nvSpPr>
        <p:spPr>
          <a:xfrm>
            <a:off x="8953500" y="2247900"/>
            <a:ext cx="2571750" cy="30480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E9DA4AA-7843-47F9-B8AF-698F55FC0023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附錄 E：S-CSCF 在做什麼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F7BF800-8D6F-475F-B3E2-0D642F7E352F}"/>
              </a:ext>
            </a:extLst>
          </p:cNvPr>
          <p:cNvSpPr txBox="1"/>
          <p:nvPr/>
        </p:nvSpPr>
        <p:spPr>
          <a:xfrm>
            <a:off x="666750" y="1009650"/>
            <a:ext cx="10858500" cy="3238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>
                <a:solidFill>
                  <a:srgbClr val="5B6575"/>
                </a:solidFill>
              </a:rPr>
              <a:t>認證、註冊、路由都在這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7A06A3B-CCD5-4BE2-A2E9-517855102118}"/>
              </a:ext>
            </a:extLst>
          </p:cNvPr>
          <p:cNvSpPr txBox="1"/>
          <p:nvPr/>
        </p:nvSpPr>
        <p:spPr>
          <a:xfrm>
            <a:off x="876300" y="2438400"/>
            <a:ext cx="20574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742A"/>
                </a:solidFill>
              </a:rPr>
              <a:t>出題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第一次 REGISTER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MAR 拿認證向量</a:t>
            </a:r>
          </a:p>
          <a:p>
            <a:r>
              <a:rPr sz="1600">
                <a:solidFill>
                  <a:srgbClr val="14213D"/>
                </a:solidFill>
              </a:rPr>
              <a:t>回 401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1B1A903-9AF3-4EBA-BBCD-B470BD2000D8}"/>
              </a:ext>
            </a:extLst>
          </p:cNvPr>
          <p:cNvSpPr txBox="1"/>
          <p:nvPr/>
        </p:nvSpPr>
        <p:spPr>
          <a:xfrm>
            <a:off x="3638550" y="2438400"/>
            <a:ext cx="20574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742A"/>
                </a:solidFill>
              </a:rPr>
              <a:t>驗答案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比對 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答錯回 403</a:t>
            </a:r>
          </a:p>
          <a:p>
            <a:r>
              <a:rPr sz="1600">
                <a:solidFill>
                  <a:srgbClr val="14213D"/>
                </a:solidFill>
              </a:rPr>
              <a:t>收到 AUTS 就重新同步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C8BDE80-B8A0-449D-8DFB-E9915940460F}"/>
              </a:ext>
            </a:extLst>
          </p:cNvPr>
          <p:cNvSpPr txBox="1"/>
          <p:nvPr/>
        </p:nvSpPr>
        <p:spPr>
          <a:xfrm>
            <a:off x="6400800" y="2438400"/>
            <a:ext cx="20574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742A"/>
                </a:solidFill>
              </a:rPr>
              <a:t>登記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SAR 告訴 HSS「我服務他」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存 IMPU ↔ contact、Path、profile</a:t>
            </a:r>
          </a:p>
          <a:p>
            <a:r>
              <a:rPr sz="1600" b="1">
                <a:solidFill>
                  <a:srgbClr val="14213D"/>
                </a:solidFill>
              </a:rPr>
              <a:t>只在記憶體，重啟要重新註冊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ED9127D-F85D-4BDF-9D21-F358085257D4}"/>
              </a:ext>
            </a:extLst>
          </p:cNvPr>
          <p:cNvSpPr txBox="1"/>
          <p:nvPr/>
        </p:nvSpPr>
        <p:spPr>
          <a:xfrm>
            <a:off x="9163050" y="2438400"/>
            <a:ext cx="215265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4C81"/>
                </a:solidFill>
              </a:rPr>
              <a:t>路由來電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移除 I-CSCF 加的 Route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IMPU → 註冊時的 contact</a:t>
            </a:r>
          </a:p>
          <a:p>
            <a:r>
              <a:rPr sz="1600">
                <a:solidFill>
                  <a:srgbClr val="14213D"/>
                </a:solidFill>
              </a:rPr>
              <a:t>沿 Path 送回被叫的 P-CSCF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8D1B855-EEBC-4BC6-857C-7ACE69C55AF6}"/>
              </a:ext>
            </a:extLst>
          </p:cNvPr>
          <p:cNvSpPr/>
          <p:nvPr/>
        </p:nvSpPr>
        <p:spPr>
          <a:xfrm>
            <a:off x="666750" y="5524500"/>
            <a:ext cx="10858500" cy="857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742A"/>
                </a:solidFill>
              </a:rPr>
              <a:t>   標準 S-CSCF 還會：</a:t>
            </a:r>
            <a:r>
              <a:rPr sz="1400">
                <a:solidFill>
                  <a:srgbClr val="14213D"/>
                </a:solidFill>
              </a:rPr>
              <a:t>依 iFC 經 ISC 把請求交給 AS（如 TAS）。</a:t>
            </a:r>
          </a:p>
          <a:p>
            <a:pPr algn="l"/>
            <a:r>
              <a:rPr sz="1400">
                <a:solidFill>
                  <a:srgbClr val="14213D"/>
                </a:solidFill>
              </a:rPr>
              <a:t>   本專案沒有 AS。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2AB672F-B4D9-4A38-9907-07008A22AABB}"/>
              </a:ext>
            </a:extLst>
          </p:cNvPr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0F4C8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C07153C-4584-4710-BD66-45279AE85757}"/>
              </a:ext>
            </a:extLst>
          </p:cNvPr>
          <p:cNvSpPr txBox="1"/>
          <p:nvPr/>
        </p:nvSpPr>
        <p:spPr>
          <a:xfrm>
            <a:off x="571500" y="1143000"/>
            <a:ext cx="3048000" cy="2857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332AD8F-8845-4D7C-A2B1-1D98095CFB1E}"/>
              </a:ext>
            </a:extLst>
          </p:cNvPr>
          <p:cNvSpPr txBox="1"/>
          <p:nvPr/>
        </p:nvSpPr>
        <p:spPr>
          <a:xfrm>
            <a:off x="571500" y="4000500"/>
            <a:ext cx="3048000" cy="666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5GC 與 IMS 只有 5 個對接點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9CC36DB-EBB0-4FD1-8602-E6D39B83A9DE}"/>
              </a:ext>
            </a:extLst>
          </p:cNvPr>
          <p:cNvSpPr txBox="1"/>
          <p:nvPr/>
        </p:nvSpPr>
        <p:spPr>
          <a:xfrm>
            <a:off x="571500" y="4762500"/>
            <a:ext cx="3143250" cy="1143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E8742A"/>
                </a:solidFill>
              </a:rPr>
              <a:t>■ </a:t>
            </a:r>
            <a:r>
              <a:rPr sz="1400">
                <a:solidFill>
                  <a:srgbClr val="FFFFFF"/>
                </a:solidFill>
              </a:rPr>
              <a:t>網路介面：N6、PCO、N5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C9D3E0"/>
                </a:solidFill>
              </a:rPr>
              <a:t>■ </a:t>
            </a:r>
            <a:r>
              <a:rPr sz="1400">
                <a:solidFill>
                  <a:srgbClr val="FFFFFF"/>
                </a:solidFill>
              </a:rPr>
              <a:t>設定與開戶時的對齊：DNN、身分</a:t>
            </a:r>
          </a:p>
          <a:p>
            <a:r>
              <a:rPr sz="1400">
                <a:solidFill>
                  <a:srgbClr val="C9D3E0"/>
                </a:solidFill>
              </a:rPr>
              <a:t>SIP 不經過 AMF、SMF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E7ED192-C7FB-496A-B550-635F31163665}"/>
              </a:ext>
            </a:extLst>
          </p:cNvPr>
          <p:cNvSpPr/>
          <p:nvPr/>
        </p:nvSpPr>
        <p:spPr>
          <a:xfrm>
            <a:off x="4476750" y="457200"/>
            <a:ext cx="1047750" cy="4572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N6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BE3260B-4F12-41A4-8745-EBFD3EED351D}"/>
              </a:ext>
            </a:extLst>
          </p:cNvPr>
          <p:cNvSpPr txBox="1"/>
          <p:nvPr/>
        </p:nvSpPr>
        <p:spPr>
          <a:xfrm>
            <a:off x="5762625" y="457200"/>
            <a:ext cx="5810250" cy="952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4213D"/>
                </a:solidFill>
              </a:rPr>
              <a:t>資料面：SIP 與 RTP 都走 PDU session</a:t>
            </a:r>
          </a:p>
          <a:p>
            <a:r>
              <a:rPr sz="1400">
                <a:solidFill>
                  <a:srgbClr val="5B6575"/>
                </a:solidFill>
              </a:rPr>
              <a:t>ims DNN 經 UPF 到 P-CSCF；不做 NAT，PCF 靠 UE IP 綁定 session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A94A52B-2473-43C8-9CA8-EF2D4730432B}"/>
              </a:ext>
            </a:extLst>
          </p:cNvPr>
          <p:cNvSpPr/>
          <p:nvPr/>
        </p:nvSpPr>
        <p:spPr>
          <a:xfrm>
            <a:off x="4476750" y="1543050"/>
            <a:ext cx="704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773ECFB9-CF12-492D-A3A3-60473036A2A4}"/>
              </a:ext>
            </a:extLst>
          </p:cNvPr>
          <p:cNvSpPr/>
          <p:nvPr/>
        </p:nvSpPr>
        <p:spPr>
          <a:xfrm>
            <a:off x="4476750" y="1676400"/>
            <a:ext cx="1047750" cy="4572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DNN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AEE5952-0E9F-41E2-8FA0-13549C03F719}"/>
              </a:ext>
            </a:extLst>
          </p:cNvPr>
          <p:cNvSpPr txBox="1"/>
          <p:nvPr/>
        </p:nvSpPr>
        <p:spPr>
          <a:xfrm>
            <a:off x="5762625" y="1676400"/>
            <a:ext cx="5810250" cy="952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4213D"/>
                </a:solidFill>
              </a:rPr>
              <a:t>ims DNN 與預設 QoS</a:t>
            </a:r>
          </a:p>
          <a:p>
            <a:r>
              <a:rPr sz="1400">
                <a:solidFill>
                  <a:srgbClr val="5B6575"/>
                </a:solidFill>
              </a:rPr>
              <a:t>位址池 10.62/16，預設 5QI 5（IMS 信令）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C34FFB8-5C56-4EA6-8D19-1B5996305A63}"/>
              </a:ext>
            </a:extLst>
          </p:cNvPr>
          <p:cNvSpPr/>
          <p:nvPr/>
        </p:nvSpPr>
        <p:spPr>
          <a:xfrm>
            <a:off x="4476750" y="2762250"/>
            <a:ext cx="704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46B3160-0829-46AA-9509-78E8D95AC509}"/>
              </a:ext>
            </a:extLst>
          </p:cNvPr>
          <p:cNvSpPr/>
          <p:nvPr/>
        </p:nvSpPr>
        <p:spPr>
          <a:xfrm>
            <a:off x="4476750" y="2895600"/>
            <a:ext cx="1047750" cy="4572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PCO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1DDA938-13D5-4176-9D07-F04173806B12}"/>
              </a:ext>
            </a:extLst>
          </p:cNvPr>
          <p:cNvSpPr txBox="1"/>
          <p:nvPr/>
        </p:nvSpPr>
        <p:spPr>
          <a:xfrm>
            <a:off x="5762625" y="2895600"/>
            <a:ext cx="5810250" cy="952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4213D"/>
                </a:solidFill>
              </a:rPr>
              <a:t>探索：SMF 告訴 UE「P-CSCF 在哪」</a:t>
            </a:r>
          </a:p>
          <a:p>
            <a:r>
              <a:rPr sz="1400">
                <a:solidFill>
                  <a:srgbClr val="5B6575"/>
                </a:solidFill>
              </a:rPr>
              <a:t>UE 建 PDU session 時要求，SMF 在 Accept 回傳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242B61C9-7925-449B-A224-A86DC28BAE15}"/>
              </a:ext>
            </a:extLst>
          </p:cNvPr>
          <p:cNvSpPr/>
          <p:nvPr/>
        </p:nvSpPr>
        <p:spPr>
          <a:xfrm>
            <a:off x="4476750" y="3981450"/>
            <a:ext cx="704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93B899B3-A81F-474D-80C6-86851FB81D02}"/>
              </a:ext>
            </a:extLst>
          </p:cNvPr>
          <p:cNvSpPr/>
          <p:nvPr/>
        </p:nvSpPr>
        <p:spPr>
          <a:xfrm>
            <a:off x="4476750" y="4114800"/>
            <a:ext cx="1047750" cy="4572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身分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03AF5B7-05DD-4248-A7F6-6328D1B89FD1}"/>
              </a:ext>
            </a:extLst>
          </p:cNvPr>
          <p:cNvSpPr txBox="1"/>
          <p:nvPr/>
        </p:nvSpPr>
        <p:spPr>
          <a:xfrm>
            <a:off x="5762625" y="4114800"/>
            <a:ext cx="5810250" cy="952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4213D"/>
                </a:solidFill>
              </a:rPr>
              <a:t>用戶身分與金鑰</a:t>
            </a:r>
          </a:p>
          <a:p>
            <a:r>
              <a:rPr sz="1400">
                <a:solidFill>
                  <a:srgbClr val="5B6575"/>
                </a:solidFill>
              </a:rPr>
              <a:t>UDR 與 PyHSS 各存一份，從同一個 IMSI、同一個 OP 推導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945B221-D7C8-4F5C-900C-80EDEFC590AE}"/>
              </a:ext>
            </a:extLst>
          </p:cNvPr>
          <p:cNvSpPr/>
          <p:nvPr/>
        </p:nvSpPr>
        <p:spPr>
          <a:xfrm>
            <a:off x="4476750" y="5200650"/>
            <a:ext cx="704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836492F7-444F-455E-81E0-20FAC2B35BD7}"/>
              </a:ext>
            </a:extLst>
          </p:cNvPr>
          <p:cNvSpPr/>
          <p:nvPr/>
        </p:nvSpPr>
        <p:spPr>
          <a:xfrm>
            <a:off x="4476750" y="5334000"/>
            <a:ext cx="1047750" cy="4572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N5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0DE9C02-B962-4E4E-8A92-088207A5515C}"/>
              </a:ext>
            </a:extLst>
          </p:cNvPr>
          <p:cNvSpPr txBox="1"/>
          <p:nvPr/>
        </p:nvSpPr>
        <p:spPr>
          <a:xfrm>
            <a:off x="5762625" y="5334000"/>
            <a:ext cx="5810250" cy="952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4213D"/>
                </a:solidFill>
              </a:rPr>
              <a:t>控制面：P-CSCF 以 AF 身分向 PCF 要 QoS</a:t>
            </a:r>
          </a:p>
          <a:p>
            <a:r>
              <a:rPr sz="1400">
                <a:solidFill>
                  <a:srgbClr val="5B6575"/>
                </a:solidFill>
              </a:rPr>
              <a:t>語音 flow 從 5QI 5 升到 5QI 1（GBR）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EAC1951-A1DF-45D2-AA34-62C7AF5DBD66}"/>
              </a:ext>
            </a:extLst>
          </p:cNvPr>
          <p:cNvSpPr/>
          <p:nvPr/>
        </p:nvSpPr>
        <p:spPr>
          <a:xfrm>
            <a:off x="666750" y="1524000"/>
            <a:ext cx="1981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630AF76-2775-457A-9E0E-0CB44E25D03D}"/>
              </a:ext>
            </a:extLst>
          </p:cNvPr>
          <p:cNvSpPr/>
          <p:nvPr/>
        </p:nvSpPr>
        <p:spPr>
          <a:xfrm>
            <a:off x="2886075" y="1524000"/>
            <a:ext cx="1981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AA32294-C048-46E9-8B34-C403E4EF4728}"/>
              </a:ext>
            </a:extLst>
          </p:cNvPr>
          <p:cNvSpPr/>
          <p:nvPr/>
        </p:nvSpPr>
        <p:spPr>
          <a:xfrm>
            <a:off x="5105400" y="1524000"/>
            <a:ext cx="1981200" cy="36576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2C686B3-C7E6-41B1-80CE-6853E0226A94}"/>
              </a:ext>
            </a:extLst>
          </p:cNvPr>
          <p:cNvSpPr/>
          <p:nvPr/>
        </p:nvSpPr>
        <p:spPr>
          <a:xfrm>
            <a:off x="7324725" y="1524000"/>
            <a:ext cx="1981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2DEF08C-335B-4479-8892-69EE78C904EE}"/>
              </a:ext>
            </a:extLst>
          </p:cNvPr>
          <p:cNvSpPr/>
          <p:nvPr/>
        </p:nvSpPr>
        <p:spPr>
          <a:xfrm>
            <a:off x="9544050" y="1524000"/>
            <a:ext cx="1981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715AACF-30BE-45EE-802A-CC991C7CC10D}"/>
              </a:ext>
            </a:extLst>
          </p:cNvPr>
          <p:cNvSpPr txBox="1"/>
          <p:nvPr/>
        </p:nvSpPr>
        <p:spPr>
          <a:xfrm>
            <a:off x="666750" y="53340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現行 AF shim 的五個問題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F1A65BC-11C7-4E79-B10A-1C8980CA63F2}"/>
              </a:ext>
            </a:extLst>
          </p:cNvPr>
          <p:cNvSpPr txBox="1"/>
          <p:nvPr/>
        </p:nvSpPr>
        <p:spPr>
          <a:xfrm>
            <a:off x="819150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01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自訂 JSON 介面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換掉任一端都要重寫</a:t>
            </a:r>
          </a:p>
          <a:p>
            <a:r>
              <a:rPr sz="1500">
                <a:solidFill>
                  <a:srgbClr val="0F4C81"/>
                </a:solidFill>
              </a:rPr>
              <a:t>route[AF_RESERVE]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E3E353F-8948-4BEB-9755-A0103312B0DC}"/>
              </a:ext>
            </a:extLst>
          </p:cNvPr>
          <p:cNvSpPr txBox="1"/>
          <p:nvPr/>
        </p:nvSpPr>
        <p:spPr>
          <a:xfrm>
            <a:off x="3038475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02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AF 邏輯散在 cfg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寫在 SIP 路由腳本，難測試</a:t>
            </a:r>
          </a:p>
          <a:p>
            <a:r>
              <a:rPr sz="1500">
                <a:solidFill>
                  <a:srgbClr val="0F4C81"/>
                </a:solidFill>
              </a:rPr>
              <a:t>AF_KEY / AF_RELEASE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B696475-FF0E-4A72-A825-AFC980CED85F}"/>
              </a:ext>
            </a:extLst>
          </p:cNvPr>
          <p:cNvSpPr txBox="1"/>
          <p:nvPr/>
        </p:nvSpPr>
        <p:spPr>
          <a:xfrm>
            <a:off x="5257800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03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PCF 通知收不到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終止通知送到 /notify/terminate，shim 回 404</a:t>
            </a:r>
          </a:p>
          <a:p>
            <a:r>
              <a:rPr sz="1500">
                <a:solidFill>
                  <a:srgbClr val="0F4C81"/>
                </a:solidFill>
              </a:rPr>
              <a:t>只接 /notify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1FED307-57CC-45EC-A89B-4C77AB2FABB8}"/>
              </a:ext>
            </a:extLst>
          </p:cNvPr>
          <p:cNvSpPr txBox="1"/>
          <p:nvPr/>
        </p:nvSpPr>
        <p:spPr>
          <a:xfrm>
            <a:off x="7477125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04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同步 HTTP 呼叫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PCF 慢就卡住 worker</a:t>
            </a:r>
          </a:p>
          <a:p>
            <a:r>
              <a:rPr sz="1500">
                <a:solidFill>
                  <a:srgbClr val="0F4C81"/>
                </a:solidFill>
              </a:rPr>
              <a:t>http_client_query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B977662-C840-44C9-87B3-F6EA2BBAF8E7}"/>
              </a:ext>
            </a:extLst>
          </p:cNvPr>
          <p:cNvSpPr txBox="1"/>
          <p:nvPr/>
        </p:nvSpPr>
        <p:spPr>
          <a:xfrm>
            <a:off x="9696450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05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信令沒有 QoS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只預留媒體，信令沒有</a:t>
            </a:r>
          </a:p>
          <a:p>
            <a:r>
              <a:rPr sz="1500">
                <a:solidFill>
                  <a:srgbClr val="0F4C81"/>
                </a:solidFill>
              </a:rPr>
              <a:t>TS 24.229 / 29.214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F9693C3-9A65-41BA-BDA7-5E690BB5E44B}"/>
              </a:ext>
            </a:extLst>
          </p:cNvPr>
          <p:cNvSpPr/>
          <p:nvPr/>
        </p:nvSpPr>
        <p:spPr>
          <a:xfrm>
            <a:off x="666750" y="5448300"/>
            <a:ext cx="10858500" cy="8001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E8742A"/>
                </a:solidFill>
              </a:rPr>
              <a:t>根本原因：</a:t>
            </a:r>
            <a:r>
              <a:rPr sz="1700">
                <a:solidFill>
                  <a:srgbClr val="FFFFFF"/>
                </a:solidFill>
              </a:rPr>
              <a:t>AF 邏輯拆在 cfg 與 shim，兩邊都不是標準介面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